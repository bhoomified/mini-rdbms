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11204A"/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0"/>
            <a:ext cx="54864" cy="6858000"/>
          </a:xfrm>
          <a:prstGeom prst="rect">
            <a:avLst/>
          </a:prstGeom>
          <a:solidFill>
            <a:srgbClr val="C6AE8D"/>
          </a:solidFill>
          <a:ln/>
        </p:spPr>
      </p:sp>
      <p:pic>
        <p:nvPicPr>
          <p:cNvPr id="4" name="Image 0" descr="/home/claude/build/kl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3108960" cy="5835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23317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C6AE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S0 · PROBLEM DEFINITION &amp; NEED IDENTIFICATION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84632" y="26517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Mini-RDBMS Engine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33832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Query Processing &amp; Transaction Support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4114800"/>
            <a:ext cx="6035040" cy="0"/>
          </a:xfrm>
          <a:prstGeom prst="line">
            <a:avLst/>
          </a:prstGeom>
          <a:noFill/>
          <a:ln w="19050">
            <a:solidFill>
              <a:srgbClr val="C6AE8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2920" y="434340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1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No. 1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No. 1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Artefact: Mini RDBMS Engine with Query Processing &amp; Transaction Support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5623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by Ms. Jyothi Patil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549640" y="502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C6AE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549640" y="1051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Bhoomi Bankapur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0" y="10515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C6AE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8549640" y="1554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Sneha Shettar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10972800" y="1554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C6AE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8549640" y="2057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Shubham Mishra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0" y="20574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C6AE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8549640" y="2560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Soumya Patil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0" y="2560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C6AE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162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8549640" y="3108960"/>
            <a:ext cx="3154680" cy="0"/>
          </a:xfrm>
          <a:prstGeom prst="line">
            <a:avLst/>
          </a:prstGeom>
          <a:noFill/>
          <a:ln w="12700">
            <a:solidFill>
              <a:srgbClr val="3A457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kl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56032"/>
            <a:ext cx="2148840" cy="40330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AE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OF 7 · THE PROBLEM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84632" y="530352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50876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F5F3E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04088" y="1737360"/>
            <a:ext cx="3209544" cy="384048"/>
          </a:xfrm>
          <a:prstGeom prst="roundRect">
            <a:avLst>
              <a:gd name="adj" fmla="val 19048"/>
            </a:avLst>
          </a:prstGeom>
          <a:solidFill>
            <a:srgbClr val="1120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41248" y="1737360"/>
            <a:ext cx="2935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Situation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58952" y="2377440"/>
            <a:ext cx="30998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DBMS installs are complex to set up purely for learning.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processing and transaction handling stay hidden inside the engine.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34256" y="150876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F5F3E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35424" y="1737360"/>
            <a:ext cx="3209544" cy="384048"/>
          </a:xfrm>
          <a:prstGeom prst="roundRect">
            <a:avLst>
              <a:gd name="adj" fmla="val 19048"/>
            </a:avLst>
          </a:prstGeom>
          <a:solidFill>
            <a:srgbClr val="11204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672584" y="1737360"/>
            <a:ext cx="2935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It's Inadequate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590288" y="2377440"/>
            <a:ext cx="30998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DBMSs return results but hide their internal working.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simple platform ties DBMS, DAA &amp; OS concepts together.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165592" y="150876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F5F3E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366760" y="1737360"/>
            <a:ext cx="3209544" cy="384048"/>
          </a:xfrm>
          <a:prstGeom prst="roundRect">
            <a:avLst>
              <a:gd name="adj" fmla="val 19048"/>
            </a:avLst>
          </a:prstGeom>
          <a:solidFill>
            <a:srgbClr val="11204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503920" y="1737360"/>
            <a:ext cx="2935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Issue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421624" y="2377440"/>
            <a:ext cx="30998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can't see how queries are parsed and executed.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Indexing, storage and transactions stay invisible in practice.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2920" y="4526280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EFE7D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777240" y="47091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1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Foundational courses feeding this project: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(relational model, ACID, normalization) · OSPP (locking, deadlocks, file I/O) · DAA (indexing, complexity) · POCD (lexing, parsing, syntax trees)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Mini-RDBMS Engine  |  Gate 0  |  Team 1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kl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56032"/>
            <a:ext cx="2148840" cy="40330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AE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OF 7 · STAKEHOLDER ANALYSIS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84632" y="530352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Involved?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463040"/>
            <a:ext cx="5468112" cy="2148840"/>
          </a:xfrm>
          <a:prstGeom prst="roundRect">
            <a:avLst>
              <a:gd name="adj" fmla="val 3830"/>
            </a:avLst>
          </a:prstGeom>
          <a:solidFill>
            <a:srgbClr val="F5F3E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58952" y="1719072"/>
            <a:ext cx="502920" cy="502920"/>
          </a:xfrm>
          <a:prstGeom prst="ellipse">
            <a:avLst/>
          </a:prstGeom>
          <a:solidFill>
            <a:srgbClr val="1120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58952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682496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/ Users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736592" y="1719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736592" y="171907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INFL.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758952" y="2331720"/>
            <a:ext cx="4956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1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Need:  </a:t>
            </a:r>
            <a:pPr indent="0" marL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simple, transparent database system to learn from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1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point:  </a:t>
            </a:r>
            <a:pPr indent="0" marL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understand internal DBMS working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0" y="1463040"/>
            <a:ext cx="5468112" cy="2148840"/>
          </a:xfrm>
          <a:prstGeom prst="roundRect">
            <a:avLst>
              <a:gd name="adj" fmla="val 3830"/>
            </a:avLst>
          </a:prstGeom>
          <a:solidFill>
            <a:srgbClr val="F5F3E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73952" y="1719072"/>
            <a:ext cx="502920" cy="502920"/>
          </a:xfrm>
          <a:prstGeom prst="ellipse">
            <a:avLst/>
          </a:prstGeom>
          <a:solidFill>
            <a:srgbClr val="11204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73952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132320" y="1682496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0451592" y="1719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C6AE8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451592" y="171907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INFL.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6473952" y="2331720"/>
            <a:ext cx="4956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1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Need:  </a:t>
            </a:r>
            <a:pPr indent="0" marL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easy way to demonstrate core concepts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1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point:  </a:t>
            </a:r>
            <a:pPr indent="0" marL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DBMS hides internal processes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02920" y="3840480"/>
            <a:ext cx="5468112" cy="2148840"/>
          </a:xfrm>
          <a:prstGeom prst="roundRect">
            <a:avLst>
              <a:gd name="adj" fmla="val 3830"/>
            </a:avLst>
          </a:prstGeom>
          <a:solidFill>
            <a:srgbClr val="F5F3E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58952" y="4096512"/>
            <a:ext cx="502920" cy="502920"/>
          </a:xfrm>
          <a:prstGeom prst="ellipse">
            <a:avLst/>
          </a:prstGeom>
          <a:solidFill>
            <a:srgbClr val="11204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58952" y="4096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4059936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 / Team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736592" y="409651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736592" y="409651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INFL.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758952" y="4709160"/>
            <a:ext cx="4956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1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Need:  </a:t>
            </a:r>
            <a:pPr indent="0" marL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modules and well-scoped algorithms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1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point:  </a:t>
            </a:r>
            <a:pPr indent="0" marL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Integrating DBMS, DAA &amp; OSPP concepts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217920" y="3840480"/>
            <a:ext cx="5468112" cy="2148840"/>
          </a:xfrm>
          <a:prstGeom prst="roundRect">
            <a:avLst>
              <a:gd name="adj" fmla="val 3830"/>
            </a:avLst>
          </a:prstGeom>
          <a:solidFill>
            <a:srgbClr val="F5F3E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473952" y="4096512"/>
            <a:ext cx="502920" cy="502920"/>
          </a:xfrm>
          <a:prstGeom prst="ellipse">
            <a:avLst/>
          </a:prstGeom>
          <a:solidFill>
            <a:srgbClr val="11204A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473952" y="4096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132320" y="4059936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Administrator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10451592" y="409651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C6AE8D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10451592" y="409651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INFL.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6473952" y="4709160"/>
            <a:ext cx="4956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1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Need:  </a:t>
            </a:r>
            <a:pPr indent="0" marL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 storage and transaction handling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1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point:  </a:t>
            </a:r>
            <a:pPr indent="0" marL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Maintaining data consistency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Mini-RDBMS Engine  |  Gate 0  |  Team 1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kl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56032"/>
            <a:ext cx="2148840" cy="40330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AE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OF 7 · AS-IS PROCESS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84632" y="530352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Today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463040"/>
            <a:ext cx="5577840" cy="4846320"/>
          </a:xfrm>
          <a:prstGeom prst="roundRect">
            <a:avLst>
              <a:gd name="adj" fmla="val 1698"/>
            </a:avLst>
          </a:prstGeom>
          <a:solidFill>
            <a:srgbClr val="F5F3E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69164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1120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16916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Workflow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24028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and developers needing structured storage either install a full RDBMS and use it as a black box, or roll ad-hoc storage in flat files / code — either way, internals stay invisible.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77240" y="3154680"/>
            <a:ext cx="310896" cy="310896"/>
          </a:xfrm>
          <a:prstGeom prst="ellipse">
            <a:avLst/>
          </a:prstGeom>
          <a:solidFill>
            <a:srgbClr val="C6AE8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3154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234440" y="312724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storage solution — MySQL, or flat files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77240" y="3721608"/>
            <a:ext cx="310896" cy="310896"/>
          </a:xfrm>
          <a:prstGeom prst="ellipse">
            <a:avLst/>
          </a:prstGeom>
          <a:solidFill>
            <a:srgbClr val="C6AE8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7240" y="3721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234440" y="369417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and run queries with no visibility into execution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77240" y="4288536"/>
            <a:ext cx="310896" cy="310896"/>
          </a:xfrm>
          <a:prstGeom prst="ellipse">
            <a:avLst/>
          </a:prstGeom>
          <a:solidFill>
            <a:srgbClr val="C6AE8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7240" y="4288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234440" y="426110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 multi-step operations with no atomicity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77240" y="4855464"/>
            <a:ext cx="310896" cy="310896"/>
          </a:xfrm>
          <a:prstGeom prst="ellipse">
            <a:avLst/>
          </a:prstGeom>
          <a:solidFill>
            <a:srgbClr val="C6AE8D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7240" y="4855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234440" y="482803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to learn DB internals from theory alone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777240" y="5422392"/>
            <a:ext cx="310896" cy="310896"/>
          </a:xfrm>
          <a:prstGeom prst="ellipse">
            <a:avLst/>
          </a:prstGeom>
          <a:solidFill>
            <a:srgbClr val="C6AE8D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77240" y="5422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234440" y="539496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assess understanding only via written exams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263640" y="1463040"/>
            <a:ext cx="5422392" cy="4846320"/>
          </a:xfrm>
          <a:prstGeom prst="roundRect">
            <a:avLst>
              <a:gd name="adj" fmla="val 1698"/>
            </a:avLst>
          </a:prstGeom>
          <a:solidFill>
            <a:srgbClr val="11204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492240" y="169164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C6AE8D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629400" y="16916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 Flow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537960" y="2331720"/>
            <a:ext cx="4892040" cy="603504"/>
          </a:xfrm>
          <a:prstGeom prst="roundRect">
            <a:avLst>
              <a:gd name="adj" fmla="val 12121"/>
            </a:avLst>
          </a:prstGeom>
          <a:solidFill>
            <a:srgbClr val="1C2C5E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720840" y="2331720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needs data storage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6537960" y="2935224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6AE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537960" y="3136392"/>
            <a:ext cx="4892040" cy="603504"/>
          </a:xfrm>
          <a:prstGeom prst="roundRect">
            <a:avLst>
              <a:gd name="adj" fmla="val 12121"/>
            </a:avLst>
          </a:prstGeom>
          <a:solidFill>
            <a:srgbClr val="1C2C5E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720840" y="3136392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Picks: full RDBMS  or  flat file / ad-hoc code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6537960" y="3739896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6AE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6537960" y="3941064"/>
            <a:ext cx="4892040" cy="603504"/>
          </a:xfrm>
          <a:prstGeom prst="roundRect">
            <a:avLst>
              <a:gd name="adj" fmla="val 12121"/>
            </a:avLst>
          </a:prstGeom>
          <a:solidFill>
            <a:srgbClr val="1C2C5E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6720840" y="3941064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written, run, hope it works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6537960" y="4544568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6AE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6537960" y="4745736"/>
            <a:ext cx="4892040" cy="603504"/>
          </a:xfrm>
          <a:prstGeom prst="roundRect">
            <a:avLst>
              <a:gd name="adj" fmla="val 12121"/>
            </a:avLst>
          </a:prstGeom>
          <a:solidFill>
            <a:srgbClr val="1C2C5E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6720840" y="4745736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visibility into parsing / execution / rollback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6537960" y="5349240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6AE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6537960" y="5550408"/>
            <a:ext cx="4892040" cy="603504"/>
          </a:xfrm>
          <a:prstGeom prst="roundRect">
            <a:avLst>
              <a:gd name="adj" fmla="val 12121"/>
            </a:avLst>
          </a:prstGeom>
          <a:solidFill>
            <a:srgbClr val="1C2C5E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6720840" y="5550408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can't verify depth of understanding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Mini-RDBMS Engine  |  Gate 0  |  Team 1</a:t>
            </a:r>
            <a:endParaRPr lang="en-US" sz="900" dirty="0"/>
          </a:p>
        </p:txBody>
      </p:sp>
      <p:sp>
        <p:nvSpPr>
          <p:cNvPr id="42" name="Text 39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kl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56032"/>
            <a:ext cx="2148840" cy="40330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AE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OF 7 · AS-IS PROCESS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84632" y="530352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Bottlenecks &amp; Inefficiencies Identified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5468112" cy="1965960"/>
          </a:xfrm>
          <a:prstGeom prst="roundRect">
            <a:avLst>
              <a:gd name="adj" fmla="val 4186"/>
            </a:avLst>
          </a:prstGeom>
          <a:solidFill>
            <a:srgbClr val="F5F3E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58952" y="185623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C1272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58952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819656"/>
            <a:ext cx="4370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11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processing is a black box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758952" y="2514600"/>
            <a:ext cx="4956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exposure to parsing, planning, or execution internals.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17920" y="1600200"/>
            <a:ext cx="5468112" cy="1965960"/>
          </a:xfrm>
          <a:prstGeom prst="roundRect">
            <a:avLst>
              <a:gd name="adj" fmla="val 4186"/>
            </a:avLst>
          </a:prstGeom>
          <a:solidFill>
            <a:srgbClr val="F5F3E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73952" y="185623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C1272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73952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7086600" y="1819656"/>
            <a:ext cx="4370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11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transaction / ACID guarantees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6473952" y="2514600"/>
            <a:ext cx="4956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integrity breaks on crash or concurrent access in student-built storage.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02920" y="3794760"/>
            <a:ext cx="5468112" cy="1965960"/>
          </a:xfrm>
          <a:prstGeom prst="roundRect">
            <a:avLst>
              <a:gd name="adj" fmla="val 4186"/>
            </a:avLst>
          </a:prstGeom>
          <a:solidFill>
            <a:srgbClr val="F5F3E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58952" y="405079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C1272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58952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371600" y="4014216"/>
            <a:ext cx="4370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11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RDBMS installs add overhead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758952" y="4709160"/>
            <a:ext cx="4956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complexity obscures the core concepts being taught.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17920" y="3794760"/>
            <a:ext cx="5468112" cy="1965960"/>
          </a:xfrm>
          <a:prstGeom prst="roundRect">
            <a:avLst>
              <a:gd name="adj" fmla="val 4186"/>
            </a:avLst>
          </a:prstGeom>
          <a:solidFill>
            <a:srgbClr val="F5F3E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473952" y="405079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C1272D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473952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086600" y="4014216"/>
            <a:ext cx="4370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11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Flat-file storage has no structure</a:t>
            </a:r>
            <a:endParaRPr lang="en-US" sz="1450" dirty="0"/>
          </a:p>
        </p:txBody>
      </p:sp>
      <p:sp>
        <p:nvSpPr>
          <p:cNvPr id="24" name="Text 21"/>
          <p:cNvSpPr txBox="1"/>
          <p:nvPr/>
        </p:nvSpPr>
        <p:spPr>
          <a:xfrm>
            <a:off x="6473952" y="4709160"/>
            <a:ext cx="4956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schema enforcement, no query language, no consistency guarantees.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Mini-RDBMS Engine  |  Gate 0  |  Team 1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2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kl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56032"/>
            <a:ext cx="2148840" cy="40330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6AE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OF 7 · PROBLEM &amp; GOALS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84632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2011680"/>
            <a:ext cx="11183112" cy="3017520"/>
          </a:xfrm>
          <a:prstGeom prst="roundRect">
            <a:avLst>
              <a:gd name="adj" fmla="val 3636"/>
            </a:avLst>
          </a:prstGeom>
          <a:solidFill>
            <a:srgbClr val="1C2C5E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19659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C6AE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70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237744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and developers lack a transparent, minimal RDBMS implementation that demonstrates core query processing and transaction management — since production databases are too complex to inspect internally, and ad-hoc storage solutions provide neither a query language nor transactional integrity.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5349240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6AE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Bounded, evidence-supported, and free of solution language — exactly what Gate 0 requires.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Mini-RDBMS Engine  |  Gate 0  |  Team 1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kl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56032"/>
            <a:ext cx="2148840" cy="40330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AE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OF 7 · PROBLEM &amp; GOALS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84632" y="530352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Underlying Needs &amp; Priority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508760"/>
            <a:ext cx="6492240" cy="4709160"/>
          </a:xfrm>
          <a:prstGeom prst="roundRect">
            <a:avLst>
              <a:gd name="adj" fmla="val 1748"/>
            </a:avLst>
          </a:prstGeom>
          <a:solidFill>
            <a:srgbClr val="F5F3E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73736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1120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17373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Underlying Needs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77240" y="2468880"/>
            <a:ext cx="365760" cy="365760"/>
          </a:xfrm>
          <a:prstGeom prst="ellipse">
            <a:avLst/>
          </a:prstGeom>
          <a:solidFill>
            <a:srgbClr val="1120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7724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395728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transparent, buildable engine to learn database internals from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77240" y="3337560"/>
            <a:ext cx="365760" cy="365760"/>
          </a:xfrm>
          <a:prstGeom prst="ellipse">
            <a:avLst/>
          </a:prstGeom>
          <a:solidFill>
            <a:srgbClr val="11204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3264408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lightweight query processor with real SQL-style syntax support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77240" y="4206240"/>
            <a:ext cx="365760" cy="365760"/>
          </a:xfrm>
          <a:prstGeom prst="ellipse">
            <a:avLst/>
          </a:prstGeom>
          <a:solidFill>
            <a:srgbClr val="11204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7240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280160" y="4133088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ACID-like transaction guarantees — atomicity and rollback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77240" y="5074920"/>
            <a:ext cx="365760" cy="365760"/>
          </a:xfrm>
          <a:prstGeom prst="ellipse">
            <a:avLst/>
          </a:prstGeom>
          <a:solidFill>
            <a:srgbClr val="11204A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77240" y="5074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5001768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artifact that proves implementation-level understanding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196328" y="1508760"/>
            <a:ext cx="4489704" cy="4709160"/>
          </a:xfrm>
          <a:prstGeom prst="roundRect">
            <a:avLst>
              <a:gd name="adj" fmla="val 1833"/>
            </a:avLst>
          </a:prstGeom>
          <a:solidFill>
            <a:srgbClr val="11204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424928" y="173736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C6AE8D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562088" y="17373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Priority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424928" y="24688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6AE8D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424928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936992" y="241401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support</a:t>
            </a:r>
            <a:endParaRPr lang="en-US" sz="1350" dirty="0"/>
          </a:p>
        </p:txBody>
      </p:sp>
      <p:sp>
        <p:nvSpPr>
          <p:cNvPr id="26" name="Text 23"/>
          <p:cNvSpPr txBox="1"/>
          <p:nvPr/>
        </p:nvSpPr>
        <p:spPr>
          <a:xfrm>
            <a:off x="7936992" y="27432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F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Biggest differentiator — the rollback “wow” moment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424928" y="33832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6AE8D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424928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936992" y="332841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processing</a:t>
            </a:r>
            <a:endParaRPr lang="en-US" sz="1350" dirty="0"/>
          </a:p>
        </p:txBody>
      </p:sp>
      <p:sp>
        <p:nvSpPr>
          <p:cNvPr id="30" name="Text 27"/>
          <p:cNvSpPr txBox="1"/>
          <p:nvPr/>
        </p:nvSpPr>
        <p:spPr>
          <a:xfrm>
            <a:off x="7936992" y="36576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F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functional requirement, named in the title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7424928" y="42976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6AE8D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7424928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7936992" y="424281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engine</a:t>
            </a:r>
            <a:endParaRPr lang="en-US" sz="1350" dirty="0"/>
          </a:p>
        </p:txBody>
      </p:sp>
      <p:sp>
        <p:nvSpPr>
          <p:cNvPr id="34" name="Text 31"/>
          <p:cNvSpPr txBox="1"/>
          <p:nvPr/>
        </p:nvSpPr>
        <p:spPr>
          <a:xfrm>
            <a:off x="7936992" y="45720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F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Foundational — everything else depends on it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7424928" y="52120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6AE8D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7424928" y="5212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7936992" y="515721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layer</a:t>
            </a:r>
            <a:endParaRPr lang="en-US" sz="1350" dirty="0"/>
          </a:p>
        </p:txBody>
      </p:sp>
      <p:sp>
        <p:nvSpPr>
          <p:cNvPr id="38" name="Text 35"/>
          <p:cNvSpPr txBox="1"/>
          <p:nvPr/>
        </p:nvSpPr>
        <p:spPr>
          <a:xfrm>
            <a:off x="7936992" y="54864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F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Needed for the demo; lowest complexity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Mini-RDBMS Engine  |  Gate 0  |  Team 1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kl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56032"/>
            <a:ext cx="2148840" cy="40330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AE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OF 7 · PROBLEM &amp; GOALS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84632" y="530352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554480"/>
            <a:ext cx="5468112" cy="1298448"/>
          </a:xfrm>
          <a:prstGeom prst="roundRect">
            <a:avLst>
              <a:gd name="adj" fmla="val 6338"/>
            </a:avLst>
          </a:prstGeom>
          <a:solidFill>
            <a:srgbClr val="F5F3E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22376" y="2011680"/>
            <a:ext cx="384048" cy="384048"/>
          </a:xfrm>
          <a:prstGeom prst="ellipse">
            <a:avLst/>
          </a:prstGeom>
          <a:solidFill>
            <a:srgbClr val="1120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22376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252728" y="1645920"/>
            <a:ext cx="450799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 storage engine with typed columns &amp; constraints (PRIMARY KEY, NOT NULL)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554480"/>
            <a:ext cx="5468112" cy="1298448"/>
          </a:xfrm>
          <a:prstGeom prst="roundRect">
            <a:avLst>
              <a:gd name="adj" fmla="val 6338"/>
            </a:avLst>
          </a:prstGeom>
          <a:solidFill>
            <a:srgbClr val="F5F3E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37376" y="2011680"/>
            <a:ext cx="384048" cy="384048"/>
          </a:xfrm>
          <a:prstGeom prst="ellipse">
            <a:avLst/>
          </a:prstGeom>
          <a:solidFill>
            <a:srgbClr val="11204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37376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967728" y="1645920"/>
            <a:ext cx="450799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a SQL-subset parser — CREATE, INSERT, SELECT (WHERE), UPDATE, DELETE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02920" y="3054096"/>
            <a:ext cx="5468112" cy="1298448"/>
          </a:xfrm>
          <a:prstGeom prst="roundRect">
            <a:avLst>
              <a:gd name="adj" fmla="val 6338"/>
            </a:avLst>
          </a:prstGeom>
          <a:solidFill>
            <a:srgbClr val="F5F3E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22376" y="3511296"/>
            <a:ext cx="384048" cy="384048"/>
          </a:xfrm>
          <a:prstGeom prst="ellipse">
            <a:avLst/>
          </a:prstGeom>
          <a:solidFill>
            <a:srgbClr val="11204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22376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252728" y="3145536"/>
            <a:ext cx="450799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 execution engine that returns correct results against storage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217920" y="3054096"/>
            <a:ext cx="5468112" cy="1298448"/>
          </a:xfrm>
          <a:prstGeom prst="roundRect">
            <a:avLst>
              <a:gd name="adj" fmla="val 6338"/>
            </a:avLst>
          </a:prstGeom>
          <a:solidFill>
            <a:srgbClr val="F5F3E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37376" y="3511296"/>
            <a:ext cx="384048" cy="384048"/>
          </a:xfrm>
          <a:prstGeom prst="ellipse">
            <a:avLst/>
          </a:prstGeom>
          <a:solidFill>
            <a:srgbClr val="11204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437376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967728" y="3145536"/>
            <a:ext cx="450799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BEGIN / COMMIT / ROLLBACK with atomicity guarantees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02920" y="4553712"/>
            <a:ext cx="5468112" cy="1298448"/>
          </a:xfrm>
          <a:prstGeom prst="roundRect">
            <a:avLst>
              <a:gd name="adj" fmla="val 6338"/>
            </a:avLst>
          </a:prstGeom>
          <a:solidFill>
            <a:srgbClr val="F5F3E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22376" y="5010912"/>
            <a:ext cx="384048" cy="384048"/>
          </a:xfrm>
          <a:prstGeom prst="ellipse">
            <a:avLst/>
          </a:prstGeom>
          <a:solidFill>
            <a:srgbClr val="11204A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22376" y="5010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252728" y="4645152"/>
            <a:ext cx="450799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 a rollback scenario that leaves zero partial changes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217920" y="4553712"/>
            <a:ext cx="5468112" cy="1298448"/>
          </a:xfrm>
          <a:prstGeom prst="roundRect">
            <a:avLst>
              <a:gd name="adj" fmla="val 6338"/>
            </a:avLst>
          </a:prstGeom>
          <a:solidFill>
            <a:srgbClr val="F5F3E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437376" y="5010912"/>
            <a:ext cx="384048" cy="384048"/>
          </a:xfrm>
          <a:prstGeom prst="ellipse">
            <a:avLst/>
          </a:prstGeom>
          <a:solidFill>
            <a:srgbClr val="11204A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437376" y="5010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967728" y="4645152"/>
            <a:ext cx="450799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a CLI interface for issuing queries and viewing results / errors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Mini-RDBMS Engine  |  Gate 0  |  Team 1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kl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56032"/>
            <a:ext cx="2148840" cy="40330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AE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MOTIVATING SCOPE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84632" y="530352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Problems We Face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3611880" cy="4206240"/>
          </a:xfrm>
          <a:prstGeom prst="roundRect">
            <a:avLst>
              <a:gd name="adj" fmla="val 2278"/>
            </a:avLst>
          </a:prstGeom>
          <a:solidFill>
            <a:srgbClr val="F5F3E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40664" y="1837944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120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40664" y="1837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6AE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40664" y="2514600"/>
            <a:ext cx="3136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1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 SQL error messages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40664" y="3337560"/>
            <a:ext cx="31363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Beginners struggle to pin down the exact cause of a failed query — errors need to be readable, not cryptic.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34256" y="1600200"/>
            <a:ext cx="3611880" cy="4206240"/>
          </a:xfrm>
          <a:prstGeom prst="roundRect">
            <a:avLst>
              <a:gd name="adj" fmla="val 2278"/>
            </a:avLst>
          </a:prstGeom>
          <a:solidFill>
            <a:srgbClr val="F5F3E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1837944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1204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72000" y="1837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6AE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2514600"/>
            <a:ext cx="3136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1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Accidental data modification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3337560"/>
            <a:ext cx="31363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UPDATE or DELETE without a proper WHERE clause can silently wipe out an entire table.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165592" y="1600200"/>
            <a:ext cx="3611880" cy="4206240"/>
          </a:xfrm>
          <a:prstGeom prst="roundRect">
            <a:avLst>
              <a:gd name="adj" fmla="val 2278"/>
            </a:avLst>
          </a:prstGeom>
          <a:solidFill>
            <a:srgbClr val="F5F3E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403336" y="1837944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1204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403336" y="1837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6AE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403336" y="2514600"/>
            <a:ext cx="3136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1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Incomplete transactions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403336" y="3337560"/>
            <a:ext cx="31363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failure between two related updates can leave data in a half-changed, inconsistent state.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Mini-RDBMS Engine  |  Gate 0  |  Team 1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kl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56032"/>
            <a:ext cx="2148840" cy="40330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AE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 OF 7 · SCOPE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84632" y="530352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Feasible Features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554480"/>
            <a:ext cx="5468112" cy="1965960"/>
          </a:xfrm>
          <a:prstGeom prst="roundRect">
            <a:avLst>
              <a:gd name="adj" fmla="val 4186"/>
            </a:avLst>
          </a:prstGeom>
          <a:solidFill>
            <a:srgbClr val="EFE7D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04088" y="1755648"/>
            <a:ext cx="5065776" cy="384048"/>
          </a:xfrm>
          <a:prstGeom prst="roundRect">
            <a:avLst>
              <a:gd name="adj" fmla="val 19048"/>
            </a:avLst>
          </a:prstGeom>
          <a:solidFill>
            <a:srgbClr val="1120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41248" y="1755648"/>
            <a:ext cx="4791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SQL-like RDBMS Engine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58952" y="2423160"/>
            <a:ext cx="4956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TABLE, INSERT, SELECT, UPDATE, DELETE, WHERE, with basic relational storage.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554480"/>
            <a:ext cx="5468112" cy="1965960"/>
          </a:xfrm>
          <a:prstGeom prst="roundRect">
            <a:avLst>
              <a:gd name="adj" fmla="val 4186"/>
            </a:avLst>
          </a:prstGeom>
          <a:solidFill>
            <a:srgbClr val="F5F3E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19088" y="1755648"/>
            <a:ext cx="5065776" cy="384048"/>
          </a:xfrm>
          <a:prstGeom prst="roundRect">
            <a:avLst>
              <a:gd name="adj" fmla="val 19048"/>
            </a:avLst>
          </a:prstGeom>
          <a:solidFill>
            <a:srgbClr val="11204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56248" y="1755648"/>
            <a:ext cx="4791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SQL Error Explanation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473952" y="2423160"/>
            <a:ext cx="4956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Lexer, parser and semantic checker producing beginner-friendly error messages.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02920" y="3749040"/>
            <a:ext cx="5468112" cy="1965960"/>
          </a:xfrm>
          <a:prstGeom prst="roundRect">
            <a:avLst>
              <a:gd name="adj" fmla="val 4186"/>
            </a:avLst>
          </a:prstGeom>
          <a:solidFill>
            <a:srgbClr val="F5F3E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04088" y="3950208"/>
            <a:ext cx="5065776" cy="384048"/>
          </a:xfrm>
          <a:prstGeom prst="roundRect">
            <a:avLst>
              <a:gd name="adj" fmla="val 19048"/>
            </a:avLst>
          </a:prstGeom>
          <a:solidFill>
            <a:srgbClr val="11204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41248" y="3950208"/>
            <a:ext cx="4791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UPDATE / DELETE Preview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58952" y="4617720"/>
            <a:ext cx="4956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affected rows and asks for confirmation before destructive operations run.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217920" y="3749040"/>
            <a:ext cx="5468112" cy="1965960"/>
          </a:xfrm>
          <a:prstGeom prst="roundRect">
            <a:avLst>
              <a:gd name="adj" fmla="val 4186"/>
            </a:avLst>
          </a:prstGeom>
          <a:solidFill>
            <a:srgbClr val="F5F3E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19088" y="3950208"/>
            <a:ext cx="5065776" cy="384048"/>
          </a:xfrm>
          <a:prstGeom prst="roundRect">
            <a:avLst>
              <a:gd name="adj" fmla="val 19048"/>
            </a:avLst>
          </a:prstGeom>
          <a:solidFill>
            <a:srgbClr val="11204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556248" y="3950208"/>
            <a:ext cx="4791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Support &amp; Recovery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473952" y="4617720"/>
            <a:ext cx="4956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BEGIN, COMMIT, ROLLBACK with undo logging and focused crash recovery.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Mini-RDBMS Engine  |  Gate 0  |  Team 1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kl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56032"/>
            <a:ext cx="2148840" cy="40330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AE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 OF 7 · FEASIBILITY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84632" y="530352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Analysis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508760"/>
            <a:ext cx="5468112" cy="1691640"/>
          </a:xfrm>
          <a:prstGeom prst="roundRect">
            <a:avLst>
              <a:gd name="adj" fmla="val 4865"/>
            </a:avLst>
          </a:prstGeom>
          <a:solidFill>
            <a:srgbClr val="F5F3E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04088" y="1709928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1120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41248" y="17099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58952" y="2331720"/>
            <a:ext cx="4956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engine dev; lexer/parser/AST buildable with learning; DBMS &amp; DAA algorithms suited to student implementation.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508760"/>
            <a:ext cx="5468112" cy="1691640"/>
          </a:xfrm>
          <a:prstGeom prst="roundRect">
            <a:avLst>
              <a:gd name="adj" fmla="val 4865"/>
            </a:avLst>
          </a:prstGeom>
          <a:solidFill>
            <a:srgbClr val="F5F3E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19088" y="1709928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11204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56248" y="17099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473952" y="2331720"/>
            <a:ext cx="4956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 a normal laptop via CLI; limited SQL grammar keeps it easy to operate, understand and debug.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02920" y="3401568"/>
            <a:ext cx="5468112" cy="1691640"/>
          </a:xfrm>
          <a:prstGeom prst="roundRect">
            <a:avLst>
              <a:gd name="adj" fmla="val 4865"/>
            </a:avLst>
          </a:prstGeom>
          <a:solidFill>
            <a:srgbClr val="F5F3E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04088" y="3602736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11204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41248" y="36027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58952" y="4224528"/>
            <a:ext cx="4956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engine, transactions and CLI are achievable within the 15-week semester timeline.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17920" y="3401568"/>
            <a:ext cx="5468112" cy="1691640"/>
          </a:xfrm>
          <a:prstGeom prst="roundRect">
            <a:avLst>
              <a:gd name="adj" fmla="val 4865"/>
            </a:avLst>
          </a:prstGeom>
          <a:solidFill>
            <a:srgbClr val="F5F3E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19088" y="3602736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11204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556248" y="36027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473952" y="4224528"/>
            <a:ext cx="4956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Python 3, VS Code, Git and local storage — no paid services or specialised hardware needed.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02920" y="5806440"/>
            <a:ext cx="11183112" cy="566928"/>
          </a:xfrm>
          <a:prstGeom prst="roundRect">
            <a:avLst>
              <a:gd name="adj" fmla="val 16129"/>
            </a:avLst>
          </a:prstGeom>
          <a:solidFill>
            <a:srgbClr val="11204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6AE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technically, operationally and time feasible within the 15-week semester; advanced features kept out of scope to protect delivery.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Mini-RDBMS Engine  |  Gate 0  |  Team 1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kl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56032"/>
            <a:ext cx="2148840" cy="40330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AE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7 OF 7 · RISK REGISTER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84632" y="530352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Could Go Wrong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554480"/>
            <a:ext cx="11183112" cy="457200"/>
          </a:xfrm>
          <a:prstGeom prst="roundRect">
            <a:avLst>
              <a:gd name="adj" fmla="val 12000"/>
            </a:avLst>
          </a:prstGeom>
          <a:solidFill>
            <a:srgbClr val="11204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85800" y="15544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892040" y="1554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 STRATEGY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921240" y="1554480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2011680"/>
            <a:ext cx="11183112" cy="658368"/>
          </a:xfrm>
          <a:prstGeom prst="rect">
            <a:avLst/>
          </a:prstGeom>
          <a:solidFill>
            <a:srgbClr val="F5F3E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85800" y="201168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leaves inconsistent data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892040" y="201168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Early, repeated rollback testing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149840" y="219456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0149840" y="21945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02920" y="2670048"/>
            <a:ext cx="1118311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85800" y="2670048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Deadlocks / race conditions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892040" y="267004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locking + simulated concurrency tests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0149840" y="2852928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149840" y="285292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02920" y="3328416"/>
            <a:ext cx="11183112" cy="658368"/>
          </a:xfrm>
          <a:prstGeom prst="rect">
            <a:avLst/>
          </a:prstGeom>
          <a:solidFill>
            <a:srgbClr val="F5F3E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85800" y="3328416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too tight for full ACID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892040" y="3328416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MVP first, treat extras as stretch goals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0149840" y="3511296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10149840" y="3511296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02920" y="3986784"/>
            <a:ext cx="1118311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85800" y="3986784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fail to integrate cleanly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892040" y="398678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module interfaces before coding separately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10149840" y="4169664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10149840" y="416966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02920" y="4645152"/>
            <a:ext cx="11183112" cy="658368"/>
          </a:xfrm>
          <a:prstGeom prst="rect">
            <a:avLst/>
          </a:prstGeom>
          <a:solidFill>
            <a:srgbClr val="F5F3EF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85800" y="4645152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commits leave half-applied changes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4892040" y="4645152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Write-ahead log; apply changes only on commit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0149840" y="482803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10149840" y="482803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502920" y="5303520"/>
            <a:ext cx="1118311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685800" y="530352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Uneven team skill across modules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4892040" y="530352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members, document code for handoff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10149840" y="548640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C6AE8D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10149840" y="548640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50" dirty="0"/>
          </a:p>
        </p:txBody>
      </p:sp>
      <p:sp>
        <p:nvSpPr>
          <p:cNvPr id="39" name="Text 3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Mini-RDBMS Engine  |  Gate 0  |  Team 1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2026-09-26T16:37:58Z</dcterms:created>
  <dcterms:modified xsi:type="dcterms:W3CDTF">2026-09-26T16:37:58Z</dcterms:modified>
</cp:coreProperties>
</file>