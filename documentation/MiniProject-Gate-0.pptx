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grandir" charset="1" panose="00000500000000000000"/>
      <p:regular r:id="rId19"/>
    </p:embeddedFont>
    <p:embeddedFont>
      <p:font typeface="Agrandir Bold" charset="1" panose="00000800000000000000"/>
      <p:regular r:id="rId20"/>
    </p:embeddedFont>
    <p:embeddedFont>
      <p:font typeface="Canva Sans Bold" charset="1" panose="020B0803030501040103"/>
      <p:regular r:id="rId21"/>
    </p:embeddedFont>
    <p:embeddedFont>
      <p:font typeface="Canva Sans" charset="1" panose="020B0503030501040103"/>
      <p:regular r:id="rId22"/>
    </p:embeddedFont>
    <p:embeddedFont>
      <p:font typeface="Poppins Bold" charset="1" panose="00000800000000000000"/>
      <p:regular r:id="rId23"/>
    </p:embeddedFont>
    <p:embeddedFont>
      <p:font typeface="Poppins" charset="1" panose="00000500000000000000"/>
      <p:regular r:id="rId24"/>
    </p:embeddedFont>
    <p:embeddedFont>
      <p:font typeface="Montserrat Bold" charset="1" panose="00000800000000000000"/>
      <p:regular r:id="rId25"/>
    </p:embeddedFont>
    <p:embeddedFont>
      <p:font typeface="Poppins Italics" charset="1" panose="00000500000000000000"/>
      <p:regular r:id="rId26"/>
    </p:embeddedFont>
    <p:embeddedFont>
      <p:font typeface="Poppins Bold Italics"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6.pn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6.pn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6.pn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47.png" Type="http://schemas.openxmlformats.org/officeDocument/2006/relationships/image"/><Relationship Id="rId12" Target="../media/image48.svg" Type="http://schemas.openxmlformats.org/officeDocument/2006/relationships/image"/><Relationship Id="rId2" Target="../media/image45.png" Type="http://schemas.openxmlformats.org/officeDocument/2006/relationships/image"/><Relationship Id="rId3" Target="../media/image46.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42386">
            <a:off x="-965435" y="2869367"/>
            <a:ext cx="10917604" cy="5545209"/>
          </a:xfrm>
          <a:custGeom>
            <a:avLst/>
            <a:gdLst/>
            <a:ahLst/>
            <a:cxnLst/>
            <a:rect r="r" b="b" t="t" l="l"/>
            <a:pathLst>
              <a:path h="5545209" w="10917604">
                <a:moveTo>
                  <a:pt x="0" y="0"/>
                </a:moveTo>
                <a:lnTo>
                  <a:pt x="10917604" y="0"/>
                </a:lnTo>
                <a:lnTo>
                  <a:pt x="10917604" y="5545209"/>
                </a:lnTo>
                <a:lnTo>
                  <a:pt x="0" y="5545209"/>
                </a:lnTo>
                <a:lnTo>
                  <a:pt x="0" y="0"/>
                </a:lnTo>
                <a:close/>
              </a:path>
            </a:pathLst>
          </a:custGeom>
          <a:blipFill>
            <a:blip r:embed="rId2">
              <a:alphaModFix amt="7999"/>
            </a:blip>
            <a:stretch>
              <a:fillRect l="0" t="-2912" r="0" b="-2912"/>
            </a:stretch>
          </a:blipFill>
        </p:spPr>
      </p:sp>
      <p:sp>
        <p:nvSpPr>
          <p:cNvPr name="Freeform 3" id="3"/>
          <p:cNvSpPr/>
          <p:nvPr/>
        </p:nvSpPr>
        <p:spPr>
          <a:xfrm flipH="false" flipV="false" rot="0">
            <a:off x="8820366" y="1196975"/>
            <a:ext cx="3421312" cy="696703"/>
          </a:xfrm>
          <a:custGeom>
            <a:avLst/>
            <a:gdLst/>
            <a:ahLst/>
            <a:cxnLst/>
            <a:rect r="r" b="b" t="t" l="l"/>
            <a:pathLst>
              <a:path h="696703" w="3421312">
                <a:moveTo>
                  <a:pt x="0" y="0"/>
                </a:moveTo>
                <a:lnTo>
                  <a:pt x="3421312" y="0"/>
                </a:lnTo>
                <a:lnTo>
                  <a:pt x="3421312" y="696704"/>
                </a:lnTo>
                <a:lnTo>
                  <a:pt x="0" y="696704"/>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25771">
            <a:off x="12589348" y="-1308982"/>
            <a:ext cx="5700880" cy="12065287"/>
            <a:chOff x="0" y="0"/>
            <a:chExt cx="1501466" cy="3177689"/>
          </a:xfrm>
        </p:grpSpPr>
        <p:sp>
          <p:nvSpPr>
            <p:cNvPr name="Freeform 5" id="5"/>
            <p:cNvSpPr/>
            <p:nvPr/>
          </p:nvSpPr>
          <p:spPr>
            <a:xfrm flipH="false" flipV="false" rot="0">
              <a:off x="0" y="0"/>
              <a:ext cx="1501466" cy="3177689"/>
            </a:xfrm>
            <a:custGeom>
              <a:avLst/>
              <a:gdLst/>
              <a:ahLst/>
              <a:cxnLst/>
              <a:rect r="r" b="b" t="t" l="l"/>
              <a:pathLst>
                <a:path h="3177689" w="1501466">
                  <a:moveTo>
                    <a:pt x="0" y="0"/>
                  </a:moveTo>
                  <a:lnTo>
                    <a:pt x="1501466" y="0"/>
                  </a:lnTo>
                  <a:lnTo>
                    <a:pt x="1501466" y="3177689"/>
                  </a:lnTo>
                  <a:lnTo>
                    <a:pt x="0" y="3177689"/>
                  </a:lnTo>
                  <a:close/>
                </a:path>
              </a:pathLst>
            </a:custGeom>
            <a:solidFill>
              <a:srgbClr val="112041"/>
            </a:solidFill>
          </p:spPr>
        </p:sp>
        <p:sp>
          <p:nvSpPr>
            <p:cNvPr name="TextBox 6" id="6"/>
            <p:cNvSpPr txBox="true"/>
            <p:nvPr/>
          </p:nvSpPr>
          <p:spPr>
            <a:xfrm>
              <a:off x="0" y="-85725"/>
              <a:ext cx="1501466" cy="3263414"/>
            </a:xfrm>
            <a:prstGeom prst="rect">
              <a:avLst/>
            </a:prstGeom>
          </p:spPr>
          <p:txBody>
            <a:bodyPr anchor="ctr" rtlCol="false" tIns="50800" lIns="50800" bIns="50800" rIns="50800"/>
            <a:lstStyle/>
            <a:p>
              <a:pPr algn="ctr">
                <a:lnSpc>
                  <a:spcPts val="2239"/>
                </a:lnSpc>
              </a:pPr>
            </a:p>
          </p:txBody>
        </p:sp>
      </p:grpSp>
      <p:sp>
        <p:nvSpPr>
          <p:cNvPr name="Freeform 7" id="7"/>
          <p:cNvSpPr/>
          <p:nvPr/>
        </p:nvSpPr>
        <p:spPr>
          <a:xfrm flipH="false" flipV="false" rot="0">
            <a:off x="-1187898" y="9079230"/>
            <a:ext cx="3820012" cy="777893"/>
          </a:xfrm>
          <a:custGeom>
            <a:avLst/>
            <a:gdLst/>
            <a:ahLst/>
            <a:cxnLst/>
            <a:rect r="r" b="b" t="t" l="l"/>
            <a:pathLst>
              <a:path h="777893" w="3820012">
                <a:moveTo>
                  <a:pt x="0" y="0"/>
                </a:moveTo>
                <a:lnTo>
                  <a:pt x="3820012" y="0"/>
                </a:lnTo>
                <a:lnTo>
                  <a:pt x="3820012" y="777893"/>
                </a:lnTo>
                <a:lnTo>
                  <a:pt x="0" y="777893"/>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954175" y="3142729"/>
            <a:ext cx="980036" cy="980036"/>
          </a:xfrm>
          <a:custGeom>
            <a:avLst/>
            <a:gdLst/>
            <a:ahLst/>
            <a:cxnLst/>
            <a:rect r="r" b="b" t="t" l="l"/>
            <a:pathLst>
              <a:path h="980036" w="980036">
                <a:moveTo>
                  <a:pt x="0" y="0"/>
                </a:moveTo>
                <a:lnTo>
                  <a:pt x="980037" y="0"/>
                </a:lnTo>
                <a:lnTo>
                  <a:pt x="980037" y="980036"/>
                </a:lnTo>
                <a:lnTo>
                  <a:pt x="0" y="9800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7"/>
            <a:stretch>
              <a:fillRect l="0" t="0" r="0" b="0"/>
            </a:stretch>
          </a:blipFill>
        </p:spPr>
      </p:sp>
      <p:sp>
        <p:nvSpPr>
          <p:cNvPr name="TextBox 10" id="10"/>
          <p:cNvSpPr txBox="true"/>
          <p:nvPr/>
        </p:nvSpPr>
        <p:spPr>
          <a:xfrm rot="0">
            <a:off x="321271" y="2357642"/>
            <a:ext cx="13609169" cy="3460725"/>
          </a:xfrm>
          <a:prstGeom prst="rect">
            <a:avLst/>
          </a:prstGeom>
        </p:spPr>
        <p:txBody>
          <a:bodyPr anchor="t" rtlCol="false" tIns="0" lIns="0" bIns="0" rIns="0">
            <a:spAutoFit/>
          </a:bodyPr>
          <a:lstStyle/>
          <a:p>
            <a:pPr algn="ctr">
              <a:lnSpc>
                <a:spcPts val="8751"/>
              </a:lnSpc>
            </a:pPr>
            <a:r>
              <a:rPr lang="en-US" sz="6251">
                <a:solidFill>
                  <a:srgbClr val="000000"/>
                </a:solidFill>
                <a:latin typeface="Agrandir"/>
                <a:ea typeface="Agrandir"/>
                <a:cs typeface="Agrandir"/>
                <a:sym typeface="Agrandir"/>
              </a:rPr>
              <a:t>Mini-RDBMS Engine </a:t>
            </a:r>
          </a:p>
          <a:p>
            <a:pPr algn="ctr">
              <a:lnSpc>
                <a:spcPts val="8751"/>
              </a:lnSpc>
            </a:pPr>
            <a:r>
              <a:rPr lang="en-US" sz="6251">
                <a:solidFill>
                  <a:srgbClr val="000000"/>
                </a:solidFill>
                <a:latin typeface="Agrandir"/>
                <a:ea typeface="Agrandir"/>
                <a:cs typeface="Agrandir"/>
                <a:sym typeface="Agrandir"/>
              </a:rPr>
              <a:t>with Query Processing &amp; Transaction Support</a:t>
            </a:r>
          </a:p>
        </p:txBody>
      </p:sp>
      <p:sp>
        <p:nvSpPr>
          <p:cNvPr name="TextBox 11" id="11"/>
          <p:cNvSpPr txBox="true"/>
          <p:nvPr/>
        </p:nvSpPr>
        <p:spPr>
          <a:xfrm rot="0">
            <a:off x="1928353" y="-16208"/>
            <a:ext cx="10120469" cy="1382100"/>
          </a:xfrm>
          <a:prstGeom prst="rect">
            <a:avLst/>
          </a:prstGeom>
        </p:spPr>
        <p:txBody>
          <a:bodyPr anchor="t" rtlCol="false" tIns="0" lIns="0" bIns="0" rIns="0">
            <a:spAutoFit/>
          </a:bodyPr>
          <a:lstStyle/>
          <a:p>
            <a:pPr algn="ctr">
              <a:lnSpc>
                <a:spcPts val="9770"/>
              </a:lnSpc>
            </a:pPr>
            <a:r>
              <a:rPr lang="en-US" sz="6978" b="true">
                <a:solidFill>
                  <a:srgbClr val="000000"/>
                </a:solidFill>
                <a:latin typeface="Agrandir Bold"/>
                <a:ea typeface="Agrandir Bold"/>
                <a:cs typeface="Agrandir Bold"/>
                <a:sym typeface="Agrandir Bold"/>
              </a:rPr>
              <a:t>MINI PROJECT GATE 0 </a:t>
            </a:r>
          </a:p>
        </p:txBody>
      </p:sp>
      <p:sp>
        <p:nvSpPr>
          <p:cNvPr name="TextBox 12" id="12"/>
          <p:cNvSpPr txBox="true"/>
          <p:nvPr/>
        </p:nvSpPr>
        <p:spPr>
          <a:xfrm rot="0">
            <a:off x="854475" y="5229682"/>
            <a:ext cx="12268225" cy="738854"/>
          </a:xfrm>
          <a:prstGeom prst="rect">
            <a:avLst/>
          </a:prstGeom>
        </p:spPr>
        <p:txBody>
          <a:bodyPr anchor="t" rtlCol="false" tIns="0" lIns="0" bIns="0" rIns="0">
            <a:spAutoFit/>
          </a:bodyPr>
          <a:lstStyle/>
          <a:p>
            <a:pPr algn="ctr">
              <a:lnSpc>
                <a:spcPts val="6000"/>
              </a:lnSpc>
              <a:spcBef>
                <a:spcPct val="0"/>
              </a:spcBef>
            </a:pPr>
            <a:r>
              <a:rPr lang="en-US" b="true" sz="4286">
                <a:solidFill>
                  <a:srgbClr val="9B836B"/>
                </a:solidFill>
                <a:latin typeface="Canva Sans Bold"/>
                <a:ea typeface="Canva Sans Bold"/>
                <a:cs typeface="Canva Sans Bold"/>
                <a:sym typeface="Canva Sans Bold"/>
              </a:rPr>
              <a:t>_________________________________________</a:t>
            </a:r>
          </a:p>
        </p:txBody>
      </p:sp>
      <p:sp>
        <p:nvSpPr>
          <p:cNvPr name="TextBox 13" id="13"/>
          <p:cNvSpPr txBox="true"/>
          <p:nvPr/>
        </p:nvSpPr>
        <p:spPr>
          <a:xfrm rot="0">
            <a:off x="12445836" y="6111846"/>
            <a:ext cx="1867753" cy="761877"/>
          </a:xfrm>
          <a:prstGeom prst="rect">
            <a:avLst/>
          </a:prstGeom>
        </p:spPr>
        <p:txBody>
          <a:bodyPr anchor="t" rtlCol="false" tIns="0" lIns="0" bIns="0" rIns="0">
            <a:spAutoFit/>
          </a:bodyPr>
          <a:lstStyle/>
          <a:p>
            <a:pPr algn="ctr">
              <a:lnSpc>
                <a:spcPts val="5414"/>
              </a:lnSpc>
              <a:spcBef>
                <a:spcPct val="0"/>
              </a:spcBef>
            </a:pPr>
            <a:r>
              <a:rPr lang="en-US" sz="3867">
                <a:solidFill>
                  <a:srgbClr val="F3F3F3"/>
                </a:solidFill>
                <a:latin typeface="Agrandir"/>
                <a:ea typeface="Agrandir"/>
                <a:cs typeface="Agrandir"/>
                <a:sym typeface="Agrandir"/>
              </a:rPr>
              <a:t>TEAM -1</a:t>
            </a:r>
          </a:p>
        </p:txBody>
      </p:sp>
      <p:sp>
        <p:nvSpPr>
          <p:cNvPr name="TextBox 14" id="14"/>
          <p:cNvSpPr txBox="true"/>
          <p:nvPr/>
        </p:nvSpPr>
        <p:spPr>
          <a:xfrm rot="0">
            <a:off x="12445836" y="7017033"/>
            <a:ext cx="4263033" cy="2642236"/>
          </a:xfrm>
          <a:prstGeom prst="rect">
            <a:avLst/>
          </a:prstGeom>
        </p:spPr>
        <p:txBody>
          <a:bodyPr anchor="t" rtlCol="false" tIns="0" lIns="0" bIns="0" rIns="0">
            <a:spAutoFit/>
          </a:bodyPr>
          <a:lstStyle/>
          <a:p>
            <a:pPr algn="just">
              <a:lnSpc>
                <a:spcPts val="5039"/>
              </a:lnSpc>
            </a:pPr>
            <a:r>
              <a:rPr lang="en-US" sz="3599">
                <a:solidFill>
                  <a:srgbClr val="F3F3F3"/>
                </a:solidFill>
                <a:latin typeface="Agrandir"/>
                <a:ea typeface="Agrandir"/>
                <a:cs typeface="Agrandir"/>
                <a:sym typeface="Agrandir"/>
              </a:rPr>
              <a:t>Bhoomi B        110</a:t>
            </a:r>
          </a:p>
          <a:p>
            <a:pPr algn="just">
              <a:lnSpc>
                <a:spcPts val="5039"/>
              </a:lnSpc>
            </a:pPr>
            <a:r>
              <a:rPr lang="en-US" sz="3599">
                <a:solidFill>
                  <a:srgbClr val="F3F3F3"/>
                </a:solidFill>
                <a:latin typeface="Agrandir"/>
                <a:ea typeface="Agrandir"/>
                <a:cs typeface="Agrandir"/>
                <a:sym typeface="Agrandir"/>
              </a:rPr>
              <a:t>Sneha S          131</a:t>
            </a:r>
          </a:p>
          <a:p>
            <a:pPr algn="just">
              <a:lnSpc>
                <a:spcPts val="5039"/>
              </a:lnSpc>
            </a:pPr>
            <a:r>
              <a:rPr lang="en-US" sz="3599">
                <a:solidFill>
                  <a:srgbClr val="F3F3F3"/>
                </a:solidFill>
                <a:latin typeface="Agrandir"/>
                <a:ea typeface="Agrandir"/>
                <a:cs typeface="Agrandir"/>
                <a:sym typeface="Agrandir"/>
              </a:rPr>
              <a:t>Shubham M    153</a:t>
            </a:r>
          </a:p>
          <a:p>
            <a:pPr algn="just">
              <a:lnSpc>
                <a:spcPts val="5039"/>
              </a:lnSpc>
              <a:spcBef>
                <a:spcPct val="0"/>
              </a:spcBef>
            </a:pPr>
            <a:r>
              <a:rPr lang="en-US" sz="3599">
                <a:solidFill>
                  <a:srgbClr val="F3F3F3"/>
                </a:solidFill>
                <a:latin typeface="Agrandir"/>
                <a:ea typeface="Agrandir"/>
                <a:cs typeface="Agrandir"/>
                <a:sym typeface="Agrandir"/>
              </a:rPr>
              <a:t>Soumya P       162    </a:t>
            </a:r>
          </a:p>
        </p:txBody>
      </p:sp>
      <p:sp>
        <p:nvSpPr>
          <p:cNvPr name="TextBox 15" id="15"/>
          <p:cNvSpPr txBox="true"/>
          <p:nvPr/>
        </p:nvSpPr>
        <p:spPr>
          <a:xfrm rot="0">
            <a:off x="3169806" y="6226146"/>
            <a:ext cx="7637562" cy="572185"/>
          </a:xfrm>
          <a:prstGeom prst="rect">
            <a:avLst/>
          </a:prstGeom>
        </p:spPr>
        <p:txBody>
          <a:bodyPr anchor="t" rtlCol="false" tIns="0" lIns="0" bIns="0" rIns="0">
            <a:spAutoFit/>
          </a:bodyPr>
          <a:lstStyle/>
          <a:p>
            <a:pPr algn="ctr">
              <a:lnSpc>
                <a:spcPts val="4687"/>
              </a:lnSpc>
              <a:spcBef>
                <a:spcPct val="0"/>
              </a:spcBef>
            </a:pPr>
            <a:r>
              <a:rPr lang="en-US" sz="3348">
                <a:solidFill>
                  <a:srgbClr val="000000"/>
                </a:solidFill>
                <a:latin typeface="Canva Sans"/>
                <a:ea typeface="Canva Sans"/>
                <a:cs typeface="Canva Sans"/>
                <a:sym typeface="Canva Sans"/>
              </a:rPr>
              <a:t>Under Guidance of - Jyothi Patil Mam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831441">
            <a:off x="-581518" y="-2090783"/>
            <a:ext cx="2105414" cy="5934133"/>
            <a:chOff x="0" y="0"/>
            <a:chExt cx="554512" cy="1562899"/>
          </a:xfrm>
        </p:grpSpPr>
        <p:sp>
          <p:nvSpPr>
            <p:cNvPr name="Freeform 3" id="3"/>
            <p:cNvSpPr/>
            <p:nvPr/>
          </p:nvSpPr>
          <p:spPr>
            <a:xfrm flipH="false" flipV="false" rot="0">
              <a:off x="0" y="0"/>
              <a:ext cx="554512" cy="1562899"/>
            </a:xfrm>
            <a:custGeom>
              <a:avLst/>
              <a:gdLst/>
              <a:ahLst/>
              <a:cxnLst/>
              <a:rect r="r" b="b" t="t" l="l"/>
              <a:pathLst>
                <a:path h="1562899" w="554512">
                  <a:moveTo>
                    <a:pt x="0" y="0"/>
                  </a:moveTo>
                  <a:lnTo>
                    <a:pt x="554512" y="0"/>
                  </a:lnTo>
                  <a:lnTo>
                    <a:pt x="554512" y="1562899"/>
                  </a:lnTo>
                  <a:lnTo>
                    <a:pt x="0" y="1562899"/>
                  </a:lnTo>
                  <a:close/>
                </a:path>
              </a:pathLst>
            </a:custGeom>
            <a:solidFill>
              <a:srgbClr val="112041"/>
            </a:solidFill>
          </p:spPr>
        </p:sp>
        <p:sp>
          <p:nvSpPr>
            <p:cNvPr name="TextBox 4" id="4"/>
            <p:cNvSpPr txBox="true"/>
            <p:nvPr/>
          </p:nvSpPr>
          <p:spPr>
            <a:xfrm>
              <a:off x="0" y="-85725"/>
              <a:ext cx="554512" cy="1648624"/>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6818877">
            <a:off x="17235293" y="1350710"/>
            <a:ext cx="2105414" cy="3191038"/>
            <a:chOff x="0" y="0"/>
            <a:chExt cx="554512" cy="840438"/>
          </a:xfrm>
        </p:grpSpPr>
        <p:sp>
          <p:nvSpPr>
            <p:cNvPr name="Freeform 6" id="6"/>
            <p:cNvSpPr/>
            <p:nvPr/>
          </p:nvSpPr>
          <p:spPr>
            <a:xfrm flipH="false" flipV="false" rot="0">
              <a:off x="0" y="0"/>
              <a:ext cx="554512" cy="840438"/>
            </a:xfrm>
            <a:custGeom>
              <a:avLst/>
              <a:gdLst/>
              <a:ahLst/>
              <a:cxnLst/>
              <a:rect r="r" b="b" t="t" l="l"/>
              <a:pathLst>
                <a:path h="840438" w="554512">
                  <a:moveTo>
                    <a:pt x="0" y="0"/>
                  </a:moveTo>
                  <a:lnTo>
                    <a:pt x="554512" y="0"/>
                  </a:lnTo>
                  <a:lnTo>
                    <a:pt x="554512" y="840438"/>
                  </a:lnTo>
                  <a:lnTo>
                    <a:pt x="0" y="840438"/>
                  </a:lnTo>
                  <a:close/>
                </a:path>
              </a:pathLst>
            </a:custGeom>
            <a:solidFill>
              <a:srgbClr val="112041"/>
            </a:solidFill>
          </p:spPr>
        </p:sp>
        <p:sp>
          <p:nvSpPr>
            <p:cNvPr name="TextBox 7" id="7"/>
            <p:cNvSpPr txBox="true"/>
            <p:nvPr/>
          </p:nvSpPr>
          <p:spPr>
            <a:xfrm>
              <a:off x="0" y="-85725"/>
              <a:ext cx="554512" cy="926163"/>
            </a:xfrm>
            <a:prstGeom prst="rect">
              <a:avLst/>
            </a:prstGeom>
          </p:spPr>
          <p:txBody>
            <a:bodyPr anchor="ctr" rtlCol="false" tIns="50800" lIns="50800" bIns="50800" rIns="50800"/>
            <a:lstStyle/>
            <a:p>
              <a:pPr algn="ctr">
                <a:lnSpc>
                  <a:spcPts val="2239"/>
                </a:lnSpc>
              </a:pPr>
            </a:p>
          </p:txBody>
        </p:sp>
      </p:grpSp>
      <p:sp>
        <p:nvSpPr>
          <p:cNvPr name="Freeform 8" id="8"/>
          <p:cNvSpPr/>
          <p:nvPr/>
        </p:nvSpPr>
        <p:spPr>
          <a:xfrm flipH="false" flipV="false" rot="0">
            <a:off x="14404489" y="7902867"/>
            <a:ext cx="4516343" cy="3046479"/>
          </a:xfrm>
          <a:custGeom>
            <a:avLst/>
            <a:gdLst/>
            <a:ahLst/>
            <a:cxnLst/>
            <a:rect r="r" b="b" t="t" l="l"/>
            <a:pathLst>
              <a:path h="3046479" w="4516343">
                <a:moveTo>
                  <a:pt x="0" y="0"/>
                </a:moveTo>
                <a:lnTo>
                  <a:pt x="4516343" y="0"/>
                </a:lnTo>
                <a:lnTo>
                  <a:pt x="4516343" y="3046479"/>
                </a:lnTo>
                <a:lnTo>
                  <a:pt x="0" y="3046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51924" y="8330904"/>
            <a:ext cx="2749693" cy="1854793"/>
          </a:xfrm>
          <a:custGeom>
            <a:avLst/>
            <a:gdLst/>
            <a:ahLst/>
            <a:cxnLst/>
            <a:rect r="r" b="b" t="t" l="l"/>
            <a:pathLst>
              <a:path h="1854793" w="2749693">
                <a:moveTo>
                  <a:pt x="0" y="0"/>
                </a:moveTo>
                <a:lnTo>
                  <a:pt x="2749693" y="0"/>
                </a:lnTo>
                <a:lnTo>
                  <a:pt x="2749693" y="1854792"/>
                </a:lnTo>
                <a:lnTo>
                  <a:pt x="0" y="1854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2528663" y="2031059"/>
            <a:ext cx="3875541" cy="5250973"/>
            <a:chOff x="0" y="0"/>
            <a:chExt cx="547573" cy="741907"/>
          </a:xfrm>
        </p:grpSpPr>
        <p:sp>
          <p:nvSpPr>
            <p:cNvPr name="Freeform 11" id="11"/>
            <p:cNvSpPr/>
            <p:nvPr/>
          </p:nvSpPr>
          <p:spPr>
            <a:xfrm flipH="false" flipV="false" rot="0">
              <a:off x="0" y="0"/>
              <a:ext cx="547573" cy="741907"/>
            </a:xfrm>
            <a:custGeom>
              <a:avLst/>
              <a:gdLst/>
              <a:ahLst/>
              <a:cxnLst/>
              <a:rect r="r" b="b" t="t" l="l"/>
              <a:pathLst>
                <a:path h="741907" w="547573">
                  <a:moveTo>
                    <a:pt x="103877" y="0"/>
                  </a:moveTo>
                  <a:lnTo>
                    <a:pt x="443696" y="0"/>
                  </a:lnTo>
                  <a:cubicBezTo>
                    <a:pt x="471246" y="0"/>
                    <a:pt x="497667" y="10944"/>
                    <a:pt x="517148" y="30425"/>
                  </a:cubicBezTo>
                  <a:cubicBezTo>
                    <a:pt x="536629" y="49906"/>
                    <a:pt x="547573" y="76327"/>
                    <a:pt x="547573" y="103877"/>
                  </a:cubicBezTo>
                  <a:lnTo>
                    <a:pt x="547573" y="638030"/>
                  </a:lnTo>
                  <a:cubicBezTo>
                    <a:pt x="547573" y="665580"/>
                    <a:pt x="536629" y="692001"/>
                    <a:pt x="517148" y="711482"/>
                  </a:cubicBezTo>
                  <a:cubicBezTo>
                    <a:pt x="497667" y="730963"/>
                    <a:pt x="471246" y="741907"/>
                    <a:pt x="443696" y="741907"/>
                  </a:cubicBezTo>
                  <a:lnTo>
                    <a:pt x="103877" y="741907"/>
                  </a:lnTo>
                  <a:cubicBezTo>
                    <a:pt x="46507" y="741907"/>
                    <a:pt x="0" y="695400"/>
                    <a:pt x="0" y="638030"/>
                  </a:cubicBezTo>
                  <a:lnTo>
                    <a:pt x="0" y="103877"/>
                  </a:lnTo>
                  <a:cubicBezTo>
                    <a:pt x="0" y="76327"/>
                    <a:pt x="10944" y="49906"/>
                    <a:pt x="30425" y="30425"/>
                  </a:cubicBezTo>
                  <a:cubicBezTo>
                    <a:pt x="49906" y="10944"/>
                    <a:pt x="76327" y="0"/>
                    <a:pt x="103877" y="0"/>
                  </a:cubicBezTo>
                  <a:close/>
                </a:path>
              </a:pathLst>
            </a:custGeom>
            <a:solidFill>
              <a:srgbClr val="9B836B">
                <a:alpha val="58824"/>
              </a:srgbClr>
            </a:solidFill>
          </p:spPr>
        </p:sp>
      </p:grpSp>
      <p:sp>
        <p:nvSpPr>
          <p:cNvPr name="TextBox 12" id="12"/>
          <p:cNvSpPr txBox="true"/>
          <p:nvPr/>
        </p:nvSpPr>
        <p:spPr>
          <a:xfrm rot="0">
            <a:off x="12353672" y="2317458"/>
            <a:ext cx="3665025" cy="4844415"/>
          </a:xfrm>
          <a:prstGeom prst="rect">
            <a:avLst/>
          </a:prstGeom>
        </p:spPr>
        <p:txBody>
          <a:bodyPr anchor="t" rtlCol="false" tIns="0" lIns="0" bIns="0" rIns="0">
            <a:spAutoFit/>
          </a:bodyPr>
          <a:lstStyle/>
          <a:p>
            <a:pPr algn="ctr">
              <a:lnSpc>
                <a:spcPts val="3499"/>
              </a:lnSpc>
            </a:pPr>
            <a:r>
              <a:rPr lang="en-US" sz="2499" b="true">
                <a:solidFill>
                  <a:srgbClr val="000000"/>
                </a:solidFill>
                <a:latin typeface="Poppins Bold"/>
                <a:ea typeface="Poppins Bold"/>
                <a:cs typeface="Poppins Bold"/>
                <a:sym typeface="Poppins Bold"/>
              </a:rPr>
              <a:t>Observed Issue</a:t>
            </a:r>
          </a:p>
          <a:p>
            <a:pPr algn="l" marL="496571" indent="-248285" lvl="1">
              <a:lnSpc>
                <a:spcPts val="3220"/>
              </a:lnSpc>
              <a:buFont typeface="Arial"/>
              <a:buChar char="•"/>
            </a:pPr>
            <a:r>
              <a:rPr lang="en-US" sz="2300">
                <a:solidFill>
                  <a:srgbClr val="0B0A0A"/>
                </a:solidFill>
                <a:latin typeface="Poppins"/>
                <a:ea typeface="Poppins"/>
                <a:cs typeface="Poppins"/>
                <a:sym typeface="Poppins"/>
              </a:rPr>
              <a:t>Students cannot easily understand how queries are processed internally.</a:t>
            </a:r>
          </a:p>
          <a:p>
            <a:pPr algn="l" marL="496571" indent="-248285" lvl="1">
              <a:lnSpc>
                <a:spcPts val="3220"/>
              </a:lnSpc>
              <a:buFont typeface="Arial"/>
              <a:buChar char="•"/>
            </a:pPr>
            <a:r>
              <a:rPr lang="en-US" sz="2300">
                <a:solidFill>
                  <a:srgbClr val="0B0A0A"/>
                </a:solidFill>
                <a:latin typeface="Poppins"/>
                <a:ea typeface="Poppins"/>
                <a:cs typeface="Poppins"/>
                <a:sym typeface="Poppins"/>
              </a:rPr>
              <a:t>It is difficult to visualize indexing, query execution, storage management, and transactions together.</a:t>
            </a:r>
          </a:p>
        </p:txBody>
      </p:sp>
      <p:grpSp>
        <p:nvGrpSpPr>
          <p:cNvPr name="Group 13" id="13"/>
          <p:cNvGrpSpPr/>
          <p:nvPr/>
        </p:nvGrpSpPr>
        <p:grpSpPr>
          <a:xfrm rot="0">
            <a:off x="6383077" y="2031059"/>
            <a:ext cx="4822278" cy="5657599"/>
            <a:chOff x="0" y="0"/>
            <a:chExt cx="681337" cy="799359"/>
          </a:xfrm>
        </p:grpSpPr>
        <p:sp>
          <p:nvSpPr>
            <p:cNvPr name="Freeform 14" id="14"/>
            <p:cNvSpPr/>
            <p:nvPr/>
          </p:nvSpPr>
          <p:spPr>
            <a:xfrm flipH="false" flipV="false" rot="0">
              <a:off x="0" y="0"/>
              <a:ext cx="681337" cy="799359"/>
            </a:xfrm>
            <a:custGeom>
              <a:avLst/>
              <a:gdLst/>
              <a:ahLst/>
              <a:cxnLst/>
              <a:rect r="r" b="b" t="t" l="l"/>
              <a:pathLst>
                <a:path h="799359" w="681337">
                  <a:moveTo>
                    <a:pt x="83483" y="0"/>
                  </a:moveTo>
                  <a:lnTo>
                    <a:pt x="597854" y="0"/>
                  </a:lnTo>
                  <a:cubicBezTo>
                    <a:pt x="643960" y="0"/>
                    <a:pt x="681337" y="37377"/>
                    <a:pt x="681337" y="83483"/>
                  </a:cubicBezTo>
                  <a:lnTo>
                    <a:pt x="681337" y="715876"/>
                  </a:lnTo>
                  <a:cubicBezTo>
                    <a:pt x="681337" y="761982"/>
                    <a:pt x="643960" y="799359"/>
                    <a:pt x="597854" y="799359"/>
                  </a:cubicBezTo>
                  <a:lnTo>
                    <a:pt x="83483" y="799359"/>
                  </a:lnTo>
                  <a:cubicBezTo>
                    <a:pt x="37377" y="799359"/>
                    <a:pt x="0" y="761982"/>
                    <a:pt x="0" y="715876"/>
                  </a:cubicBezTo>
                  <a:lnTo>
                    <a:pt x="0" y="83483"/>
                  </a:lnTo>
                  <a:cubicBezTo>
                    <a:pt x="0" y="37377"/>
                    <a:pt x="37377" y="0"/>
                    <a:pt x="83483" y="0"/>
                  </a:cubicBezTo>
                  <a:close/>
                </a:path>
              </a:pathLst>
            </a:custGeom>
            <a:solidFill>
              <a:srgbClr val="9B836B">
                <a:alpha val="58824"/>
              </a:srgbClr>
            </a:solidFill>
          </p:spPr>
        </p:sp>
      </p:grpSp>
      <p:sp>
        <p:nvSpPr>
          <p:cNvPr name="TextBox 15" id="15"/>
          <p:cNvSpPr txBox="true"/>
          <p:nvPr/>
        </p:nvSpPr>
        <p:spPr>
          <a:xfrm rot="0">
            <a:off x="6383077" y="2317458"/>
            <a:ext cx="4822278" cy="5585409"/>
          </a:xfrm>
          <a:prstGeom prst="rect">
            <a:avLst/>
          </a:prstGeom>
        </p:spPr>
        <p:txBody>
          <a:bodyPr anchor="t" rtlCol="false" tIns="0" lIns="0" bIns="0" rIns="0">
            <a:spAutoFit/>
          </a:bodyPr>
          <a:lstStyle/>
          <a:p>
            <a:pPr algn="ctr">
              <a:lnSpc>
                <a:spcPts val="3499"/>
              </a:lnSpc>
            </a:pPr>
            <a:r>
              <a:rPr lang="en-US" sz="2499" b="true">
                <a:solidFill>
                  <a:srgbClr val="000000"/>
                </a:solidFill>
                <a:latin typeface="Poppins Bold"/>
                <a:ea typeface="Poppins Bold"/>
                <a:cs typeface="Poppins Bold"/>
                <a:sym typeface="Poppins Bold"/>
              </a:rPr>
              <a:t>Why Existing Approach is Inadequate</a:t>
            </a:r>
          </a:p>
          <a:p>
            <a:pPr algn="l" marL="496571" indent="-248285" lvl="1">
              <a:lnSpc>
                <a:spcPts val="3220"/>
              </a:lnSpc>
              <a:buFont typeface="Arial"/>
              <a:buChar char="•"/>
            </a:pPr>
            <a:r>
              <a:rPr lang="en-US" sz="2300">
                <a:solidFill>
                  <a:srgbClr val="0B0A0A"/>
                </a:solidFill>
                <a:latin typeface="Poppins"/>
                <a:ea typeface="Poppins"/>
                <a:cs typeface="Poppins"/>
                <a:sym typeface="Poppins"/>
              </a:rPr>
              <a:t>Existing DBMSs provide the final result but hide the internal working.</a:t>
            </a:r>
          </a:p>
          <a:p>
            <a:pPr algn="l" marL="496571" indent="-248285" lvl="1">
              <a:lnSpc>
                <a:spcPts val="3220"/>
              </a:lnSpc>
              <a:buFont typeface="Arial"/>
              <a:buChar char="•"/>
            </a:pPr>
            <a:r>
              <a:rPr lang="en-US" sz="2300">
                <a:solidFill>
                  <a:srgbClr val="0B0A0A"/>
                </a:solidFill>
                <a:latin typeface="Poppins"/>
                <a:ea typeface="Poppins"/>
                <a:cs typeface="Poppins"/>
                <a:sym typeface="Poppins"/>
              </a:rPr>
              <a:t>They do not provide a simple platform to demonstrate DBMS, DAA and OSPP concepts together.</a:t>
            </a:r>
          </a:p>
          <a:p>
            <a:pPr algn="l" marL="496571" indent="-248285" lvl="1">
              <a:lnSpc>
                <a:spcPts val="3220"/>
              </a:lnSpc>
              <a:buFont typeface="Arial"/>
              <a:buChar char="•"/>
            </a:pPr>
            <a:r>
              <a:rPr lang="en-US" sz="2300">
                <a:solidFill>
                  <a:srgbClr val="0B0A0A"/>
                </a:solidFill>
                <a:latin typeface="Poppins"/>
                <a:ea typeface="Poppins"/>
                <a:cs typeface="Poppins"/>
                <a:sym typeface="Poppins"/>
              </a:rPr>
              <a:t>A lightweight system is needed to understand and demonstrate these concepts practically.</a:t>
            </a:r>
          </a:p>
          <a:p>
            <a:pPr algn="l">
              <a:lnSpc>
                <a:spcPts val="2385"/>
              </a:lnSpc>
            </a:pPr>
          </a:p>
        </p:txBody>
      </p:sp>
      <p:grpSp>
        <p:nvGrpSpPr>
          <p:cNvPr name="Group 16" id="16"/>
          <p:cNvGrpSpPr/>
          <p:nvPr/>
        </p:nvGrpSpPr>
        <p:grpSpPr>
          <a:xfrm rot="0">
            <a:off x="1513577" y="2031059"/>
            <a:ext cx="4001494" cy="4640877"/>
            <a:chOff x="0" y="0"/>
            <a:chExt cx="565369" cy="655707"/>
          </a:xfrm>
        </p:grpSpPr>
        <p:sp>
          <p:nvSpPr>
            <p:cNvPr name="Freeform 17" id="17"/>
            <p:cNvSpPr/>
            <p:nvPr/>
          </p:nvSpPr>
          <p:spPr>
            <a:xfrm flipH="false" flipV="false" rot="0">
              <a:off x="0" y="0"/>
              <a:ext cx="565369" cy="655707"/>
            </a:xfrm>
            <a:custGeom>
              <a:avLst/>
              <a:gdLst/>
              <a:ahLst/>
              <a:cxnLst/>
              <a:rect r="r" b="b" t="t" l="l"/>
              <a:pathLst>
                <a:path h="655707" w="565369">
                  <a:moveTo>
                    <a:pt x="100607" y="0"/>
                  </a:moveTo>
                  <a:lnTo>
                    <a:pt x="464761" y="0"/>
                  </a:lnTo>
                  <a:cubicBezTo>
                    <a:pt x="491444" y="0"/>
                    <a:pt x="517034" y="10600"/>
                    <a:pt x="535902" y="29467"/>
                  </a:cubicBezTo>
                  <a:cubicBezTo>
                    <a:pt x="554769" y="48335"/>
                    <a:pt x="565369" y="73925"/>
                    <a:pt x="565369" y="100607"/>
                  </a:cubicBezTo>
                  <a:lnTo>
                    <a:pt x="565369" y="555099"/>
                  </a:lnTo>
                  <a:cubicBezTo>
                    <a:pt x="565369" y="581782"/>
                    <a:pt x="554769" y="607372"/>
                    <a:pt x="535902" y="626240"/>
                  </a:cubicBezTo>
                  <a:cubicBezTo>
                    <a:pt x="517034" y="645107"/>
                    <a:pt x="491444" y="655707"/>
                    <a:pt x="464761" y="655707"/>
                  </a:cubicBezTo>
                  <a:lnTo>
                    <a:pt x="100607" y="655707"/>
                  </a:lnTo>
                  <a:cubicBezTo>
                    <a:pt x="73925" y="655707"/>
                    <a:pt x="48335" y="645107"/>
                    <a:pt x="29467" y="626240"/>
                  </a:cubicBezTo>
                  <a:cubicBezTo>
                    <a:pt x="10600" y="607372"/>
                    <a:pt x="0" y="581782"/>
                    <a:pt x="0" y="555099"/>
                  </a:cubicBezTo>
                  <a:lnTo>
                    <a:pt x="0" y="100607"/>
                  </a:lnTo>
                  <a:cubicBezTo>
                    <a:pt x="0" y="73925"/>
                    <a:pt x="10600" y="48335"/>
                    <a:pt x="29467" y="29467"/>
                  </a:cubicBezTo>
                  <a:cubicBezTo>
                    <a:pt x="48335" y="10600"/>
                    <a:pt x="73925" y="0"/>
                    <a:pt x="100607" y="0"/>
                  </a:cubicBezTo>
                  <a:close/>
                </a:path>
              </a:pathLst>
            </a:custGeom>
            <a:solidFill>
              <a:srgbClr val="9B836B">
                <a:alpha val="58824"/>
              </a:srgbClr>
            </a:solidFill>
          </p:spPr>
        </p:sp>
      </p:grpSp>
      <p:sp>
        <p:nvSpPr>
          <p:cNvPr name="TextBox 18" id="18"/>
          <p:cNvSpPr txBox="true"/>
          <p:nvPr/>
        </p:nvSpPr>
        <p:spPr>
          <a:xfrm rot="0">
            <a:off x="1316377" y="2317458"/>
            <a:ext cx="4412844" cy="4022433"/>
          </a:xfrm>
          <a:prstGeom prst="rect">
            <a:avLst/>
          </a:prstGeom>
        </p:spPr>
        <p:txBody>
          <a:bodyPr anchor="t" rtlCol="false" tIns="0" lIns="0" bIns="0" rIns="0">
            <a:spAutoFit/>
          </a:bodyPr>
          <a:lstStyle/>
          <a:p>
            <a:pPr algn="ctr">
              <a:lnSpc>
                <a:spcPts val="3499"/>
              </a:lnSpc>
            </a:pPr>
            <a:r>
              <a:rPr lang="en-US" sz="2499" b="true">
                <a:solidFill>
                  <a:srgbClr val="000000"/>
                </a:solidFill>
                <a:latin typeface="Poppins Bold"/>
                <a:ea typeface="Poppins Bold"/>
                <a:cs typeface="Poppins Bold"/>
                <a:sym typeface="Poppins Bold"/>
              </a:rPr>
              <a:t>Current Situation</a:t>
            </a:r>
          </a:p>
          <a:p>
            <a:pPr algn="l" marL="544722" indent="-272361" lvl="1">
              <a:lnSpc>
                <a:spcPts val="3532"/>
              </a:lnSpc>
              <a:buFont typeface="Arial"/>
              <a:buChar char="•"/>
            </a:pPr>
            <a:r>
              <a:rPr lang="en-US" sz="2523">
                <a:solidFill>
                  <a:srgbClr val="0B0A0A"/>
                </a:solidFill>
                <a:latin typeface="Poppins"/>
                <a:ea typeface="Poppins"/>
                <a:cs typeface="Poppins"/>
                <a:sym typeface="Poppins"/>
              </a:rPr>
              <a:t>Traditional database systems are large and complex for learning and experimentation.</a:t>
            </a:r>
          </a:p>
          <a:p>
            <a:pPr algn="l" marL="544722" indent="-272361" lvl="1">
              <a:lnSpc>
                <a:spcPts val="3532"/>
              </a:lnSpc>
              <a:buFont typeface="Arial"/>
              <a:buChar char="•"/>
            </a:pPr>
            <a:r>
              <a:rPr lang="en-US" sz="2523">
                <a:solidFill>
                  <a:srgbClr val="0B0A0A"/>
                </a:solidFill>
                <a:latin typeface="Poppins"/>
                <a:ea typeface="Poppins"/>
                <a:cs typeface="Poppins"/>
                <a:sym typeface="Poppins"/>
              </a:rPr>
              <a:t>Query processing and transaction handling are usually hidden inside the DBMS</a:t>
            </a:r>
          </a:p>
        </p:txBody>
      </p:sp>
      <p:sp>
        <p:nvSpPr>
          <p:cNvPr name="Freeform 19" id="19"/>
          <p:cNvSpPr/>
          <p:nvPr/>
        </p:nvSpPr>
        <p:spPr>
          <a:xfrm flipH="false" flipV="false" rot="0">
            <a:off x="12217897" y="-106094"/>
            <a:ext cx="6046322" cy="1134794"/>
          </a:xfrm>
          <a:custGeom>
            <a:avLst/>
            <a:gdLst/>
            <a:ahLst/>
            <a:cxnLst/>
            <a:rect r="r" b="b" t="t" l="l"/>
            <a:pathLst>
              <a:path h="1134794" w="6046322">
                <a:moveTo>
                  <a:pt x="0" y="0"/>
                </a:moveTo>
                <a:lnTo>
                  <a:pt x="6046323" y="0"/>
                </a:lnTo>
                <a:lnTo>
                  <a:pt x="6046323" y="1134794"/>
                </a:lnTo>
                <a:lnTo>
                  <a:pt x="0" y="1134794"/>
                </a:lnTo>
                <a:lnTo>
                  <a:pt x="0" y="0"/>
                </a:lnTo>
                <a:close/>
              </a:path>
            </a:pathLst>
          </a:custGeom>
          <a:blipFill>
            <a:blip r:embed="rId4"/>
            <a:stretch>
              <a:fillRect l="0" t="0" r="0" b="0"/>
            </a:stretch>
          </a:blipFill>
        </p:spPr>
      </p:sp>
      <p:sp>
        <p:nvSpPr>
          <p:cNvPr name="TextBox 20" id="20"/>
          <p:cNvSpPr txBox="true"/>
          <p:nvPr/>
        </p:nvSpPr>
        <p:spPr>
          <a:xfrm rot="0">
            <a:off x="2232669" y="166028"/>
            <a:ext cx="4974146" cy="1219423"/>
          </a:xfrm>
          <a:prstGeom prst="rect">
            <a:avLst/>
          </a:prstGeom>
        </p:spPr>
        <p:txBody>
          <a:bodyPr anchor="t" rtlCol="false" tIns="0" lIns="0" bIns="0" rIns="0">
            <a:spAutoFit/>
          </a:bodyPr>
          <a:lstStyle/>
          <a:p>
            <a:pPr algn="ctr">
              <a:lnSpc>
                <a:spcPts val="8568"/>
              </a:lnSpc>
            </a:pPr>
            <a:r>
              <a:rPr lang="en-US" sz="6120" b="true">
                <a:solidFill>
                  <a:srgbClr val="000000"/>
                </a:solidFill>
                <a:latin typeface="Agrandir Bold"/>
                <a:ea typeface="Agrandir Bold"/>
                <a:cs typeface="Agrandir Bold"/>
                <a:sym typeface="Agrandir Bold"/>
              </a:rPr>
              <a:t>The</a:t>
            </a:r>
            <a:r>
              <a:rPr lang="en-US" b="true" sz="6120">
                <a:solidFill>
                  <a:srgbClr val="000000"/>
                </a:solidFill>
                <a:latin typeface="Agrandir Bold"/>
                <a:ea typeface="Agrandir Bold"/>
                <a:cs typeface="Agrandir Bold"/>
                <a:sym typeface="Agrandir Bold"/>
              </a:rPr>
              <a:t> Problem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21705" y="8301047"/>
            <a:ext cx="3820012" cy="777893"/>
          </a:xfrm>
          <a:custGeom>
            <a:avLst/>
            <a:gdLst/>
            <a:ahLst/>
            <a:cxnLst/>
            <a:rect r="r" b="b" t="t" l="l"/>
            <a:pathLst>
              <a:path h="777893" w="3820012">
                <a:moveTo>
                  <a:pt x="0" y="0"/>
                </a:moveTo>
                <a:lnTo>
                  <a:pt x="3820011" y="0"/>
                </a:lnTo>
                <a:lnTo>
                  <a:pt x="3820011" y="777893"/>
                </a:lnTo>
                <a:lnTo>
                  <a:pt x="0" y="777893"/>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28555">
            <a:off x="-198126" y="56298"/>
            <a:ext cx="18684253" cy="12544882"/>
            <a:chOff x="0" y="0"/>
            <a:chExt cx="4920955" cy="3304002"/>
          </a:xfrm>
        </p:grpSpPr>
        <p:sp>
          <p:nvSpPr>
            <p:cNvPr name="Freeform 4" id="4"/>
            <p:cNvSpPr/>
            <p:nvPr/>
          </p:nvSpPr>
          <p:spPr>
            <a:xfrm flipH="false" flipV="false" rot="0">
              <a:off x="0" y="0"/>
              <a:ext cx="4920955" cy="3304002"/>
            </a:xfrm>
            <a:custGeom>
              <a:avLst/>
              <a:gdLst/>
              <a:ahLst/>
              <a:cxnLst/>
              <a:rect r="r" b="b" t="t" l="l"/>
              <a:pathLst>
                <a:path h="3304002" w="4920955">
                  <a:moveTo>
                    <a:pt x="0" y="0"/>
                  </a:moveTo>
                  <a:lnTo>
                    <a:pt x="4920955" y="0"/>
                  </a:lnTo>
                  <a:lnTo>
                    <a:pt x="4920955" y="3304002"/>
                  </a:lnTo>
                  <a:lnTo>
                    <a:pt x="0" y="3304002"/>
                  </a:lnTo>
                  <a:close/>
                </a:path>
              </a:pathLst>
            </a:custGeom>
            <a:solidFill>
              <a:srgbClr val="112041">
                <a:alpha val="76863"/>
              </a:srgbClr>
            </a:solidFill>
          </p:spPr>
        </p:sp>
        <p:sp>
          <p:nvSpPr>
            <p:cNvPr name="TextBox 5" id="5"/>
            <p:cNvSpPr txBox="true"/>
            <p:nvPr/>
          </p:nvSpPr>
          <p:spPr>
            <a:xfrm>
              <a:off x="0" y="-85725"/>
              <a:ext cx="4920955" cy="3389727"/>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9523200" y="1449785"/>
            <a:ext cx="5218315" cy="3829126"/>
            <a:chOff x="0" y="0"/>
            <a:chExt cx="754512" cy="553650"/>
          </a:xfrm>
        </p:grpSpPr>
        <p:sp>
          <p:nvSpPr>
            <p:cNvPr name="Freeform 7" id="7"/>
            <p:cNvSpPr/>
            <p:nvPr/>
          </p:nvSpPr>
          <p:spPr>
            <a:xfrm flipH="false" flipV="false" rot="0">
              <a:off x="0" y="0"/>
              <a:ext cx="754512" cy="553650"/>
            </a:xfrm>
            <a:custGeom>
              <a:avLst/>
              <a:gdLst/>
              <a:ahLst/>
              <a:cxnLst/>
              <a:rect r="r" b="b" t="t" l="l"/>
              <a:pathLst>
                <a:path h="553650" w="754512">
                  <a:moveTo>
                    <a:pt x="77147" y="0"/>
                  </a:moveTo>
                  <a:lnTo>
                    <a:pt x="677365" y="0"/>
                  </a:lnTo>
                  <a:cubicBezTo>
                    <a:pt x="719972" y="0"/>
                    <a:pt x="754512" y="34540"/>
                    <a:pt x="754512" y="77147"/>
                  </a:cubicBezTo>
                  <a:lnTo>
                    <a:pt x="754512" y="476503"/>
                  </a:lnTo>
                  <a:cubicBezTo>
                    <a:pt x="754512" y="496964"/>
                    <a:pt x="746384" y="516586"/>
                    <a:pt x="731916" y="531054"/>
                  </a:cubicBezTo>
                  <a:cubicBezTo>
                    <a:pt x="717448" y="545522"/>
                    <a:pt x="697825" y="553650"/>
                    <a:pt x="677365" y="553650"/>
                  </a:cubicBezTo>
                  <a:lnTo>
                    <a:pt x="77147" y="553650"/>
                  </a:lnTo>
                  <a:cubicBezTo>
                    <a:pt x="34540" y="553650"/>
                    <a:pt x="0" y="519110"/>
                    <a:pt x="0" y="476503"/>
                  </a:cubicBezTo>
                  <a:lnTo>
                    <a:pt x="0" y="77147"/>
                  </a:lnTo>
                  <a:cubicBezTo>
                    <a:pt x="0" y="34540"/>
                    <a:pt x="34540" y="0"/>
                    <a:pt x="77147" y="0"/>
                  </a:cubicBezTo>
                  <a:close/>
                </a:path>
              </a:pathLst>
            </a:custGeom>
            <a:solidFill>
              <a:srgbClr val="F4B400">
                <a:alpha val="46667"/>
              </a:srgbClr>
            </a:solidFill>
          </p:spPr>
        </p:sp>
      </p:grpSp>
      <p:sp>
        <p:nvSpPr>
          <p:cNvPr name="TextBox 8" id="8"/>
          <p:cNvSpPr txBox="true"/>
          <p:nvPr/>
        </p:nvSpPr>
        <p:spPr>
          <a:xfrm rot="0">
            <a:off x="9741841" y="1474838"/>
            <a:ext cx="4999674" cy="4097655"/>
          </a:xfrm>
          <a:prstGeom prst="rect">
            <a:avLst/>
          </a:prstGeom>
        </p:spPr>
        <p:txBody>
          <a:bodyPr anchor="t" rtlCol="false" tIns="0" lIns="0" bIns="0" rIns="0">
            <a:spAutoFit/>
          </a:bodyPr>
          <a:lstStyle/>
          <a:p>
            <a:pPr algn="l">
              <a:lnSpc>
                <a:spcPts val="3640"/>
              </a:lnSpc>
            </a:pPr>
            <a:r>
              <a:rPr lang="en-US" sz="2600" b="true">
                <a:solidFill>
                  <a:srgbClr val="FFFFFF"/>
                </a:solidFill>
                <a:latin typeface="Poppins Bold"/>
                <a:ea typeface="Poppins Bold"/>
                <a:cs typeface="Poppins Bold"/>
                <a:sym typeface="Poppins Bold"/>
              </a:rPr>
              <a:t>2. Faculty</a:t>
            </a:r>
          </a:p>
          <a:p>
            <a:pPr algn="l" marL="496571" indent="-248285" lvl="1">
              <a:lnSpc>
                <a:spcPts val="3220"/>
              </a:lnSpc>
              <a:buFont typeface="Arial"/>
              <a:buChar char="•"/>
            </a:pPr>
            <a:r>
              <a:rPr lang="en-US" sz="2300">
                <a:solidFill>
                  <a:srgbClr val="FFFFFF"/>
                </a:solidFill>
                <a:latin typeface="Poppins"/>
                <a:ea typeface="Poppins"/>
                <a:cs typeface="Poppins"/>
                <a:sym typeface="Poppins"/>
              </a:rPr>
              <a:t>Role: Guide and evaluate the project</a:t>
            </a:r>
          </a:p>
          <a:p>
            <a:pPr algn="l" marL="496571" indent="-248285" lvl="1">
              <a:lnSpc>
                <a:spcPts val="3220"/>
              </a:lnSpc>
              <a:buFont typeface="Arial"/>
              <a:buChar char="•"/>
            </a:pPr>
            <a:r>
              <a:rPr lang="en-US" sz="2300">
                <a:solidFill>
                  <a:srgbClr val="FFFFFF"/>
                </a:solidFill>
                <a:latin typeface="Poppins"/>
                <a:ea typeface="Poppins"/>
                <a:cs typeface="Poppins"/>
                <a:sym typeface="Poppins"/>
              </a:rPr>
              <a:t>Need: Easy way to demonstrate concepts</a:t>
            </a:r>
          </a:p>
          <a:p>
            <a:pPr algn="l" marL="496571" indent="-248285" lvl="1">
              <a:lnSpc>
                <a:spcPts val="3220"/>
              </a:lnSpc>
              <a:buFont typeface="Arial"/>
              <a:buChar char="•"/>
            </a:pPr>
            <a:r>
              <a:rPr lang="en-US" sz="2300">
                <a:solidFill>
                  <a:srgbClr val="FFFFFF"/>
                </a:solidFill>
                <a:latin typeface="Poppins"/>
                <a:ea typeface="Poppins"/>
                <a:cs typeface="Poppins"/>
                <a:sym typeface="Poppins"/>
              </a:rPr>
              <a:t>Difficulty: Existing DBMS hides internal processes</a:t>
            </a:r>
          </a:p>
          <a:p>
            <a:pPr algn="l" marL="496571" indent="-248285" lvl="1">
              <a:lnSpc>
                <a:spcPts val="3220"/>
              </a:lnSpc>
              <a:buFont typeface="Arial"/>
              <a:buChar char="•"/>
            </a:pPr>
            <a:r>
              <a:rPr lang="en-US" sz="2300">
                <a:solidFill>
                  <a:srgbClr val="FFFFFF"/>
                </a:solidFill>
                <a:latin typeface="Poppins"/>
                <a:ea typeface="Poppins"/>
                <a:cs typeface="Poppins"/>
                <a:sym typeface="Poppins"/>
              </a:rPr>
              <a:t>Expected Benefit: Easier teaching and evaluation</a:t>
            </a:r>
          </a:p>
          <a:p>
            <a:pPr algn="l">
              <a:lnSpc>
                <a:spcPts val="3499"/>
              </a:lnSpc>
            </a:pPr>
          </a:p>
        </p:txBody>
      </p:sp>
      <p:sp>
        <p:nvSpPr>
          <p:cNvPr name="Freeform 9" id="9"/>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4"/>
            <a:stretch>
              <a:fillRect l="0" t="0" r="0" b="0"/>
            </a:stretch>
          </a:blipFill>
        </p:spPr>
      </p:sp>
      <p:grpSp>
        <p:nvGrpSpPr>
          <p:cNvPr name="Group 10" id="10"/>
          <p:cNvGrpSpPr/>
          <p:nvPr/>
        </p:nvGrpSpPr>
        <p:grpSpPr>
          <a:xfrm rot="0">
            <a:off x="2123673" y="1415590"/>
            <a:ext cx="5436955" cy="3114868"/>
            <a:chOff x="0" y="0"/>
            <a:chExt cx="786125" cy="450376"/>
          </a:xfrm>
        </p:grpSpPr>
        <p:sp>
          <p:nvSpPr>
            <p:cNvPr name="Freeform 11" id="11"/>
            <p:cNvSpPr/>
            <p:nvPr/>
          </p:nvSpPr>
          <p:spPr>
            <a:xfrm flipH="false" flipV="false" rot="0">
              <a:off x="0" y="0"/>
              <a:ext cx="786125" cy="450376"/>
            </a:xfrm>
            <a:custGeom>
              <a:avLst/>
              <a:gdLst/>
              <a:ahLst/>
              <a:cxnLst/>
              <a:rect r="r" b="b" t="t" l="l"/>
              <a:pathLst>
                <a:path h="450376" w="786125">
                  <a:moveTo>
                    <a:pt x="74045" y="0"/>
                  </a:moveTo>
                  <a:lnTo>
                    <a:pt x="712080" y="0"/>
                  </a:lnTo>
                  <a:cubicBezTo>
                    <a:pt x="752974" y="0"/>
                    <a:pt x="786125" y="33151"/>
                    <a:pt x="786125" y="74045"/>
                  </a:cubicBezTo>
                  <a:lnTo>
                    <a:pt x="786125" y="376331"/>
                  </a:lnTo>
                  <a:cubicBezTo>
                    <a:pt x="786125" y="417225"/>
                    <a:pt x="752974" y="450376"/>
                    <a:pt x="712080" y="450376"/>
                  </a:cubicBezTo>
                  <a:lnTo>
                    <a:pt x="74045" y="450376"/>
                  </a:lnTo>
                  <a:cubicBezTo>
                    <a:pt x="33151" y="450376"/>
                    <a:pt x="0" y="417225"/>
                    <a:pt x="0" y="376331"/>
                  </a:cubicBezTo>
                  <a:lnTo>
                    <a:pt x="0" y="74045"/>
                  </a:lnTo>
                  <a:cubicBezTo>
                    <a:pt x="0" y="33151"/>
                    <a:pt x="33151" y="0"/>
                    <a:pt x="74045" y="0"/>
                  </a:cubicBezTo>
                  <a:close/>
                </a:path>
              </a:pathLst>
            </a:custGeom>
            <a:solidFill>
              <a:srgbClr val="E2C39D">
                <a:alpha val="66667"/>
              </a:srgbClr>
            </a:solidFill>
          </p:spPr>
        </p:sp>
      </p:grpSp>
      <p:sp>
        <p:nvSpPr>
          <p:cNvPr name="TextBox 12" id="12"/>
          <p:cNvSpPr txBox="true"/>
          <p:nvPr/>
        </p:nvSpPr>
        <p:spPr>
          <a:xfrm rot="0">
            <a:off x="2261143" y="1570088"/>
            <a:ext cx="5231939" cy="2960370"/>
          </a:xfrm>
          <a:prstGeom prst="rect">
            <a:avLst/>
          </a:prstGeom>
        </p:spPr>
        <p:txBody>
          <a:bodyPr anchor="t" rtlCol="false" tIns="0" lIns="0" bIns="0" rIns="0">
            <a:spAutoFit/>
          </a:bodyPr>
          <a:lstStyle/>
          <a:p>
            <a:pPr algn="l">
              <a:lnSpc>
                <a:spcPts val="2600"/>
              </a:lnSpc>
            </a:pPr>
            <a:r>
              <a:rPr lang="en-US" sz="2600" b="true">
                <a:solidFill>
                  <a:srgbClr val="FFFFFF"/>
                </a:solidFill>
                <a:latin typeface="Poppins Bold"/>
                <a:ea typeface="Poppins Bold"/>
                <a:cs typeface="Poppins Bold"/>
                <a:sym typeface="Poppins Bold"/>
              </a:rPr>
              <a:t>1. Students / Users</a:t>
            </a:r>
          </a:p>
          <a:p>
            <a:pPr algn="l" marL="496571" indent="-248285" lvl="1">
              <a:lnSpc>
                <a:spcPts val="2300"/>
              </a:lnSpc>
              <a:buFont typeface="Arial"/>
              <a:buChar char="•"/>
            </a:pPr>
            <a:r>
              <a:rPr lang="en-US" sz="2300">
                <a:solidFill>
                  <a:srgbClr val="FFFFFF"/>
                </a:solidFill>
                <a:latin typeface="Poppins"/>
                <a:ea typeface="Poppins"/>
                <a:cs typeface="Poppins"/>
                <a:sym typeface="Poppins"/>
              </a:rPr>
              <a:t>Role: Execute queries and transactions</a:t>
            </a:r>
          </a:p>
          <a:p>
            <a:pPr algn="l" marL="496571" indent="-248285" lvl="1">
              <a:lnSpc>
                <a:spcPts val="2300"/>
              </a:lnSpc>
              <a:buFont typeface="Arial"/>
              <a:buChar char="•"/>
            </a:pPr>
            <a:r>
              <a:rPr lang="en-US" sz="2300">
                <a:solidFill>
                  <a:srgbClr val="FFFFFF"/>
                </a:solidFill>
                <a:latin typeface="Poppins"/>
                <a:ea typeface="Poppins"/>
                <a:cs typeface="Poppins"/>
                <a:sym typeface="Poppins"/>
              </a:rPr>
              <a:t>Need: Simple database system for learning</a:t>
            </a:r>
          </a:p>
          <a:p>
            <a:pPr algn="l" marL="496571" indent="-248285" lvl="1">
              <a:lnSpc>
                <a:spcPts val="2300"/>
              </a:lnSpc>
              <a:buFont typeface="Arial"/>
              <a:buChar char="•"/>
            </a:pPr>
            <a:r>
              <a:rPr lang="en-US" sz="2300">
                <a:solidFill>
                  <a:srgbClr val="FFFFFF"/>
                </a:solidFill>
                <a:latin typeface="Poppins"/>
                <a:ea typeface="Poppins"/>
                <a:cs typeface="Poppins"/>
                <a:sym typeface="Poppins"/>
              </a:rPr>
              <a:t>Difficulty: Difficult to understand internal DBMS working</a:t>
            </a:r>
          </a:p>
          <a:p>
            <a:pPr algn="l" marL="496571" indent="-248285" lvl="1">
              <a:lnSpc>
                <a:spcPts val="2300"/>
              </a:lnSpc>
              <a:buFont typeface="Arial"/>
              <a:buChar char="•"/>
            </a:pPr>
            <a:r>
              <a:rPr lang="en-US" sz="2300">
                <a:solidFill>
                  <a:srgbClr val="FFFFFF"/>
                </a:solidFill>
                <a:latin typeface="Poppins"/>
                <a:ea typeface="Poppins"/>
                <a:cs typeface="Poppins"/>
                <a:sym typeface="Poppins"/>
              </a:rPr>
              <a:t>Expected Benefit: Better practical understanding</a:t>
            </a:r>
          </a:p>
          <a:p>
            <a:pPr algn="l">
              <a:lnSpc>
                <a:spcPts val="2499"/>
              </a:lnSpc>
            </a:pPr>
          </a:p>
        </p:txBody>
      </p:sp>
      <p:grpSp>
        <p:nvGrpSpPr>
          <p:cNvPr name="Group 13" id="13"/>
          <p:cNvGrpSpPr/>
          <p:nvPr/>
        </p:nvGrpSpPr>
        <p:grpSpPr>
          <a:xfrm rot="0">
            <a:off x="2123673" y="5572493"/>
            <a:ext cx="5436955" cy="3948169"/>
            <a:chOff x="0" y="0"/>
            <a:chExt cx="786125" cy="570863"/>
          </a:xfrm>
        </p:grpSpPr>
        <p:sp>
          <p:nvSpPr>
            <p:cNvPr name="Freeform 14" id="14"/>
            <p:cNvSpPr/>
            <p:nvPr/>
          </p:nvSpPr>
          <p:spPr>
            <a:xfrm flipH="false" flipV="false" rot="0">
              <a:off x="0" y="0"/>
              <a:ext cx="786125" cy="570863"/>
            </a:xfrm>
            <a:custGeom>
              <a:avLst/>
              <a:gdLst/>
              <a:ahLst/>
              <a:cxnLst/>
              <a:rect r="r" b="b" t="t" l="l"/>
              <a:pathLst>
                <a:path h="570863" w="786125">
                  <a:moveTo>
                    <a:pt x="74045" y="0"/>
                  </a:moveTo>
                  <a:lnTo>
                    <a:pt x="712080" y="0"/>
                  </a:lnTo>
                  <a:cubicBezTo>
                    <a:pt x="752974" y="0"/>
                    <a:pt x="786125" y="33151"/>
                    <a:pt x="786125" y="74045"/>
                  </a:cubicBezTo>
                  <a:lnTo>
                    <a:pt x="786125" y="496818"/>
                  </a:lnTo>
                  <a:cubicBezTo>
                    <a:pt x="786125" y="537712"/>
                    <a:pt x="752974" y="570863"/>
                    <a:pt x="712080" y="570863"/>
                  </a:cubicBezTo>
                  <a:lnTo>
                    <a:pt x="74045" y="570863"/>
                  </a:lnTo>
                  <a:cubicBezTo>
                    <a:pt x="33151" y="570863"/>
                    <a:pt x="0" y="537712"/>
                    <a:pt x="0" y="496818"/>
                  </a:cubicBezTo>
                  <a:lnTo>
                    <a:pt x="0" y="74045"/>
                  </a:lnTo>
                  <a:cubicBezTo>
                    <a:pt x="0" y="33151"/>
                    <a:pt x="33151" y="0"/>
                    <a:pt x="74045" y="0"/>
                  </a:cubicBezTo>
                  <a:close/>
                </a:path>
              </a:pathLst>
            </a:custGeom>
            <a:solidFill>
              <a:srgbClr val="9B836B">
                <a:alpha val="69804"/>
              </a:srgbClr>
            </a:solidFill>
          </p:spPr>
        </p:sp>
      </p:grpSp>
      <p:sp>
        <p:nvSpPr>
          <p:cNvPr name="TextBox 15" id="15"/>
          <p:cNvSpPr txBox="true"/>
          <p:nvPr/>
        </p:nvSpPr>
        <p:spPr>
          <a:xfrm rot="0">
            <a:off x="2261143" y="5800772"/>
            <a:ext cx="5231939" cy="4062095"/>
          </a:xfrm>
          <a:prstGeom prst="rect">
            <a:avLst/>
          </a:prstGeom>
        </p:spPr>
        <p:txBody>
          <a:bodyPr anchor="t" rtlCol="false" tIns="0" lIns="0" bIns="0" rIns="0">
            <a:spAutoFit/>
          </a:bodyPr>
          <a:lstStyle/>
          <a:p>
            <a:pPr algn="l">
              <a:lnSpc>
                <a:spcPts val="3640"/>
              </a:lnSpc>
            </a:pPr>
            <a:r>
              <a:rPr lang="en-US" sz="2600" b="true">
                <a:solidFill>
                  <a:srgbClr val="FFFFFF"/>
                </a:solidFill>
                <a:latin typeface="Poppins Bold"/>
                <a:ea typeface="Poppins Bold"/>
                <a:cs typeface="Poppins Bold"/>
                <a:sym typeface="Poppins Bold"/>
              </a:rPr>
              <a:t>3. Developers / Team Members</a:t>
            </a:r>
          </a:p>
          <a:p>
            <a:pPr algn="l" marL="496571" indent="-248285" lvl="1">
              <a:lnSpc>
                <a:spcPts val="3220"/>
              </a:lnSpc>
              <a:buFont typeface="Arial"/>
              <a:buChar char="•"/>
            </a:pPr>
            <a:r>
              <a:rPr lang="en-US" sz="2300">
                <a:solidFill>
                  <a:srgbClr val="FFFFFF"/>
                </a:solidFill>
                <a:latin typeface="Poppins"/>
                <a:ea typeface="Poppins"/>
                <a:cs typeface="Poppins"/>
                <a:sym typeface="Poppins"/>
              </a:rPr>
              <a:t>Role: Design and implement the system</a:t>
            </a:r>
          </a:p>
          <a:p>
            <a:pPr algn="l" marL="496571" indent="-248285" lvl="1">
              <a:lnSpc>
                <a:spcPts val="3220"/>
              </a:lnSpc>
              <a:buFont typeface="Arial"/>
              <a:buChar char="•"/>
            </a:pPr>
            <a:r>
              <a:rPr lang="en-US" sz="2300">
                <a:solidFill>
                  <a:srgbClr val="FFFFFF"/>
                </a:solidFill>
                <a:latin typeface="Poppins"/>
                <a:ea typeface="Poppins"/>
                <a:cs typeface="Poppins"/>
                <a:sym typeface="Poppins"/>
              </a:rPr>
              <a:t>Need: Clear modules and algorithms</a:t>
            </a:r>
          </a:p>
          <a:p>
            <a:pPr algn="l" marL="496571" indent="-248285" lvl="1">
              <a:lnSpc>
                <a:spcPts val="3220"/>
              </a:lnSpc>
              <a:buFont typeface="Arial"/>
              <a:buChar char="•"/>
            </a:pPr>
            <a:r>
              <a:rPr lang="en-US" sz="2300">
                <a:solidFill>
                  <a:srgbClr val="FFFFFF"/>
                </a:solidFill>
                <a:latin typeface="Poppins"/>
                <a:ea typeface="Poppins"/>
                <a:cs typeface="Poppins"/>
                <a:sym typeface="Poppins"/>
              </a:rPr>
              <a:t>Difficulty: Integrating DBMS, DAA and OSPP concepts</a:t>
            </a:r>
          </a:p>
          <a:p>
            <a:pPr algn="l" marL="496571" indent="-248285" lvl="1">
              <a:lnSpc>
                <a:spcPts val="3220"/>
              </a:lnSpc>
              <a:buFont typeface="Arial"/>
              <a:buChar char="•"/>
            </a:pPr>
            <a:r>
              <a:rPr lang="en-US" sz="2300">
                <a:solidFill>
                  <a:srgbClr val="FFFFFF"/>
                </a:solidFill>
                <a:latin typeface="Poppins"/>
                <a:ea typeface="Poppins"/>
                <a:cs typeface="Poppins"/>
                <a:sym typeface="Poppins"/>
              </a:rPr>
              <a:t>Expected Benefit: Practical development experience</a:t>
            </a:r>
          </a:p>
          <a:p>
            <a:pPr algn="l">
              <a:lnSpc>
                <a:spcPts val="3220"/>
              </a:lnSpc>
            </a:pPr>
          </a:p>
        </p:txBody>
      </p:sp>
      <p:grpSp>
        <p:nvGrpSpPr>
          <p:cNvPr name="Group 16" id="16"/>
          <p:cNvGrpSpPr/>
          <p:nvPr/>
        </p:nvGrpSpPr>
        <p:grpSpPr>
          <a:xfrm rot="0">
            <a:off x="9314498" y="5572493"/>
            <a:ext cx="5332792" cy="3948169"/>
            <a:chOff x="0" y="0"/>
            <a:chExt cx="771064" cy="570863"/>
          </a:xfrm>
        </p:grpSpPr>
        <p:sp>
          <p:nvSpPr>
            <p:cNvPr name="Freeform 17" id="17"/>
            <p:cNvSpPr/>
            <p:nvPr/>
          </p:nvSpPr>
          <p:spPr>
            <a:xfrm flipH="false" flipV="false" rot="0">
              <a:off x="0" y="0"/>
              <a:ext cx="771064" cy="570863"/>
            </a:xfrm>
            <a:custGeom>
              <a:avLst/>
              <a:gdLst/>
              <a:ahLst/>
              <a:cxnLst/>
              <a:rect r="r" b="b" t="t" l="l"/>
              <a:pathLst>
                <a:path h="570863" w="771064">
                  <a:moveTo>
                    <a:pt x="75491" y="0"/>
                  </a:moveTo>
                  <a:lnTo>
                    <a:pt x="695573" y="0"/>
                  </a:lnTo>
                  <a:cubicBezTo>
                    <a:pt x="715595" y="0"/>
                    <a:pt x="734796" y="7954"/>
                    <a:pt x="748953" y="22111"/>
                  </a:cubicBezTo>
                  <a:cubicBezTo>
                    <a:pt x="763111" y="36268"/>
                    <a:pt x="771064" y="55470"/>
                    <a:pt x="771064" y="75491"/>
                  </a:cubicBezTo>
                  <a:lnTo>
                    <a:pt x="771064" y="495371"/>
                  </a:lnTo>
                  <a:cubicBezTo>
                    <a:pt x="771064" y="515393"/>
                    <a:pt x="763111" y="534595"/>
                    <a:pt x="748953" y="548752"/>
                  </a:cubicBezTo>
                  <a:cubicBezTo>
                    <a:pt x="734796" y="562909"/>
                    <a:pt x="715595" y="570863"/>
                    <a:pt x="695573" y="570863"/>
                  </a:cubicBezTo>
                  <a:lnTo>
                    <a:pt x="75491" y="570863"/>
                  </a:lnTo>
                  <a:cubicBezTo>
                    <a:pt x="55470" y="570863"/>
                    <a:pt x="36268" y="562909"/>
                    <a:pt x="22111" y="548752"/>
                  </a:cubicBezTo>
                  <a:cubicBezTo>
                    <a:pt x="7954" y="534595"/>
                    <a:pt x="0" y="515393"/>
                    <a:pt x="0" y="495371"/>
                  </a:cubicBezTo>
                  <a:lnTo>
                    <a:pt x="0" y="75491"/>
                  </a:lnTo>
                  <a:cubicBezTo>
                    <a:pt x="0" y="55470"/>
                    <a:pt x="7954" y="36268"/>
                    <a:pt x="22111" y="22111"/>
                  </a:cubicBezTo>
                  <a:cubicBezTo>
                    <a:pt x="36268" y="7954"/>
                    <a:pt x="55470" y="0"/>
                    <a:pt x="75491" y="0"/>
                  </a:cubicBezTo>
                  <a:close/>
                </a:path>
              </a:pathLst>
            </a:custGeom>
            <a:solidFill>
              <a:srgbClr val="633100">
                <a:alpha val="41961"/>
              </a:srgbClr>
            </a:solidFill>
          </p:spPr>
        </p:sp>
      </p:grpSp>
      <p:sp>
        <p:nvSpPr>
          <p:cNvPr name="TextBox 18" id="18"/>
          <p:cNvSpPr txBox="true"/>
          <p:nvPr/>
        </p:nvSpPr>
        <p:spPr>
          <a:xfrm rot="0">
            <a:off x="9523200" y="5800772"/>
            <a:ext cx="5683694" cy="4062095"/>
          </a:xfrm>
          <a:prstGeom prst="rect">
            <a:avLst/>
          </a:prstGeom>
        </p:spPr>
        <p:txBody>
          <a:bodyPr anchor="t" rtlCol="false" tIns="0" lIns="0" bIns="0" rIns="0">
            <a:spAutoFit/>
          </a:bodyPr>
          <a:lstStyle/>
          <a:p>
            <a:pPr algn="l">
              <a:lnSpc>
                <a:spcPts val="3640"/>
              </a:lnSpc>
            </a:pPr>
            <a:r>
              <a:rPr lang="en-US" sz="2600" b="true">
                <a:solidFill>
                  <a:srgbClr val="FFFFFF"/>
                </a:solidFill>
                <a:latin typeface="Poppins Bold"/>
                <a:ea typeface="Poppins Bold"/>
                <a:cs typeface="Poppins Bold"/>
                <a:sym typeface="Poppins Bold"/>
              </a:rPr>
              <a:t>4. System Administrator</a:t>
            </a:r>
          </a:p>
          <a:p>
            <a:pPr algn="l" marL="496571" indent="-248285" lvl="1">
              <a:lnSpc>
                <a:spcPts val="3220"/>
              </a:lnSpc>
              <a:buFont typeface="Arial"/>
              <a:buChar char="•"/>
            </a:pPr>
            <a:r>
              <a:rPr lang="en-US" sz="2300">
                <a:solidFill>
                  <a:srgbClr val="FFFFFF"/>
                </a:solidFill>
                <a:latin typeface="Poppins"/>
                <a:ea typeface="Poppins"/>
                <a:cs typeface="Poppins"/>
                <a:sym typeface="Poppins"/>
              </a:rPr>
              <a:t>Role: Manage data and system operations</a:t>
            </a:r>
          </a:p>
          <a:p>
            <a:pPr algn="l" marL="496571" indent="-248285" lvl="1">
              <a:lnSpc>
                <a:spcPts val="3220"/>
              </a:lnSpc>
              <a:buFont typeface="Arial"/>
              <a:buChar char="•"/>
            </a:pPr>
            <a:r>
              <a:rPr lang="en-US" sz="2300">
                <a:solidFill>
                  <a:srgbClr val="FFFFFF"/>
                </a:solidFill>
                <a:latin typeface="Poppins"/>
                <a:ea typeface="Poppins"/>
                <a:cs typeface="Poppins"/>
                <a:sym typeface="Poppins"/>
              </a:rPr>
              <a:t>Need: Reliable storage and transactions</a:t>
            </a:r>
          </a:p>
          <a:p>
            <a:pPr algn="l" marL="496571" indent="-248285" lvl="1">
              <a:lnSpc>
                <a:spcPts val="3220"/>
              </a:lnSpc>
              <a:buFont typeface="Arial"/>
              <a:buChar char="•"/>
            </a:pPr>
            <a:r>
              <a:rPr lang="en-US" sz="2300">
                <a:solidFill>
                  <a:srgbClr val="FFFFFF"/>
                </a:solidFill>
                <a:latin typeface="Poppins"/>
                <a:ea typeface="Poppins"/>
                <a:cs typeface="Poppins"/>
                <a:sym typeface="Poppins"/>
              </a:rPr>
              <a:t>Difficulty: Maintaining data consistency</a:t>
            </a:r>
          </a:p>
          <a:p>
            <a:pPr algn="l" marL="496571" indent="-248285" lvl="1">
              <a:lnSpc>
                <a:spcPts val="3220"/>
              </a:lnSpc>
              <a:buFont typeface="Arial"/>
              <a:buChar char="•"/>
            </a:pPr>
            <a:r>
              <a:rPr lang="en-US" sz="2300">
                <a:solidFill>
                  <a:srgbClr val="FFFFFF"/>
                </a:solidFill>
                <a:latin typeface="Poppins"/>
                <a:ea typeface="Poppins"/>
                <a:cs typeface="Poppins"/>
                <a:sym typeface="Poppins"/>
              </a:rPr>
              <a:t>Expected Benefit: Better data management and reliability</a:t>
            </a:r>
          </a:p>
          <a:p>
            <a:pPr algn="l">
              <a:lnSpc>
                <a:spcPts val="3220"/>
              </a:lnSpc>
            </a:pPr>
          </a:p>
        </p:txBody>
      </p:sp>
      <p:sp>
        <p:nvSpPr>
          <p:cNvPr name="TextBox 19" id="19"/>
          <p:cNvSpPr txBox="true"/>
          <p:nvPr/>
        </p:nvSpPr>
        <p:spPr>
          <a:xfrm rot="0">
            <a:off x="1410681" y="-165254"/>
            <a:ext cx="6932862" cy="1300047"/>
          </a:xfrm>
          <a:prstGeom prst="rect">
            <a:avLst/>
          </a:prstGeom>
        </p:spPr>
        <p:txBody>
          <a:bodyPr anchor="t" rtlCol="false" tIns="0" lIns="0" bIns="0" rIns="0">
            <a:spAutoFit/>
          </a:bodyPr>
          <a:lstStyle/>
          <a:p>
            <a:pPr algn="ctr">
              <a:lnSpc>
                <a:spcPts val="9100"/>
              </a:lnSpc>
            </a:pPr>
            <a:r>
              <a:rPr lang="en-US" sz="6500" b="true">
                <a:solidFill>
                  <a:srgbClr val="FFFFFF"/>
                </a:solidFill>
                <a:latin typeface="Agrandir Bold"/>
                <a:ea typeface="Agrandir Bold"/>
                <a:cs typeface="Agrandir Bold"/>
                <a:sym typeface="Agrandir Bold"/>
              </a:rPr>
              <a:t>Who</a:t>
            </a:r>
            <a:r>
              <a:rPr lang="en-US" b="true" sz="6500">
                <a:solidFill>
                  <a:srgbClr val="FFFFFF"/>
                </a:solidFill>
                <a:latin typeface="Agrandir Bold"/>
                <a:ea typeface="Agrandir Bold"/>
                <a:cs typeface="Agrandir Bold"/>
                <a:sym typeface="Agrandir Bold"/>
              </a:rPr>
              <a:t> Is Involved ?</a:t>
            </a:r>
          </a:p>
        </p:txBody>
      </p:sp>
      <p:sp>
        <p:nvSpPr>
          <p:cNvPr name="Freeform 20" id="20"/>
          <p:cNvSpPr/>
          <p:nvPr/>
        </p:nvSpPr>
        <p:spPr>
          <a:xfrm flipH="false" flipV="false" rot="0">
            <a:off x="15373539" y="3007218"/>
            <a:ext cx="4516343" cy="3046479"/>
          </a:xfrm>
          <a:custGeom>
            <a:avLst/>
            <a:gdLst/>
            <a:ahLst/>
            <a:cxnLst/>
            <a:rect r="r" b="b" t="t" l="l"/>
            <a:pathLst>
              <a:path h="3046479" w="4516343">
                <a:moveTo>
                  <a:pt x="0" y="0"/>
                </a:moveTo>
                <a:lnTo>
                  <a:pt x="4516343" y="0"/>
                </a:lnTo>
                <a:lnTo>
                  <a:pt x="4516343" y="3046479"/>
                </a:lnTo>
                <a:lnTo>
                  <a:pt x="0" y="3046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21055" y="8763761"/>
            <a:ext cx="4516343" cy="3046479"/>
          </a:xfrm>
          <a:custGeom>
            <a:avLst/>
            <a:gdLst/>
            <a:ahLst/>
            <a:cxnLst/>
            <a:rect r="r" b="b" t="t" l="l"/>
            <a:pathLst>
              <a:path h="3046479" w="4516343">
                <a:moveTo>
                  <a:pt x="0" y="0"/>
                </a:moveTo>
                <a:lnTo>
                  <a:pt x="4516343" y="0"/>
                </a:lnTo>
                <a:lnTo>
                  <a:pt x="4516343" y="3046478"/>
                </a:lnTo>
                <a:lnTo>
                  <a:pt x="0" y="30464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501" y="8819984"/>
            <a:ext cx="2537618" cy="876632"/>
          </a:xfrm>
          <a:custGeom>
            <a:avLst/>
            <a:gdLst/>
            <a:ahLst/>
            <a:cxnLst/>
            <a:rect r="r" b="b" t="t" l="l"/>
            <a:pathLst>
              <a:path h="876632" w="2537618">
                <a:moveTo>
                  <a:pt x="0" y="0"/>
                </a:moveTo>
                <a:lnTo>
                  <a:pt x="2537618" y="0"/>
                </a:lnTo>
                <a:lnTo>
                  <a:pt x="2537618" y="876632"/>
                </a:lnTo>
                <a:lnTo>
                  <a:pt x="0" y="876632"/>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9406">
            <a:off x="-1392193" y="-2724063"/>
            <a:ext cx="2590371" cy="13348015"/>
            <a:chOff x="0" y="0"/>
            <a:chExt cx="682238" cy="3515526"/>
          </a:xfrm>
        </p:grpSpPr>
        <p:sp>
          <p:nvSpPr>
            <p:cNvPr name="Freeform 4" id="4"/>
            <p:cNvSpPr/>
            <p:nvPr/>
          </p:nvSpPr>
          <p:spPr>
            <a:xfrm flipH="false" flipV="false" rot="0">
              <a:off x="0" y="0"/>
              <a:ext cx="682238" cy="3515527"/>
            </a:xfrm>
            <a:custGeom>
              <a:avLst/>
              <a:gdLst/>
              <a:ahLst/>
              <a:cxnLst/>
              <a:rect r="r" b="b" t="t" l="l"/>
              <a:pathLst>
                <a:path h="3515527" w="682238">
                  <a:moveTo>
                    <a:pt x="0" y="0"/>
                  </a:moveTo>
                  <a:lnTo>
                    <a:pt x="682238" y="0"/>
                  </a:lnTo>
                  <a:lnTo>
                    <a:pt x="682238" y="3515527"/>
                  </a:lnTo>
                  <a:lnTo>
                    <a:pt x="0" y="3515527"/>
                  </a:lnTo>
                  <a:close/>
                </a:path>
              </a:pathLst>
            </a:custGeom>
            <a:solidFill>
              <a:srgbClr val="112041">
                <a:alpha val="76863"/>
              </a:srgbClr>
            </a:solidFill>
          </p:spPr>
        </p:sp>
        <p:sp>
          <p:nvSpPr>
            <p:cNvPr name="TextBox 5" id="5"/>
            <p:cNvSpPr txBox="true"/>
            <p:nvPr/>
          </p:nvSpPr>
          <p:spPr>
            <a:xfrm>
              <a:off x="0" y="-85725"/>
              <a:ext cx="682238" cy="3601251"/>
            </a:xfrm>
            <a:prstGeom prst="rect">
              <a:avLst/>
            </a:prstGeom>
          </p:spPr>
          <p:txBody>
            <a:bodyPr anchor="ctr" rtlCol="false" tIns="50800" lIns="50800" bIns="50800" rIns="50800"/>
            <a:lstStyle/>
            <a:p>
              <a:pPr algn="ctr">
                <a:lnSpc>
                  <a:spcPts val="2239"/>
                </a:lnSpc>
              </a:pPr>
            </a:p>
          </p:txBody>
        </p:sp>
      </p:grpSp>
      <p:sp>
        <p:nvSpPr>
          <p:cNvPr name="Freeform 6" id="6"/>
          <p:cNvSpPr/>
          <p:nvPr/>
        </p:nvSpPr>
        <p:spPr>
          <a:xfrm flipH="false" flipV="false" rot="0">
            <a:off x="16331580" y="352376"/>
            <a:ext cx="2174549" cy="751208"/>
          </a:xfrm>
          <a:custGeom>
            <a:avLst/>
            <a:gdLst/>
            <a:ahLst/>
            <a:cxnLst/>
            <a:rect r="r" b="b" t="t" l="l"/>
            <a:pathLst>
              <a:path h="751208" w="2174549">
                <a:moveTo>
                  <a:pt x="0" y="0"/>
                </a:moveTo>
                <a:lnTo>
                  <a:pt x="2174549" y="0"/>
                </a:lnTo>
                <a:lnTo>
                  <a:pt x="2174549" y="751208"/>
                </a:lnTo>
                <a:lnTo>
                  <a:pt x="0" y="751208"/>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331580" y="5404272"/>
            <a:ext cx="804589" cy="804589"/>
          </a:xfrm>
          <a:custGeom>
            <a:avLst/>
            <a:gdLst/>
            <a:ahLst/>
            <a:cxnLst/>
            <a:rect r="r" b="b" t="t" l="l"/>
            <a:pathLst>
              <a:path h="804589" w="804589">
                <a:moveTo>
                  <a:pt x="0" y="0"/>
                </a:moveTo>
                <a:lnTo>
                  <a:pt x="804589" y="0"/>
                </a:lnTo>
                <a:lnTo>
                  <a:pt x="804589" y="804588"/>
                </a:lnTo>
                <a:lnTo>
                  <a:pt x="0" y="804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0870506" y="-254044"/>
            <a:ext cx="447626" cy="765214"/>
          </a:xfrm>
          <a:custGeom>
            <a:avLst/>
            <a:gdLst/>
            <a:ahLst/>
            <a:cxnLst/>
            <a:rect r="r" b="b" t="t" l="l"/>
            <a:pathLst>
              <a:path h="765214" w="447626">
                <a:moveTo>
                  <a:pt x="0" y="0"/>
                </a:moveTo>
                <a:lnTo>
                  <a:pt x="447626" y="0"/>
                </a:lnTo>
                <a:lnTo>
                  <a:pt x="447626" y="765214"/>
                </a:lnTo>
                <a:lnTo>
                  <a:pt x="0" y="765214"/>
                </a:lnTo>
                <a:lnTo>
                  <a:pt x="0" y="0"/>
                </a:lnTo>
                <a:close/>
              </a:path>
            </a:pathLst>
          </a:custGeom>
          <a:blipFill>
            <a:blip r:embed="rId6">
              <a:extLst>
                <a:ext uri="{96DAC541-7B7A-43D3-8B79-37D633B846F1}">
                  <asvg:svgBlip xmlns:asvg="http://schemas.microsoft.com/office/drawing/2016/SVG/main" r:embed="rId7"/>
                </a:ext>
              </a:extLst>
            </a:blip>
            <a:stretch>
              <a:fillRect l="0" t="-54452" r="0" b="0"/>
            </a:stretch>
          </a:blipFill>
        </p:spPr>
      </p:sp>
      <p:sp>
        <p:nvSpPr>
          <p:cNvPr name="Freeform 9" id="9"/>
          <p:cNvSpPr/>
          <p:nvPr/>
        </p:nvSpPr>
        <p:spPr>
          <a:xfrm flipH="false" flipV="false" rot="-5400000">
            <a:off x="12790856" y="1854045"/>
            <a:ext cx="447626" cy="765214"/>
          </a:xfrm>
          <a:custGeom>
            <a:avLst/>
            <a:gdLst/>
            <a:ahLst/>
            <a:cxnLst/>
            <a:rect r="r" b="b" t="t" l="l"/>
            <a:pathLst>
              <a:path h="765214" w="447626">
                <a:moveTo>
                  <a:pt x="0" y="0"/>
                </a:moveTo>
                <a:lnTo>
                  <a:pt x="447626" y="0"/>
                </a:lnTo>
                <a:lnTo>
                  <a:pt x="447626" y="765213"/>
                </a:lnTo>
                <a:lnTo>
                  <a:pt x="0" y="765213"/>
                </a:lnTo>
                <a:lnTo>
                  <a:pt x="0" y="0"/>
                </a:lnTo>
                <a:close/>
              </a:path>
            </a:pathLst>
          </a:custGeom>
          <a:blipFill>
            <a:blip r:embed="rId6">
              <a:extLst>
                <a:ext uri="{96DAC541-7B7A-43D3-8B79-37D633B846F1}">
                  <asvg:svgBlip xmlns:asvg="http://schemas.microsoft.com/office/drawing/2016/SVG/main" r:embed="rId7"/>
                </a:ext>
              </a:extLst>
            </a:blip>
            <a:stretch>
              <a:fillRect l="0" t="-54452" r="0" b="0"/>
            </a:stretch>
          </a:blipFill>
        </p:spPr>
      </p:sp>
      <p:grpSp>
        <p:nvGrpSpPr>
          <p:cNvPr name="Group 10" id="10"/>
          <p:cNvGrpSpPr/>
          <p:nvPr/>
        </p:nvGrpSpPr>
        <p:grpSpPr>
          <a:xfrm rot="0">
            <a:off x="2197183" y="2670817"/>
            <a:ext cx="5436955" cy="2733455"/>
            <a:chOff x="0" y="0"/>
            <a:chExt cx="786125" cy="395228"/>
          </a:xfrm>
        </p:grpSpPr>
        <p:sp>
          <p:nvSpPr>
            <p:cNvPr name="Freeform 11" id="11"/>
            <p:cNvSpPr/>
            <p:nvPr/>
          </p:nvSpPr>
          <p:spPr>
            <a:xfrm flipH="false" flipV="false" rot="0">
              <a:off x="0" y="0"/>
              <a:ext cx="786125" cy="395228"/>
            </a:xfrm>
            <a:custGeom>
              <a:avLst/>
              <a:gdLst/>
              <a:ahLst/>
              <a:cxnLst/>
              <a:rect r="r" b="b" t="t" l="l"/>
              <a:pathLst>
                <a:path h="395228" w="786125">
                  <a:moveTo>
                    <a:pt x="74045" y="0"/>
                  </a:moveTo>
                  <a:lnTo>
                    <a:pt x="712080" y="0"/>
                  </a:lnTo>
                  <a:cubicBezTo>
                    <a:pt x="752974" y="0"/>
                    <a:pt x="786125" y="33151"/>
                    <a:pt x="786125" y="74045"/>
                  </a:cubicBezTo>
                  <a:lnTo>
                    <a:pt x="786125" y="321183"/>
                  </a:lnTo>
                  <a:cubicBezTo>
                    <a:pt x="786125" y="362077"/>
                    <a:pt x="752974" y="395228"/>
                    <a:pt x="712080" y="395228"/>
                  </a:cubicBezTo>
                  <a:lnTo>
                    <a:pt x="74045" y="395228"/>
                  </a:lnTo>
                  <a:cubicBezTo>
                    <a:pt x="33151" y="395228"/>
                    <a:pt x="0" y="362077"/>
                    <a:pt x="0" y="321183"/>
                  </a:cubicBezTo>
                  <a:lnTo>
                    <a:pt x="0" y="74045"/>
                  </a:lnTo>
                  <a:cubicBezTo>
                    <a:pt x="0" y="33151"/>
                    <a:pt x="33151" y="0"/>
                    <a:pt x="74045" y="0"/>
                  </a:cubicBezTo>
                  <a:close/>
                </a:path>
              </a:pathLst>
            </a:custGeom>
            <a:solidFill>
              <a:srgbClr val="CDD4D8">
                <a:alpha val="69804"/>
              </a:srgbClr>
            </a:solidFill>
          </p:spPr>
        </p:sp>
      </p:grpSp>
      <p:grpSp>
        <p:nvGrpSpPr>
          <p:cNvPr name="Group 12" id="12"/>
          <p:cNvGrpSpPr/>
          <p:nvPr/>
        </p:nvGrpSpPr>
        <p:grpSpPr>
          <a:xfrm rot="0">
            <a:off x="2197429" y="5518572"/>
            <a:ext cx="5436955" cy="1823468"/>
            <a:chOff x="0" y="0"/>
            <a:chExt cx="786125" cy="263654"/>
          </a:xfrm>
        </p:grpSpPr>
        <p:sp>
          <p:nvSpPr>
            <p:cNvPr name="Freeform 13" id="13"/>
            <p:cNvSpPr/>
            <p:nvPr/>
          </p:nvSpPr>
          <p:spPr>
            <a:xfrm flipH="false" flipV="false" rot="0">
              <a:off x="0" y="0"/>
              <a:ext cx="786125" cy="263654"/>
            </a:xfrm>
            <a:custGeom>
              <a:avLst/>
              <a:gdLst/>
              <a:ahLst/>
              <a:cxnLst/>
              <a:rect r="r" b="b" t="t" l="l"/>
              <a:pathLst>
                <a:path h="263654" w="786125">
                  <a:moveTo>
                    <a:pt x="46990" y="0"/>
                  </a:moveTo>
                  <a:lnTo>
                    <a:pt x="739135" y="0"/>
                  </a:lnTo>
                  <a:cubicBezTo>
                    <a:pt x="751598" y="0"/>
                    <a:pt x="763550" y="4951"/>
                    <a:pt x="772362" y="13763"/>
                  </a:cubicBezTo>
                  <a:cubicBezTo>
                    <a:pt x="781174" y="22575"/>
                    <a:pt x="786125" y="34528"/>
                    <a:pt x="786125" y="46990"/>
                  </a:cubicBezTo>
                  <a:lnTo>
                    <a:pt x="786125" y="216664"/>
                  </a:lnTo>
                  <a:cubicBezTo>
                    <a:pt x="786125" y="242616"/>
                    <a:pt x="765087" y="263654"/>
                    <a:pt x="739135" y="263654"/>
                  </a:cubicBezTo>
                  <a:lnTo>
                    <a:pt x="46990" y="263654"/>
                  </a:lnTo>
                  <a:cubicBezTo>
                    <a:pt x="21038" y="263654"/>
                    <a:pt x="0" y="242616"/>
                    <a:pt x="0" y="216664"/>
                  </a:cubicBezTo>
                  <a:lnTo>
                    <a:pt x="0" y="46990"/>
                  </a:lnTo>
                  <a:cubicBezTo>
                    <a:pt x="0" y="21038"/>
                    <a:pt x="21038" y="0"/>
                    <a:pt x="46990" y="0"/>
                  </a:cubicBezTo>
                  <a:close/>
                </a:path>
              </a:pathLst>
            </a:custGeom>
            <a:solidFill>
              <a:srgbClr val="BAC8DA">
                <a:alpha val="69804"/>
              </a:srgbClr>
            </a:solidFill>
          </p:spPr>
        </p:sp>
      </p:grpSp>
      <p:grpSp>
        <p:nvGrpSpPr>
          <p:cNvPr name="Group 14" id="14"/>
          <p:cNvGrpSpPr/>
          <p:nvPr/>
        </p:nvGrpSpPr>
        <p:grpSpPr>
          <a:xfrm rot="0">
            <a:off x="2197429" y="1528529"/>
            <a:ext cx="7231363" cy="5813511"/>
            <a:chOff x="0" y="0"/>
            <a:chExt cx="9641818" cy="7751347"/>
          </a:xfrm>
        </p:grpSpPr>
        <p:sp>
          <p:nvSpPr>
            <p:cNvPr name="AutoShape 15" id="15"/>
            <p:cNvSpPr/>
            <p:nvPr/>
          </p:nvSpPr>
          <p:spPr>
            <a:xfrm flipV="true">
              <a:off x="9612330" y="2895375"/>
              <a:ext cx="0" cy="2394525"/>
            </a:xfrm>
            <a:prstGeom prst="line">
              <a:avLst/>
            </a:prstGeom>
            <a:ln cap="rnd" w="58975">
              <a:solidFill>
                <a:srgbClr val="1A2A49"/>
              </a:solidFill>
              <a:prstDash val="solid"/>
              <a:headEnd type="oval" len="lg" w="lg"/>
              <a:tailEnd type="none" len="sm" w="sm"/>
            </a:ln>
          </p:spPr>
        </p:sp>
        <p:sp>
          <p:nvSpPr>
            <p:cNvPr name="AutoShape 16" id="16"/>
            <p:cNvSpPr/>
            <p:nvPr/>
          </p:nvSpPr>
          <p:spPr>
            <a:xfrm flipH="true" flipV="true">
              <a:off x="9612330" y="5233122"/>
              <a:ext cx="0" cy="2518225"/>
            </a:xfrm>
            <a:prstGeom prst="line">
              <a:avLst/>
            </a:prstGeom>
            <a:ln cap="rnd" w="58975">
              <a:solidFill>
                <a:srgbClr val="1A2A49"/>
              </a:solidFill>
              <a:prstDash val="solid"/>
              <a:headEnd type="oval" len="lg" w="lg"/>
              <a:tailEnd type="none" len="sm" w="sm"/>
            </a:ln>
          </p:spPr>
        </p:sp>
        <p:sp>
          <p:nvSpPr>
            <p:cNvPr name="TextBox 17" id="17"/>
            <p:cNvSpPr txBox="true"/>
            <p:nvPr/>
          </p:nvSpPr>
          <p:spPr>
            <a:xfrm rot="0">
              <a:off x="17197" y="76200"/>
              <a:ext cx="7254954" cy="1113950"/>
            </a:xfrm>
            <a:prstGeom prst="rect">
              <a:avLst/>
            </a:prstGeom>
          </p:spPr>
          <p:txBody>
            <a:bodyPr anchor="t" rtlCol="false" tIns="0" lIns="0" bIns="0" rIns="0">
              <a:spAutoFit/>
            </a:bodyPr>
            <a:lstStyle/>
            <a:p>
              <a:pPr algn="ctr">
                <a:lnSpc>
                  <a:spcPts val="3131"/>
                </a:lnSpc>
              </a:pPr>
              <a:r>
                <a:rPr lang="en-US" b="true" sz="3296" spc="-82">
                  <a:solidFill>
                    <a:srgbClr val="0B0A0A"/>
                  </a:solidFill>
                  <a:latin typeface="Montserrat Bold"/>
                  <a:ea typeface="Montserrat Bold"/>
                  <a:cs typeface="Montserrat Bold"/>
                  <a:sym typeface="Montserrat Bold"/>
                </a:rPr>
                <a:t>Current Process</a:t>
              </a:r>
            </a:p>
            <a:p>
              <a:pPr algn="ctr">
                <a:lnSpc>
                  <a:spcPts val="3131"/>
                </a:lnSpc>
              </a:pPr>
            </a:p>
          </p:txBody>
        </p:sp>
        <p:sp>
          <p:nvSpPr>
            <p:cNvPr name="TextBox 18" id="18"/>
            <p:cNvSpPr txBox="true"/>
            <p:nvPr/>
          </p:nvSpPr>
          <p:spPr>
            <a:xfrm rot="0">
              <a:off x="17197" y="1531501"/>
              <a:ext cx="6690152" cy="3579459"/>
            </a:xfrm>
            <a:prstGeom prst="rect">
              <a:avLst/>
            </a:prstGeom>
          </p:spPr>
          <p:txBody>
            <a:bodyPr anchor="t" rtlCol="false" tIns="0" lIns="0" bIns="0" rIns="0">
              <a:spAutoFit/>
            </a:bodyPr>
            <a:lstStyle/>
            <a:p>
              <a:pPr algn="ctr">
                <a:lnSpc>
                  <a:spcPts val="2348"/>
                </a:lnSpc>
              </a:pPr>
              <a:r>
                <a:rPr lang="en-US" sz="2135" spc="170">
                  <a:solidFill>
                    <a:srgbClr val="000000"/>
                  </a:solidFill>
                  <a:latin typeface="Poppins"/>
                  <a:ea typeface="Poppins"/>
                  <a:cs typeface="Poppins"/>
                  <a:sym typeface="Poppins"/>
                </a:rPr>
                <a:t>Student</a:t>
              </a:r>
              <a:r>
                <a:rPr lang="en-US" sz="2135" spc="170">
                  <a:solidFill>
                    <a:srgbClr val="000000"/>
                  </a:solidFill>
                  <a:latin typeface="Poppins"/>
                  <a:ea typeface="Poppins"/>
                  <a:cs typeface="Poppins"/>
                  <a:sym typeface="Poppins"/>
                </a:rPr>
                <a:t>s and developers needing structured data storage today take one of two paths: A)install a full production RDBMS (MySQL, PostgreSQL) and use it purely as a black box, or B)roll ad-hoc storage in code using flat files or in-memory lists.</a:t>
              </a:r>
            </a:p>
          </p:txBody>
        </p:sp>
        <p:sp>
          <p:nvSpPr>
            <p:cNvPr name="TextBox 19" id="19"/>
            <p:cNvSpPr txBox="true"/>
            <p:nvPr/>
          </p:nvSpPr>
          <p:spPr>
            <a:xfrm rot="0">
              <a:off x="0" y="5452312"/>
              <a:ext cx="7220559" cy="2120915"/>
            </a:xfrm>
            <a:prstGeom prst="rect">
              <a:avLst/>
            </a:prstGeom>
          </p:spPr>
          <p:txBody>
            <a:bodyPr anchor="t" rtlCol="false" tIns="0" lIns="0" bIns="0" rIns="0">
              <a:spAutoFit/>
            </a:bodyPr>
            <a:lstStyle/>
            <a:p>
              <a:pPr algn="ctr">
                <a:lnSpc>
                  <a:spcPts val="2137"/>
                </a:lnSpc>
              </a:pPr>
              <a:r>
                <a:rPr lang="en-US" sz="1943" spc="155">
                  <a:solidFill>
                    <a:srgbClr val="000000"/>
                  </a:solidFill>
                  <a:latin typeface="Poppins"/>
                  <a:ea typeface="Poppins"/>
                  <a:cs typeface="Poppins"/>
                  <a:sym typeface="Poppins"/>
                </a:rPr>
                <a:t>IN BOTH THE</a:t>
              </a:r>
              <a:r>
                <a:rPr lang="en-US" sz="1943" spc="155">
                  <a:solidFill>
                    <a:srgbClr val="000000"/>
                  </a:solidFill>
                  <a:latin typeface="Poppins"/>
                  <a:ea typeface="Poppins"/>
                  <a:cs typeface="Poppins"/>
                  <a:sym typeface="Poppins"/>
                </a:rPr>
                <a:t> CASES, THE INTERNAL MECHANICS LIKE PARSING, QUERY EXECUTION, TRANSACTION HANDLING WILL STAY INVISIBLE. SQL IS LEARNED AS A SYNTAX TO TYPE NOT A PROCESS TO UNDERSTAND. </a:t>
              </a:r>
            </a:p>
          </p:txBody>
        </p:sp>
      </p:grpSp>
      <p:sp>
        <p:nvSpPr>
          <p:cNvPr name="Freeform 20" id="20"/>
          <p:cNvSpPr/>
          <p:nvPr/>
        </p:nvSpPr>
        <p:spPr>
          <a:xfrm flipH="false" flipV="false" rot="0">
            <a:off x="8134125" y="2236652"/>
            <a:ext cx="9573959" cy="6745493"/>
          </a:xfrm>
          <a:custGeom>
            <a:avLst/>
            <a:gdLst/>
            <a:ahLst/>
            <a:cxnLst/>
            <a:rect r="r" b="b" t="t" l="l"/>
            <a:pathLst>
              <a:path h="6745493" w="9573959">
                <a:moveTo>
                  <a:pt x="0" y="0"/>
                </a:moveTo>
                <a:lnTo>
                  <a:pt x="9573958" y="0"/>
                </a:lnTo>
                <a:lnTo>
                  <a:pt x="9573958" y="6745493"/>
                </a:lnTo>
                <a:lnTo>
                  <a:pt x="0" y="6745493"/>
                </a:lnTo>
                <a:lnTo>
                  <a:pt x="0" y="0"/>
                </a:lnTo>
                <a:close/>
              </a:path>
            </a:pathLst>
          </a:custGeom>
          <a:blipFill>
            <a:blip r:embed="rId8"/>
            <a:stretch>
              <a:fillRect l="-2674" t="0" r="-3010" b="0"/>
            </a:stretch>
          </a:blipFill>
        </p:spPr>
      </p:sp>
      <p:sp>
        <p:nvSpPr>
          <p:cNvPr name="TextBox 21" id="21"/>
          <p:cNvSpPr txBox="true"/>
          <p:nvPr/>
        </p:nvSpPr>
        <p:spPr>
          <a:xfrm rot="0">
            <a:off x="2017117" y="-304800"/>
            <a:ext cx="8129135" cy="1295751"/>
          </a:xfrm>
          <a:prstGeom prst="rect">
            <a:avLst/>
          </a:prstGeom>
        </p:spPr>
        <p:txBody>
          <a:bodyPr anchor="t" rtlCol="false" tIns="0" lIns="0" bIns="0" rIns="0">
            <a:spAutoFit/>
          </a:bodyPr>
          <a:lstStyle/>
          <a:p>
            <a:pPr algn="ctr" marL="0" indent="0" lvl="0">
              <a:lnSpc>
                <a:spcPts val="9151"/>
              </a:lnSpc>
              <a:spcBef>
                <a:spcPct val="0"/>
              </a:spcBef>
            </a:pPr>
            <a:r>
              <a:rPr lang="en-US" b="true" sz="6536">
                <a:solidFill>
                  <a:srgbClr val="0B0A0A"/>
                </a:solidFill>
                <a:latin typeface="Agrandir Bold"/>
                <a:ea typeface="Agrandir Bold"/>
                <a:cs typeface="Agrandir Bold"/>
                <a:sym typeface="Agrandir Bold"/>
              </a:rPr>
              <a:t>How it works today </a:t>
            </a:r>
          </a:p>
        </p:txBody>
      </p:sp>
      <p:grpSp>
        <p:nvGrpSpPr>
          <p:cNvPr name="Group 22" id="22"/>
          <p:cNvGrpSpPr/>
          <p:nvPr/>
        </p:nvGrpSpPr>
        <p:grpSpPr>
          <a:xfrm rot="856110">
            <a:off x="17403540" y="4118360"/>
            <a:ext cx="2221852" cy="6832736"/>
            <a:chOff x="0" y="0"/>
            <a:chExt cx="585179" cy="1799568"/>
          </a:xfrm>
        </p:grpSpPr>
        <p:sp>
          <p:nvSpPr>
            <p:cNvPr name="Freeform 23" id="23"/>
            <p:cNvSpPr/>
            <p:nvPr/>
          </p:nvSpPr>
          <p:spPr>
            <a:xfrm flipH="false" flipV="false" rot="0">
              <a:off x="0" y="0"/>
              <a:ext cx="585179" cy="1799568"/>
            </a:xfrm>
            <a:custGeom>
              <a:avLst/>
              <a:gdLst/>
              <a:ahLst/>
              <a:cxnLst/>
              <a:rect r="r" b="b" t="t" l="l"/>
              <a:pathLst>
                <a:path h="1799568" w="585179">
                  <a:moveTo>
                    <a:pt x="0" y="0"/>
                  </a:moveTo>
                  <a:lnTo>
                    <a:pt x="585179" y="0"/>
                  </a:lnTo>
                  <a:lnTo>
                    <a:pt x="585179" y="1799568"/>
                  </a:lnTo>
                  <a:lnTo>
                    <a:pt x="0" y="1799568"/>
                  </a:lnTo>
                  <a:close/>
                </a:path>
              </a:pathLst>
            </a:custGeom>
            <a:solidFill>
              <a:srgbClr val="112041">
                <a:alpha val="76863"/>
              </a:srgbClr>
            </a:solidFill>
          </p:spPr>
        </p:sp>
        <p:sp>
          <p:nvSpPr>
            <p:cNvPr name="TextBox 24" id="24"/>
            <p:cNvSpPr txBox="true"/>
            <p:nvPr/>
          </p:nvSpPr>
          <p:spPr>
            <a:xfrm>
              <a:off x="0" y="-85725"/>
              <a:ext cx="585179" cy="1885293"/>
            </a:xfrm>
            <a:prstGeom prst="rect">
              <a:avLst/>
            </a:prstGeom>
          </p:spPr>
          <p:txBody>
            <a:bodyPr anchor="ctr" rtlCol="false" tIns="50800" lIns="50800" bIns="50800" rIns="50800"/>
            <a:lstStyle/>
            <a:p>
              <a:pPr algn="ctr">
                <a:lnSpc>
                  <a:spcPts val="2239"/>
                </a:lnSpc>
              </a:pPr>
            </a:p>
          </p:txBody>
        </p:sp>
      </p:grpSp>
      <p:sp>
        <p:nvSpPr>
          <p:cNvPr name="TextBox 25" id="25"/>
          <p:cNvSpPr txBox="true"/>
          <p:nvPr/>
        </p:nvSpPr>
        <p:spPr>
          <a:xfrm rot="0">
            <a:off x="10400342" y="1376129"/>
            <a:ext cx="5228654" cy="636710"/>
          </a:xfrm>
          <a:prstGeom prst="rect">
            <a:avLst/>
          </a:prstGeom>
        </p:spPr>
        <p:txBody>
          <a:bodyPr anchor="t" rtlCol="false" tIns="0" lIns="0" bIns="0" rIns="0">
            <a:spAutoFit/>
          </a:bodyPr>
          <a:lstStyle/>
          <a:p>
            <a:pPr algn="ctr">
              <a:lnSpc>
                <a:spcPts val="4540"/>
              </a:lnSpc>
              <a:spcBef>
                <a:spcPct val="0"/>
              </a:spcBef>
            </a:pPr>
            <a:r>
              <a:rPr lang="en-US" b="true" sz="3243">
                <a:solidFill>
                  <a:srgbClr val="000000"/>
                </a:solidFill>
                <a:latin typeface="Agrandir Bold"/>
                <a:ea typeface="Agrandir Bold"/>
                <a:cs typeface="Agrandir Bold"/>
                <a:sym typeface="Agrandir Bold"/>
              </a:rPr>
              <a:t>AS-IS Workflow</a:t>
            </a:r>
          </a:p>
        </p:txBody>
      </p:sp>
      <p:sp>
        <p:nvSpPr>
          <p:cNvPr name="Freeform 26" id="26"/>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9"/>
            <a:stretch>
              <a:fillRect l="0" t="0" r="0" b="0"/>
            </a:stretch>
          </a:blipFill>
        </p:spPr>
      </p:sp>
      <p:sp>
        <p:nvSpPr>
          <p:cNvPr name="Freeform 27" id="27"/>
          <p:cNvSpPr/>
          <p:nvPr/>
        </p:nvSpPr>
        <p:spPr>
          <a:xfrm flipH="false" flipV="false" rot="-5400000">
            <a:off x="4461772" y="1946923"/>
            <a:ext cx="447626" cy="765214"/>
          </a:xfrm>
          <a:custGeom>
            <a:avLst/>
            <a:gdLst/>
            <a:ahLst/>
            <a:cxnLst/>
            <a:rect r="r" b="b" t="t" l="l"/>
            <a:pathLst>
              <a:path h="765214" w="447626">
                <a:moveTo>
                  <a:pt x="0" y="0"/>
                </a:moveTo>
                <a:lnTo>
                  <a:pt x="447626" y="0"/>
                </a:lnTo>
                <a:lnTo>
                  <a:pt x="447626" y="765214"/>
                </a:lnTo>
                <a:lnTo>
                  <a:pt x="0" y="765214"/>
                </a:lnTo>
                <a:lnTo>
                  <a:pt x="0" y="0"/>
                </a:lnTo>
                <a:close/>
              </a:path>
            </a:pathLst>
          </a:custGeom>
          <a:blipFill>
            <a:blip r:embed="rId6">
              <a:extLst>
                <a:ext uri="{96DAC541-7B7A-43D3-8B79-37D633B846F1}">
                  <asvg:svgBlip xmlns:asvg="http://schemas.microsoft.com/office/drawing/2016/SVG/main" r:embed="rId7"/>
                </a:ext>
              </a:extLst>
            </a:blip>
            <a:stretch>
              <a:fillRect l="0" t="-54452"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5034" y="1531393"/>
            <a:ext cx="8115300" cy="3797937"/>
            <a:chOff x="0" y="0"/>
            <a:chExt cx="1257272" cy="588400"/>
          </a:xfrm>
        </p:grpSpPr>
        <p:sp>
          <p:nvSpPr>
            <p:cNvPr name="Freeform 3" id="3"/>
            <p:cNvSpPr/>
            <p:nvPr/>
          </p:nvSpPr>
          <p:spPr>
            <a:xfrm flipH="false" flipV="false" rot="0">
              <a:off x="0" y="0"/>
              <a:ext cx="1257272" cy="588400"/>
            </a:xfrm>
            <a:custGeom>
              <a:avLst/>
              <a:gdLst/>
              <a:ahLst/>
              <a:cxnLst/>
              <a:rect r="r" b="b" t="t" l="l"/>
              <a:pathLst>
                <a:path h="588400" w="1257272">
                  <a:moveTo>
                    <a:pt x="28620" y="0"/>
                  </a:moveTo>
                  <a:lnTo>
                    <a:pt x="1228653" y="0"/>
                  </a:lnTo>
                  <a:cubicBezTo>
                    <a:pt x="1244459" y="0"/>
                    <a:pt x="1257272" y="12813"/>
                    <a:pt x="1257272" y="28620"/>
                  </a:cubicBezTo>
                  <a:lnTo>
                    <a:pt x="1257272" y="559780"/>
                  </a:lnTo>
                  <a:cubicBezTo>
                    <a:pt x="1257272" y="575586"/>
                    <a:pt x="1244459" y="588400"/>
                    <a:pt x="1228653" y="588400"/>
                  </a:cubicBezTo>
                  <a:lnTo>
                    <a:pt x="28620" y="588400"/>
                  </a:lnTo>
                  <a:cubicBezTo>
                    <a:pt x="12813" y="588400"/>
                    <a:pt x="0" y="575586"/>
                    <a:pt x="0" y="559780"/>
                  </a:cubicBezTo>
                  <a:lnTo>
                    <a:pt x="0" y="28620"/>
                  </a:lnTo>
                  <a:cubicBezTo>
                    <a:pt x="0" y="12813"/>
                    <a:pt x="12813" y="0"/>
                    <a:pt x="28620" y="0"/>
                  </a:cubicBezTo>
                  <a:close/>
                </a:path>
              </a:pathLst>
            </a:custGeom>
            <a:blipFill>
              <a:blip r:embed="rId2"/>
              <a:stretch>
                <a:fillRect l="-8499" t="0" r="-8499" b="0"/>
              </a:stretch>
            </a:blipFill>
          </p:spPr>
        </p:sp>
      </p:grpSp>
      <p:grpSp>
        <p:nvGrpSpPr>
          <p:cNvPr name="Group 4" id="4"/>
          <p:cNvGrpSpPr/>
          <p:nvPr/>
        </p:nvGrpSpPr>
        <p:grpSpPr>
          <a:xfrm rot="0">
            <a:off x="6514370" y="3430361"/>
            <a:ext cx="4365183" cy="3470942"/>
            <a:chOff x="0" y="0"/>
            <a:chExt cx="822959" cy="654370"/>
          </a:xfrm>
        </p:grpSpPr>
        <p:sp>
          <p:nvSpPr>
            <p:cNvPr name="Freeform 5" id="5"/>
            <p:cNvSpPr/>
            <p:nvPr/>
          </p:nvSpPr>
          <p:spPr>
            <a:xfrm flipH="false" flipV="false" rot="0">
              <a:off x="0" y="0"/>
              <a:ext cx="822959" cy="654370"/>
            </a:xfrm>
            <a:custGeom>
              <a:avLst/>
              <a:gdLst/>
              <a:ahLst/>
              <a:cxnLst/>
              <a:rect r="r" b="b" t="t" l="l"/>
              <a:pathLst>
                <a:path h="654370" w="822959">
                  <a:moveTo>
                    <a:pt x="97546" y="0"/>
                  </a:moveTo>
                  <a:lnTo>
                    <a:pt x="725413" y="0"/>
                  </a:lnTo>
                  <a:cubicBezTo>
                    <a:pt x="779286" y="0"/>
                    <a:pt x="822959" y="43673"/>
                    <a:pt x="822959" y="97546"/>
                  </a:cubicBezTo>
                  <a:lnTo>
                    <a:pt x="822959" y="556824"/>
                  </a:lnTo>
                  <a:cubicBezTo>
                    <a:pt x="822959" y="610697"/>
                    <a:pt x="779286" y="654370"/>
                    <a:pt x="725413" y="654370"/>
                  </a:cubicBezTo>
                  <a:lnTo>
                    <a:pt x="97546" y="654370"/>
                  </a:lnTo>
                  <a:cubicBezTo>
                    <a:pt x="43673" y="654370"/>
                    <a:pt x="0" y="610697"/>
                    <a:pt x="0" y="556824"/>
                  </a:cubicBezTo>
                  <a:lnTo>
                    <a:pt x="0" y="97546"/>
                  </a:lnTo>
                  <a:cubicBezTo>
                    <a:pt x="0" y="43673"/>
                    <a:pt x="43673" y="0"/>
                    <a:pt x="97546" y="0"/>
                  </a:cubicBezTo>
                  <a:close/>
                </a:path>
              </a:pathLst>
            </a:custGeom>
            <a:blipFill>
              <a:blip r:embed="rId3"/>
              <a:stretch>
                <a:fillRect l="0" t="-17235" r="0" b="-17235"/>
              </a:stretch>
            </a:blipFill>
            <a:ln w="142875" cap="rnd">
              <a:solidFill>
                <a:srgbClr val="112041"/>
              </a:solidFill>
              <a:prstDash val="solid"/>
              <a:round/>
            </a:ln>
          </p:spPr>
        </p:sp>
      </p:grpSp>
      <p:sp>
        <p:nvSpPr>
          <p:cNvPr name="Freeform 6" id="6"/>
          <p:cNvSpPr/>
          <p:nvPr/>
        </p:nvSpPr>
        <p:spPr>
          <a:xfrm flipH="false" flipV="false" rot="0">
            <a:off x="8793344" y="8998472"/>
            <a:ext cx="2086210" cy="519656"/>
          </a:xfrm>
          <a:custGeom>
            <a:avLst/>
            <a:gdLst/>
            <a:ahLst/>
            <a:cxnLst/>
            <a:rect r="r" b="b" t="t" l="l"/>
            <a:pathLst>
              <a:path h="519656" w="2086210">
                <a:moveTo>
                  <a:pt x="0" y="0"/>
                </a:moveTo>
                <a:lnTo>
                  <a:pt x="2086209" y="0"/>
                </a:lnTo>
                <a:lnTo>
                  <a:pt x="2086209" y="519656"/>
                </a:lnTo>
                <a:lnTo>
                  <a:pt x="0" y="5196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72625" y="530188"/>
            <a:ext cx="2001325" cy="498512"/>
          </a:xfrm>
          <a:custGeom>
            <a:avLst/>
            <a:gdLst/>
            <a:ahLst/>
            <a:cxnLst/>
            <a:rect r="r" b="b" t="t" l="l"/>
            <a:pathLst>
              <a:path h="498512" w="2001325">
                <a:moveTo>
                  <a:pt x="0" y="0"/>
                </a:moveTo>
                <a:lnTo>
                  <a:pt x="2001325" y="0"/>
                </a:lnTo>
                <a:lnTo>
                  <a:pt x="2001325" y="498512"/>
                </a:lnTo>
                <a:lnTo>
                  <a:pt x="0" y="4985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952993" y="722393"/>
            <a:ext cx="612614" cy="612614"/>
          </a:xfrm>
          <a:custGeom>
            <a:avLst/>
            <a:gdLst/>
            <a:ahLst/>
            <a:cxnLst/>
            <a:rect r="r" b="b" t="t" l="l"/>
            <a:pathLst>
              <a:path h="612614" w="612614">
                <a:moveTo>
                  <a:pt x="0" y="0"/>
                </a:moveTo>
                <a:lnTo>
                  <a:pt x="612614" y="0"/>
                </a:lnTo>
                <a:lnTo>
                  <a:pt x="612614" y="612614"/>
                </a:lnTo>
                <a:lnTo>
                  <a:pt x="0" y="6126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777500" y="5576611"/>
            <a:ext cx="352786" cy="352786"/>
          </a:xfrm>
          <a:custGeom>
            <a:avLst/>
            <a:gdLst/>
            <a:ahLst/>
            <a:cxnLst/>
            <a:rect r="r" b="b" t="t" l="l"/>
            <a:pathLst>
              <a:path h="352786" w="352786">
                <a:moveTo>
                  <a:pt x="0" y="0"/>
                </a:moveTo>
                <a:lnTo>
                  <a:pt x="352787" y="0"/>
                </a:lnTo>
                <a:lnTo>
                  <a:pt x="352787" y="352787"/>
                </a:lnTo>
                <a:lnTo>
                  <a:pt x="0" y="3527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8356" y="9341735"/>
            <a:ext cx="437580" cy="437580"/>
          </a:xfrm>
          <a:custGeom>
            <a:avLst/>
            <a:gdLst/>
            <a:ahLst/>
            <a:cxnLst/>
            <a:rect r="r" b="b" t="t" l="l"/>
            <a:pathLst>
              <a:path h="437580" w="437580">
                <a:moveTo>
                  <a:pt x="0" y="0"/>
                </a:moveTo>
                <a:lnTo>
                  <a:pt x="437580" y="0"/>
                </a:lnTo>
                <a:lnTo>
                  <a:pt x="437580" y="437580"/>
                </a:lnTo>
                <a:lnTo>
                  <a:pt x="0" y="437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515034" y="6485966"/>
            <a:ext cx="5230505" cy="2528570"/>
          </a:xfrm>
          <a:prstGeom prst="rect">
            <a:avLst/>
          </a:prstGeom>
        </p:spPr>
        <p:txBody>
          <a:bodyPr anchor="t" rtlCol="false" tIns="0" lIns="0" bIns="0" rIns="0">
            <a:spAutoFit/>
          </a:bodyPr>
          <a:lstStyle/>
          <a:p>
            <a:pPr algn="l">
              <a:lnSpc>
                <a:spcPts val="6160"/>
              </a:lnSpc>
            </a:pPr>
            <a:r>
              <a:rPr lang="en-US" sz="5600" b="true">
                <a:solidFill>
                  <a:srgbClr val="0B0A0A"/>
                </a:solidFill>
                <a:latin typeface="Agrandir Bold"/>
                <a:ea typeface="Agrandir Bold"/>
                <a:cs typeface="Agrandir Bold"/>
                <a:sym typeface="Agrandir Bold"/>
              </a:rPr>
              <a:t>Bottlenecks &amp; Inefficiencies Identified</a:t>
            </a:r>
          </a:p>
        </p:txBody>
      </p:sp>
      <p:grpSp>
        <p:nvGrpSpPr>
          <p:cNvPr name="Group 12" id="12"/>
          <p:cNvGrpSpPr/>
          <p:nvPr/>
        </p:nvGrpSpPr>
        <p:grpSpPr>
          <a:xfrm rot="0">
            <a:off x="9354304" y="-1897320"/>
            <a:ext cx="12067639" cy="14051795"/>
            <a:chOff x="0" y="0"/>
            <a:chExt cx="16090186" cy="18735727"/>
          </a:xfrm>
        </p:grpSpPr>
        <p:grpSp>
          <p:nvGrpSpPr>
            <p:cNvPr name="Group 13" id="13"/>
            <p:cNvGrpSpPr/>
            <p:nvPr/>
          </p:nvGrpSpPr>
          <p:grpSpPr>
            <a:xfrm rot="-573377">
              <a:off x="1294764" y="1004609"/>
              <a:ext cx="13500659" cy="16726509"/>
              <a:chOff x="0" y="0"/>
              <a:chExt cx="2666797" cy="3304002"/>
            </a:xfrm>
          </p:grpSpPr>
          <p:sp>
            <p:nvSpPr>
              <p:cNvPr name="Freeform 14" id="14"/>
              <p:cNvSpPr/>
              <p:nvPr/>
            </p:nvSpPr>
            <p:spPr>
              <a:xfrm flipH="false" flipV="false" rot="0">
                <a:off x="0" y="0"/>
                <a:ext cx="2666797" cy="3304002"/>
              </a:xfrm>
              <a:custGeom>
                <a:avLst/>
                <a:gdLst/>
                <a:ahLst/>
                <a:cxnLst/>
                <a:rect r="r" b="b" t="t" l="l"/>
                <a:pathLst>
                  <a:path h="3304002" w="2666797">
                    <a:moveTo>
                      <a:pt x="0" y="0"/>
                    </a:moveTo>
                    <a:lnTo>
                      <a:pt x="2666797" y="0"/>
                    </a:lnTo>
                    <a:lnTo>
                      <a:pt x="2666797" y="3304002"/>
                    </a:lnTo>
                    <a:lnTo>
                      <a:pt x="0" y="3304002"/>
                    </a:lnTo>
                    <a:close/>
                  </a:path>
                </a:pathLst>
              </a:custGeom>
              <a:solidFill>
                <a:srgbClr val="112041">
                  <a:alpha val="76863"/>
                </a:srgbClr>
              </a:solidFill>
            </p:spPr>
          </p:sp>
          <p:sp>
            <p:nvSpPr>
              <p:cNvPr name="TextBox 15" id="15"/>
              <p:cNvSpPr txBox="true"/>
              <p:nvPr/>
            </p:nvSpPr>
            <p:spPr>
              <a:xfrm>
                <a:off x="0" y="-85725"/>
                <a:ext cx="2666797" cy="3389727"/>
              </a:xfrm>
              <a:prstGeom prst="rect">
                <a:avLst/>
              </a:prstGeom>
            </p:spPr>
            <p:txBody>
              <a:bodyPr anchor="ctr" rtlCol="false" tIns="50800" lIns="50800" bIns="50800" rIns="50800"/>
              <a:lstStyle/>
              <a:p>
                <a:pPr algn="ctr">
                  <a:lnSpc>
                    <a:spcPts val="2239"/>
                  </a:lnSpc>
                </a:pPr>
              </a:p>
            </p:txBody>
          </p:sp>
        </p:grpSp>
        <p:sp>
          <p:nvSpPr>
            <p:cNvPr name="Freeform 16" id="16"/>
            <p:cNvSpPr/>
            <p:nvPr/>
          </p:nvSpPr>
          <p:spPr>
            <a:xfrm flipH="false" flipV="false" rot="0">
              <a:off x="3382550" y="9720721"/>
              <a:ext cx="489041" cy="489041"/>
            </a:xfrm>
            <a:custGeom>
              <a:avLst/>
              <a:gdLst/>
              <a:ahLst/>
              <a:cxnLst/>
              <a:rect r="r" b="b" t="t" l="l"/>
              <a:pathLst>
                <a:path h="489041" w="489041">
                  <a:moveTo>
                    <a:pt x="0" y="0"/>
                  </a:moveTo>
                  <a:lnTo>
                    <a:pt x="489040" y="0"/>
                  </a:lnTo>
                  <a:lnTo>
                    <a:pt x="489040" y="489041"/>
                  </a:lnTo>
                  <a:lnTo>
                    <a:pt x="0" y="4890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3382550" y="4793540"/>
              <a:ext cx="489041" cy="489041"/>
            </a:xfrm>
            <a:custGeom>
              <a:avLst/>
              <a:gdLst/>
              <a:ahLst/>
              <a:cxnLst/>
              <a:rect r="r" b="b" t="t" l="l"/>
              <a:pathLst>
                <a:path h="489041" w="489041">
                  <a:moveTo>
                    <a:pt x="0" y="0"/>
                  </a:moveTo>
                  <a:lnTo>
                    <a:pt x="489040" y="0"/>
                  </a:lnTo>
                  <a:lnTo>
                    <a:pt x="489040" y="489041"/>
                  </a:lnTo>
                  <a:lnTo>
                    <a:pt x="0" y="4890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3382550" y="12171612"/>
              <a:ext cx="489041" cy="489041"/>
            </a:xfrm>
            <a:custGeom>
              <a:avLst/>
              <a:gdLst/>
              <a:ahLst/>
              <a:cxnLst/>
              <a:rect r="r" b="b" t="t" l="l"/>
              <a:pathLst>
                <a:path h="489041" w="489041">
                  <a:moveTo>
                    <a:pt x="0" y="0"/>
                  </a:moveTo>
                  <a:lnTo>
                    <a:pt x="489040" y="0"/>
                  </a:lnTo>
                  <a:lnTo>
                    <a:pt x="489040" y="489041"/>
                  </a:lnTo>
                  <a:lnTo>
                    <a:pt x="0" y="4890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3382550" y="7244431"/>
              <a:ext cx="489041" cy="489041"/>
            </a:xfrm>
            <a:custGeom>
              <a:avLst/>
              <a:gdLst/>
              <a:ahLst/>
              <a:cxnLst/>
              <a:rect r="r" b="b" t="t" l="l"/>
              <a:pathLst>
                <a:path h="489041" w="489041">
                  <a:moveTo>
                    <a:pt x="0" y="0"/>
                  </a:moveTo>
                  <a:lnTo>
                    <a:pt x="489040" y="0"/>
                  </a:lnTo>
                  <a:lnTo>
                    <a:pt x="489040" y="489040"/>
                  </a:lnTo>
                  <a:lnTo>
                    <a:pt x="0" y="4890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4141271" y="10299411"/>
              <a:ext cx="6786096" cy="1471930"/>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Fu</a:t>
              </a:r>
              <a:r>
                <a:rPr lang="en-US" sz="2100">
                  <a:solidFill>
                    <a:srgbClr val="FFFFFF"/>
                  </a:solidFill>
                  <a:latin typeface="Poppins"/>
                  <a:ea typeface="Poppins"/>
                  <a:cs typeface="Poppins"/>
                  <a:sym typeface="Poppins"/>
                </a:rPr>
                <a:t>ll RDBMS installs bring</a:t>
              </a:r>
              <a:r>
                <a:rPr lang="en-US" sz="2100">
                  <a:solidFill>
                    <a:srgbClr val="FFFFFF"/>
                  </a:solidFill>
                  <a:latin typeface="Poppins"/>
                  <a:ea typeface="Poppins"/>
                  <a:cs typeface="Poppins"/>
                  <a:sym typeface="Poppins"/>
                </a:rPr>
                <a:t> configuration overhead that obscures the concepts being taught.</a:t>
              </a:r>
            </a:p>
          </p:txBody>
        </p:sp>
        <p:sp>
          <p:nvSpPr>
            <p:cNvPr name="TextBox 21" id="21"/>
            <p:cNvSpPr txBox="true"/>
            <p:nvPr/>
          </p:nvSpPr>
          <p:spPr>
            <a:xfrm rot="0">
              <a:off x="4141271" y="5372229"/>
              <a:ext cx="6786096" cy="1544743"/>
            </a:xfrm>
            <a:prstGeom prst="rect">
              <a:avLst/>
            </a:prstGeom>
          </p:spPr>
          <p:txBody>
            <a:bodyPr anchor="t" rtlCol="false" tIns="0" lIns="0" bIns="0" rIns="0">
              <a:spAutoFit/>
            </a:bodyPr>
            <a:lstStyle/>
            <a:p>
              <a:pPr algn="l">
                <a:lnSpc>
                  <a:spcPts val="3079"/>
                </a:lnSpc>
              </a:pPr>
              <a:r>
                <a:rPr lang="en-US" sz="2199">
                  <a:solidFill>
                    <a:srgbClr val="FFFFFF"/>
                  </a:solidFill>
                  <a:latin typeface="Poppins"/>
                  <a:ea typeface="Poppins"/>
                  <a:cs typeface="Poppins"/>
                  <a:sym typeface="Poppins"/>
                </a:rPr>
                <a:t>SQL is used as a black box — no visibility into parsing</a:t>
              </a:r>
              <a:r>
                <a:rPr lang="en-US" sz="2199">
                  <a:solidFill>
                    <a:srgbClr val="FFFFFF"/>
                  </a:solidFill>
                  <a:latin typeface="Poppins"/>
                  <a:ea typeface="Poppins"/>
                  <a:cs typeface="Poppins"/>
                  <a:sym typeface="Poppins"/>
                </a:rPr>
                <a:t>, planning, or execution internals.</a:t>
              </a:r>
            </a:p>
          </p:txBody>
        </p:sp>
        <p:sp>
          <p:nvSpPr>
            <p:cNvPr name="TextBox 22" id="22"/>
            <p:cNvSpPr txBox="true"/>
            <p:nvPr/>
          </p:nvSpPr>
          <p:spPr>
            <a:xfrm rot="0">
              <a:off x="4141271" y="12709870"/>
              <a:ext cx="6786096" cy="1544743"/>
            </a:xfrm>
            <a:prstGeom prst="rect">
              <a:avLst/>
            </a:prstGeom>
          </p:spPr>
          <p:txBody>
            <a:bodyPr anchor="t" rtlCol="false" tIns="0" lIns="0" bIns="0" rIns="0">
              <a:spAutoFit/>
            </a:bodyPr>
            <a:lstStyle/>
            <a:p>
              <a:pPr algn="l">
                <a:lnSpc>
                  <a:spcPts val="3079"/>
                </a:lnSpc>
              </a:pPr>
              <a:r>
                <a:rPr lang="en-US" sz="2199">
                  <a:solidFill>
                    <a:srgbClr val="FFFFFF"/>
                  </a:solidFill>
                  <a:latin typeface="Poppins"/>
                  <a:ea typeface="Poppins"/>
                  <a:cs typeface="Poppins"/>
                  <a:sym typeface="Poppins"/>
                </a:rPr>
                <a:t>Flat-fil</a:t>
              </a:r>
              <a:r>
                <a:rPr lang="en-US" sz="2199">
                  <a:solidFill>
                    <a:srgbClr val="FFFFFF"/>
                  </a:solidFill>
                  <a:latin typeface="Poppins"/>
                  <a:ea typeface="Poppins"/>
                  <a:cs typeface="Poppins"/>
                  <a:sym typeface="Poppins"/>
                </a:rPr>
                <a:t>e storage enforces no schema, no query language,</a:t>
              </a:r>
              <a:r>
                <a:rPr lang="en-US" sz="2199">
                  <a:solidFill>
                    <a:srgbClr val="FFFFFF"/>
                  </a:solidFill>
                  <a:latin typeface="Poppins"/>
                  <a:ea typeface="Poppins"/>
                  <a:cs typeface="Poppins"/>
                  <a:sym typeface="Poppins"/>
                </a:rPr>
                <a:t> and no data validation.</a:t>
              </a:r>
            </a:p>
          </p:txBody>
        </p:sp>
        <p:sp>
          <p:nvSpPr>
            <p:cNvPr name="TextBox 23" id="23"/>
            <p:cNvSpPr txBox="true"/>
            <p:nvPr/>
          </p:nvSpPr>
          <p:spPr>
            <a:xfrm rot="0">
              <a:off x="4141271" y="7823120"/>
              <a:ext cx="6786096" cy="1544743"/>
            </a:xfrm>
            <a:prstGeom prst="rect">
              <a:avLst/>
            </a:prstGeom>
          </p:spPr>
          <p:txBody>
            <a:bodyPr anchor="t" rtlCol="false" tIns="0" lIns="0" bIns="0" rIns="0">
              <a:spAutoFit/>
            </a:bodyPr>
            <a:lstStyle/>
            <a:p>
              <a:pPr algn="l">
                <a:lnSpc>
                  <a:spcPts val="3079"/>
                </a:lnSpc>
              </a:pPr>
              <a:r>
                <a:rPr lang="en-US" sz="2199">
                  <a:solidFill>
                    <a:srgbClr val="FFFFFF"/>
                  </a:solidFill>
                  <a:latin typeface="Poppins"/>
                  <a:ea typeface="Poppins"/>
                  <a:cs typeface="Poppins"/>
                  <a:sym typeface="Poppins"/>
                </a:rPr>
                <a:t>No</a:t>
              </a:r>
              <a:r>
                <a:rPr lang="en-US" sz="2199">
                  <a:solidFill>
                    <a:srgbClr val="FFFFFF"/>
                  </a:solidFill>
                  <a:latin typeface="Poppins"/>
                  <a:ea typeface="Poppins"/>
                  <a:cs typeface="Poppins"/>
                  <a:sym typeface="Poppins"/>
                </a:rPr>
                <a:t> atomicity in typical st</a:t>
              </a:r>
              <a:r>
                <a:rPr lang="en-US" sz="2199">
                  <a:solidFill>
                    <a:srgbClr val="FFFFFF"/>
                  </a:solidFill>
                  <a:latin typeface="Poppins"/>
                  <a:ea typeface="Poppins"/>
                  <a:cs typeface="Poppins"/>
                  <a:sym typeface="Poppins"/>
                </a:rPr>
                <a:t>udent-built storage; a crash mid-write leaves corrupted data.</a:t>
              </a:r>
            </a:p>
          </p:txBody>
        </p:sp>
        <p:sp>
          <p:nvSpPr>
            <p:cNvPr name="TextBox 24" id="24"/>
            <p:cNvSpPr txBox="true"/>
            <p:nvPr/>
          </p:nvSpPr>
          <p:spPr>
            <a:xfrm rot="0">
              <a:off x="4141271" y="9632235"/>
              <a:ext cx="6398723" cy="588222"/>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Poppins Bold"/>
                  <a:ea typeface="Poppins Bold"/>
                  <a:cs typeface="Poppins Bold"/>
                  <a:sym typeface="Poppins Bold"/>
                </a:rPr>
                <a:t>H</a:t>
              </a:r>
              <a:r>
                <a:rPr lang="en-US" b="true" sz="2600">
                  <a:solidFill>
                    <a:srgbClr val="FFFFFF"/>
                  </a:solidFill>
                  <a:latin typeface="Poppins Bold"/>
                  <a:ea typeface="Poppins Bold"/>
                  <a:cs typeface="Poppins Bold"/>
                  <a:sym typeface="Poppins Bold"/>
                </a:rPr>
                <a:t>eavy,</a:t>
              </a:r>
              <a:r>
                <a:rPr lang="en-US" b="true" sz="2600">
                  <a:solidFill>
                    <a:srgbClr val="FFFFFF"/>
                  </a:solidFill>
                  <a:latin typeface="Poppins Bold"/>
                  <a:ea typeface="Poppins Bold"/>
                  <a:cs typeface="Poppins Bold"/>
                  <a:sym typeface="Poppins Bold"/>
                </a:rPr>
                <a:t> Complex Tooling</a:t>
              </a:r>
            </a:p>
          </p:txBody>
        </p:sp>
        <p:sp>
          <p:nvSpPr>
            <p:cNvPr name="TextBox 25" id="25"/>
            <p:cNvSpPr txBox="true"/>
            <p:nvPr/>
          </p:nvSpPr>
          <p:spPr>
            <a:xfrm rot="0">
              <a:off x="4141271" y="4705053"/>
              <a:ext cx="6398723" cy="588222"/>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Poppins Bold"/>
                  <a:ea typeface="Poppins Bold"/>
                  <a:cs typeface="Poppins Bold"/>
                  <a:sym typeface="Poppins Bold"/>
                </a:rPr>
                <a:t>Opaq</a:t>
              </a:r>
              <a:r>
                <a:rPr lang="en-US" b="true" sz="2600">
                  <a:solidFill>
                    <a:srgbClr val="FFFFFF"/>
                  </a:solidFill>
                  <a:latin typeface="Poppins Bold"/>
                  <a:ea typeface="Poppins Bold"/>
                  <a:cs typeface="Poppins Bold"/>
                  <a:sym typeface="Poppins Bold"/>
                </a:rPr>
                <a:t>ue Query Processing</a:t>
              </a:r>
            </a:p>
          </p:txBody>
        </p:sp>
        <p:sp>
          <p:nvSpPr>
            <p:cNvPr name="TextBox 26" id="26"/>
            <p:cNvSpPr txBox="true"/>
            <p:nvPr/>
          </p:nvSpPr>
          <p:spPr>
            <a:xfrm rot="0">
              <a:off x="4141271" y="12083126"/>
              <a:ext cx="6786096" cy="588222"/>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Poppins Bold"/>
                  <a:ea typeface="Poppins Bold"/>
                  <a:cs typeface="Poppins Bold"/>
                  <a:sym typeface="Poppins Bold"/>
                </a:rPr>
                <a:t>No Co</a:t>
              </a:r>
              <a:r>
                <a:rPr lang="en-US" b="true" sz="2600">
                  <a:solidFill>
                    <a:srgbClr val="FFFFFF"/>
                  </a:solidFill>
                  <a:latin typeface="Poppins Bold"/>
                  <a:ea typeface="Poppins Bold"/>
                  <a:cs typeface="Poppins Bold"/>
                  <a:sym typeface="Poppins Bold"/>
                </a:rPr>
                <a:t>nsistency</a:t>
              </a:r>
              <a:r>
                <a:rPr lang="en-US" b="true" sz="2600">
                  <a:solidFill>
                    <a:srgbClr val="FFFFFF"/>
                  </a:solidFill>
                  <a:latin typeface="Poppins Bold"/>
                  <a:ea typeface="Poppins Bold"/>
                  <a:cs typeface="Poppins Bold"/>
                  <a:sym typeface="Poppins Bold"/>
                </a:rPr>
                <a:t> Guarantees</a:t>
              </a:r>
            </a:p>
          </p:txBody>
        </p:sp>
        <p:sp>
          <p:nvSpPr>
            <p:cNvPr name="TextBox 27" id="27"/>
            <p:cNvSpPr txBox="true"/>
            <p:nvPr/>
          </p:nvSpPr>
          <p:spPr>
            <a:xfrm rot="0">
              <a:off x="4141271" y="7155944"/>
              <a:ext cx="6398723" cy="588222"/>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Poppins Bold"/>
                  <a:ea typeface="Poppins Bold"/>
                  <a:cs typeface="Poppins Bold"/>
                  <a:sym typeface="Poppins Bold"/>
                </a:rPr>
                <a:t>No</a:t>
              </a:r>
              <a:r>
                <a:rPr lang="en-US" b="true" sz="2600">
                  <a:solidFill>
                    <a:srgbClr val="FFFFFF"/>
                  </a:solidFill>
                  <a:latin typeface="Poppins Bold"/>
                  <a:ea typeface="Poppins Bold"/>
                  <a:cs typeface="Poppins Bold"/>
                  <a:sym typeface="Poppins Bold"/>
                </a:rPr>
                <a:t> Transactional Safety</a:t>
              </a:r>
            </a:p>
          </p:txBody>
        </p:sp>
      </p:grpSp>
      <p:sp>
        <p:nvSpPr>
          <p:cNvPr name="Freeform 28" id="28"/>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1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96734" y="7043269"/>
            <a:ext cx="4080429" cy="1409603"/>
          </a:xfrm>
          <a:custGeom>
            <a:avLst/>
            <a:gdLst/>
            <a:ahLst/>
            <a:cxnLst/>
            <a:rect r="r" b="b" t="t" l="l"/>
            <a:pathLst>
              <a:path h="1409603" w="4080429">
                <a:moveTo>
                  <a:pt x="0" y="0"/>
                </a:moveTo>
                <a:lnTo>
                  <a:pt x="4080429" y="0"/>
                </a:lnTo>
                <a:lnTo>
                  <a:pt x="4080429" y="1409603"/>
                </a:lnTo>
                <a:lnTo>
                  <a:pt x="0" y="1409603"/>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4945303">
            <a:off x="6858718" y="484102"/>
            <a:ext cx="3313659" cy="18781158"/>
            <a:chOff x="0" y="0"/>
            <a:chExt cx="872733" cy="4946478"/>
          </a:xfrm>
        </p:grpSpPr>
        <p:sp>
          <p:nvSpPr>
            <p:cNvPr name="Freeform 4" id="4"/>
            <p:cNvSpPr/>
            <p:nvPr/>
          </p:nvSpPr>
          <p:spPr>
            <a:xfrm flipH="false" flipV="false" rot="0">
              <a:off x="0" y="0"/>
              <a:ext cx="872733" cy="4946478"/>
            </a:xfrm>
            <a:custGeom>
              <a:avLst/>
              <a:gdLst/>
              <a:ahLst/>
              <a:cxnLst/>
              <a:rect r="r" b="b" t="t" l="l"/>
              <a:pathLst>
                <a:path h="4946478" w="872733">
                  <a:moveTo>
                    <a:pt x="0" y="0"/>
                  </a:moveTo>
                  <a:lnTo>
                    <a:pt x="872733" y="0"/>
                  </a:lnTo>
                  <a:lnTo>
                    <a:pt x="872733" y="4946478"/>
                  </a:lnTo>
                  <a:lnTo>
                    <a:pt x="0" y="4946478"/>
                  </a:lnTo>
                  <a:close/>
                </a:path>
              </a:pathLst>
            </a:custGeom>
            <a:solidFill>
              <a:srgbClr val="112041">
                <a:alpha val="91765"/>
              </a:srgbClr>
            </a:solidFill>
          </p:spPr>
        </p:sp>
        <p:sp>
          <p:nvSpPr>
            <p:cNvPr name="TextBox 5" id="5"/>
            <p:cNvSpPr txBox="true"/>
            <p:nvPr/>
          </p:nvSpPr>
          <p:spPr>
            <a:xfrm>
              <a:off x="0" y="-85725"/>
              <a:ext cx="872733" cy="5032203"/>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464044" y="1643898"/>
            <a:ext cx="8164721" cy="5513743"/>
            <a:chOff x="0" y="0"/>
            <a:chExt cx="1423236" cy="961130"/>
          </a:xfrm>
        </p:grpSpPr>
        <p:sp>
          <p:nvSpPr>
            <p:cNvPr name="Freeform 7" id="7"/>
            <p:cNvSpPr/>
            <p:nvPr/>
          </p:nvSpPr>
          <p:spPr>
            <a:xfrm flipH="false" flipV="false" rot="0">
              <a:off x="0" y="0"/>
              <a:ext cx="1423236" cy="961130"/>
            </a:xfrm>
            <a:custGeom>
              <a:avLst/>
              <a:gdLst/>
              <a:ahLst/>
              <a:cxnLst/>
              <a:rect r="r" b="b" t="t" l="l"/>
              <a:pathLst>
                <a:path h="961130" w="1423236">
                  <a:moveTo>
                    <a:pt x="49307" y="0"/>
                  </a:moveTo>
                  <a:lnTo>
                    <a:pt x="1373929" y="0"/>
                  </a:lnTo>
                  <a:cubicBezTo>
                    <a:pt x="1387006" y="0"/>
                    <a:pt x="1399547" y="5195"/>
                    <a:pt x="1408794" y="14442"/>
                  </a:cubicBezTo>
                  <a:cubicBezTo>
                    <a:pt x="1418041" y="23689"/>
                    <a:pt x="1423236" y="36230"/>
                    <a:pt x="1423236" y="49307"/>
                  </a:cubicBezTo>
                  <a:lnTo>
                    <a:pt x="1423236" y="911823"/>
                  </a:lnTo>
                  <a:cubicBezTo>
                    <a:pt x="1423236" y="924900"/>
                    <a:pt x="1418041" y="937441"/>
                    <a:pt x="1408794" y="946688"/>
                  </a:cubicBezTo>
                  <a:cubicBezTo>
                    <a:pt x="1399547" y="955935"/>
                    <a:pt x="1387006" y="961130"/>
                    <a:pt x="1373929" y="961130"/>
                  </a:cubicBezTo>
                  <a:lnTo>
                    <a:pt x="49307" y="961130"/>
                  </a:lnTo>
                  <a:cubicBezTo>
                    <a:pt x="36230" y="961130"/>
                    <a:pt x="23689" y="955935"/>
                    <a:pt x="14442" y="946688"/>
                  </a:cubicBezTo>
                  <a:cubicBezTo>
                    <a:pt x="5195" y="937441"/>
                    <a:pt x="0" y="924900"/>
                    <a:pt x="0" y="911823"/>
                  </a:cubicBezTo>
                  <a:lnTo>
                    <a:pt x="0" y="49307"/>
                  </a:lnTo>
                  <a:cubicBezTo>
                    <a:pt x="0" y="36230"/>
                    <a:pt x="5195" y="23689"/>
                    <a:pt x="14442" y="14442"/>
                  </a:cubicBezTo>
                  <a:cubicBezTo>
                    <a:pt x="23689" y="5195"/>
                    <a:pt x="36230" y="0"/>
                    <a:pt x="49307" y="0"/>
                  </a:cubicBezTo>
                  <a:close/>
                </a:path>
              </a:pathLst>
            </a:custGeom>
            <a:blipFill>
              <a:blip r:embed="rId4"/>
              <a:stretch>
                <a:fillRect l="0" t="-15167" r="-1779" b="-1186"/>
              </a:stretch>
            </a:blipFill>
          </p:spPr>
        </p:sp>
      </p:grpSp>
      <p:sp>
        <p:nvSpPr>
          <p:cNvPr name="Freeform 8" id="8"/>
          <p:cNvSpPr/>
          <p:nvPr/>
        </p:nvSpPr>
        <p:spPr>
          <a:xfrm flipH="false" flipV="false" rot="0">
            <a:off x="-1457490" y="248116"/>
            <a:ext cx="2914981" cy="552402"/>
          </a:xfrm>
          <a:custGeom>
            <a:avLst/>
            <a:gdLst/>
            <a:ahLst/>
            <a:cxnLst/>
            <a:rect r="r" b="b" t="t" l="l"/>
            <a:pathLst>
              <a:path h="552402" w="2914981">
                <a:moveTo>
                  <a:pt x="0" y="0"/>
                </a:moveTo>
                <a:lnTo>
                  <a:pt x="2914980" y="0"/>
                </a:lnTo>
                <a:lnTo>
                  <a:pt x="2914980" y="552402"/>
                </a:lnTo>
                <a:lnTo>
                  <a:pt x="0" y="5524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20722">
            <a:off x="15573120" y="9460213"/>
            <a:ext cx="3673269" cy="696101"/>
          </a:xfrm>
          <a:custGeom>
            <a:avLst/>
            <a:gdLst/>
            <a:ahLst/>
            <a:cxnLst/>
            <a:rect r="r" b="b" t="t" l="l"/>
            <a:pathLst>
              <a:path h="696101" w="3673269">
                <a:moveTo>
                  <a:pt x="0" y="0"/>
                </a:moveTo>
                <a:lnTo>
                  <a:pt x="3673269" y="0"/>
                </a:lnTo>
                <a:lnTo>
                  <a:pt x="3673269" y="696101"/>
                </a:lnTo>
                <a:lnTo>
                  <a:pt x="0" y="6961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9486317" y="1037004"/>
            <a:ext cx="7183126" cy="1944370"/>
          </a:xfrm>
          <a:prstGeom prst="rect">
            <a:avLst/>
          </a:prstGeom>
        </p:spPr>
        <p:txBody>
          <a:bodyPr anchor="t" rtlCol="false" tIns="0" lIns="0" bIns="0" rIns="0">
            <a:spAutoFit/>
          </a:bodyPr>
          <a:lstStyle/>
          <a:p>
            <a:pPr algn="l">
              <a:lnSpc>
                <a:spcPts val="6800"/>
              </a:lnSpc>
            </a:pPr>
            <a:r>
              <a:rPr lang="en-US" sz="6800" b="true">
                <a:solidFill>
                  <a:srgbClr val="000000"/>
                </a:solidFill>
                <a:latin typeface="Agrandir Bold"/>
                <a:ea typeface="Agrandir Bold"/>
                <a:cs typeface="Agrandir Bold"/>
                <a:sym typeface="Agrandir Bold"/>
              </a:rPr>
              <a:t>Problem Statement </a:t>
            </a:r>
          </a:p>
        </p:txBody>
      </p:sp>
      <p:sp>
        <p:nvSpPr>
          <p:cNvPr name="Freeform 11" id="11"/>
          <p:cNvSpPr/>
          <p:nvPr/>
        </p:nvSpPr>
        <p:spPr>
          <a:xfrm flipH="false" flipV="false" rot="0">
            <a:off x="14402766" y="-609085"/>
            <a:ext cx="4080429" cy="1409603"/>
          </a:xfrm>
          <a:custGeom>
            <a:avLst/>
            <a:gdLst/>
            <a:ahLst/>
            <a:cxnLst/>
            <a:rect r="r" b="b" t="t" l="l"/>
            <a:pathLst>
              <a:path h="1409603" w="4080429">
                <a:moveTo>
                  <a:pt x="0" y="0"/>
                </a:moveTo>
                <a:lnTo>
                  <a:pt x="4080429" y="0"/>
                </a:lnTo>
                <a:lnTo>
                  <a:pt x="4080429" y="1409603"/>
                </a:lnTo>
                <a:lnTo>
                  <a:pt x="0" y="1409603"/>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7436189" y="5176937"/>
            <a:ext cx="447626" cy="765214"/>
          </a:xfrm>
          <a:custGeom>
            <a:avLst/>
            <a:gdLst/>
            <a:ahLst/>
            <a:cxnLst/>
            <a:rect r="r" b="b" t="t" l="l"/>
            <a:pathLst>
              <a:path h="765214" w="447626">
                <a:moveTo>
                  <a:pt x="0" y="0"/>
                </a:moveTo>
                <a:lnTo>
                  <a:pt x="447626" y="0"/>
                </a:lnTo>
                <a:lnTo>
                  <a:pt x="447626" y="765214"/>
                </a:lnTo>
                <a:lnTo>
                  <a:pt x="0" y="765214"/>
                </a:lnTo>
                <a:lnTo>
                  <a:pt x="0" y="0"/>
                </a:lnTo>
                <a:close/>
              </a:path>
            </a:pathLst>
          </a:custGeom>
          <a:blipFill>
            <a:blip r:embed="rId7">
              <a:extLst>
                <a:ext uri="{96DAC541-7B7A-43D3-8B79-37D633B846F1}">
                  <asvg:svgBlip xmlns:asvg="http://schemas.microsoft.com/office/drawing/2016/SVG/main" r:embed="rId8"/>
                </a:ext>
              </a:extLst>
            </a:blip>
            <a:stretch>
              <a:fillRect l="0" t="-54452" r="0" b="0"/>
            </a:stretch>
          </a:blipFill>
        </p:spPr>
      </p:sp>
      <p:sp>
        <p:nvSpPr>
          <p:cNvPr name="Freeform 13" id="13"/>
          <p:cNvSpPr/>
          <p:nvPr/>
        </p:nvSpPr>
        <p:spPr>
          <a:xfrm flipH="false" flipV="false" rot="-5400000">
            <a:off x="5495742" y="837454"/>
            <a:ext cx="447626" cy="765214"/>
          </a:xfrm>
          <a:custGeom>
            <a:avLst/>
            <a:gdLst/>
            <a:ahLst/>
            <a:cxnLst/>
            <a:rect r="r" b="b" t="t" l="l"/>
            <a:pathLst>
              <a:path h="765214" w="447626">
                <a:moveTo>
                  <a:pt x="0" y="0"/>
                </a:moveTo>
                <a:lnTo>
                  <a:pt x="447626" y="0"/>
                </a:lnTo>
                <a:lnTo>
                  <a:pt x="447626" y="765213"/>
                </a:lnTo>
                <a:lnTo>
                  <a:pt x="0" y="765213"/>
                </a:lnTo>
                <a:lnTo>
                  <a:pt x="0" y="0"/>
                </a:lnTo>
                <a:close/>
              </a:path>
            </a:pathLst>
          </a:custGeom>
          <a:blipFill>
            <a:blip r:embed="rId7">
              <a:extLst>
                <a:ext uri="{96DAC541-7B7A-43D3-8B79-37D633B846F1}">
                  <asvg:svgBlip xmlns:asvg="http://schemas.microsoft.com/office/drawing/2016/SVG/main" r:embed="rId8"/>
                </a:ext>
              </a:extLst>
            </a:blip>
            <a:stretch>
              <a:fillRect l="0" t="-54452" r="0" b="0"/>
            </a:stretch>
          </a:blipFill>
        </p:spPr>
      </p:sp>
      <p:sp>
        <p:nvSpPr>
          <p:cNvPr name="TextBox 14" id="14"/>
          <p:cNvSpPr txBox="true"/>
          <p:nvPr/>
        </p:nvSpPr>
        <p:spPr>
          <a:xfrm rot="0">
            <a:off x="9047868" y="3300747"/>
            <a:ext cx="7621576" cy="3742522"/>
          </a:xfrm>
          <a:prstGeom prst="rect">
            <a:avLst/>
          </a:prstGeom>
        </p:spPr>
        <p:txBody>
          <a:bodyPr anchor="t" rtlCol="false" tIns="0" lIns="0" bIns="0" rIns="0">
            <a:spAutoFit/>
          </a:bodyPr>
          <a:lstStyle/>
          <a:p>
            <a:pPr algn="l">
              <a:lnSpc>
                <a:spcPts val="3719"/>
              </a:lnSpc>
            </a:pPr>
            <a:r>
              <a:rPr lang="en-US" sz="2656" i="true">
                <a:solidFill>
                  <a:srgbClr val="000000"/>
                </a:solidFill>
                <a:latin typeface="Poppins Italics"/>
                <a:ea typeface="Poppins Italics"/>
                <a:cs typeface="Poppins Italics"/>
                <a:sym typeface="Poppins Italics"/>
              </a:rPr>
              <a:t>Students and dev</a:t>
            </a:r>
            <a:r>
              <a:rPr lang="en-US" sz="2656" i="true">
                <a:solidFill>
                  <a:srgbClr val="000000"/>
                </a:solidFill>
                <a:latin typeface="Poppins Italics"/>
                <a:ea typeface="Poppins Italics"/>
                <a:cs typeface="Poppins Italics"/>
                <a:sym typeface="Poppins Italics"/>
              </a:rPr>
              <a:t>elopers lack a transparent, minimal RDBMS implementation that demonstrates core query processing and transaction management, since production databases are too complex to inspect internally and ad-hoc storage solutions provide neither a query language nor transactional integrity. </a:t>
            </a:r>
          </a:p>
        </p:txBody>
      </p:sp>
      <p:sp>
        <p:nvSpPr>
          <p:cNvPr name="Freeform 15" id="15"/>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9"/>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22073" y="2331762"/>
            <a:ext cx="7208607" cy="7299103"/>
          </a:xfrm>
          <a:custGeom>
            <a:avLst/>
            <a:gdLst/>
            <a:ahLst/>
            <a:cxnLst/>
            <a:rect r="r" b="b" t="t" l="l"/>
            <a:pathLst>
              <a:path h="7299103" w="7208607">
                <a:moveTo>
                  <a:pt x="0" y="0"/>
                </a:moveTo>
                <a:lnTo>
                  <a:pt x="7208606" y="0"/>
                </a:lnTo>
                <a:lnTo>
                  <a:pt x="7208606" y="7299103"/>
                </a:lnTo>
                <a:lnTo>
                  <a:pt x="0" y="7299103"/>
                </a:lnTo>
                <a:lnTo>
                  <a:pt x="0" y="0"/>
                </a:lnTo>
                <a:close/>
              </a:path>
            </a:pathLst>
          </a:custGeom>
          <a:blipFill>
            <a:blip r:embed="rId2"/>
            <a:stretch>
              <a:fillRect l="0" t="-3621" r="0" b="-5215"/>
            </a:stretch>
          </a:blipFill>
        </p:spPr>
      </p:sp>
      <p:sp>
        <p:nvSpPr>
          <p:cNvPr name="TextBox 3" id="3"/>
          <p:cNvSpPr txBox="true"/>
          <p:nvPr/>
        </p:nvSpPr>
        <p:spPr>
          <a:xfrm rot="0">
            <a:off x="3312679" y="1909137"/>
            <a:ext cx="4696553" cy="509349"/>
          </a:xfrm>
          <a:prstGeom prst="rect">
            <a:avLst/>
          </a:prstGeom>
        </p:spPr>
        <p:txBody>
          <a:bodyPr anchor="t" rtlCol="false" tIns="0" lIns="0" bIns="0" rIns="0">
            <a:spAutoFit/>
          </a:bodyPr>
          <a:lstStyle/>
          <a:p>
            <a:pPr algn="ctr">
              <a:lnSpc>
                <a:spcPts val="3840"/>
              </a:lnSpc>
            </a:pPr>
            <a:r>
              <a:rPr lang="en-US" b="true" sz="4042" spc="-101">
                <a:solidFill>
                  <a:srgbClr val="0B0A0A"/>
                </a:solidFill>
                <a:latin typeface="Montserrat Bold"/>
                <a:ea typeface="Montserrat Bold"/>
                <a:cs typeface="Montserrat Bold"/>
                <a:sym typeface="Montserrat Bold"/>
              </a:rPr>
              <a:t>Underlying Needs</a:t>
            </a:r>
          </a:p>
        </p:txBody>
      </p:sp>
      <p:sp>
        <p:nvSpPr>
          <p:cNvPr name="TextBox 4" id="4"/>
          <p:cNvSpPr txBox="true"/>
          <p:nvPr/>
        </p:nvSpPr>
        <p:spPr>
          <a:xfrm rot="0">
            <a:off x="1259442" y="2913786"/>
            <a:ext cx="5686770" cy="538510"/>
          </a:xfrm>
          <a:prstGeom prst="rect">
            <a:avLst/>
          </a:prstGeom>
        </p:spPr>
        <p:txBody>
          <a:bodyPr anchor="t" rtlCol="false" tIns="0" lIns="0" bIns="0" rIns="0">
            <a:spAutoFit/>
          </a:bodyPr>
          <a:lstStyle/>
          <a:p>
            <a:pPr algn="l" marL="410720" indent="-205360" lvl="1">
              <a:lnSpc>
                <a:spcPts val="2092"/>
              </a:lnSpc>
              <a:buFont typeface="Arial"/>
              <a:buChar char="•"/>
            </a:pPr>
            <a:r>
              <a:rPr lang="en-US" b="true" sz="1902" i="true" spc="152">
                <a:solidFill>
                  <a:srgbClr val="000000"/>
                </a:solidFill>
                <a:latin typeface="Poppins Bold Italics"/>
                <a:ea typeface="Poppins Bold Italics"/>
                <a:cs typeface="Poppins Bold Italics"/>
                <a:sym typeface="Poppins Bold Italics"/>
              </a:rPr>
              <a:t>A TRANSPARENT, BUILDABL</a:t>
            </a:r>
            <a:r>
              <a:rPr lang="en-US" b="true" sz="1902" i="true" spc="152">
                <a:solidFill>
                  <a:srgbClr val="000000"/>
                </a:solidFill>
                <a:latin typeface="Poppins Bold Italics"/>
                <a:ea typeface="Poppins Bold Italics"/>
                <a:cs typeface="Poppins Bold Italics"/>
                <a:sym typeface="Poppins Bold Italics"/>
              </a:rPr>
              <a:t>E ENGINE TO LEARN DATABASE INTERNALS FROM</a:t>
            </a:r>
          </a:p>
        </p:txBody>
      </p:sp>
      <p:sp>
        <p:nvSpPr>
          <p:cNvPr name="TextBox 5" id="5"/>
          <p:cNvSpPr txBox="true"/>
          <p:nvPr/>
        </p:nvSpPr>
        <p:spPr>
          <a:xfrm rot="0">
            <a:off x="3930602" y="3963804"/>
            <a:ext cx="5979823" cy="554726"/>
          </a:xfrm>
          <a:prstGeom prst="rect">
            <a:avLst/>
          </a:prstGeom>
        </p:spPr>
        <p:txBody>
          <a:bodyPr anchor="t" rtlCol="false" tIns="0" lIns="0" bIns="0" rIns="0">
            <a:spAutoFit/>
          </a:bodyPr>
          <a:lstStyle/>
          <a:p>
            <a:pPr algn="l" marL="412678" indent="-206339" lvl="1">
              <a:lnSpc>
                <a:spcPts val="2102"/>
              </a:lnSpc>
              <a:buFont typeface="Arial"/>
              <a:buChar char="•"/>
            </a:pPr>
            <a:r>
              <a:rPr lang="en-US" b="true" sz="1911" i="true" spc="152">
                <a:solidFill>
                  <a:srgbClr val="000000"/>
                </a:solidFill>
                <a:latin typeface="Poppins Bold Italics"/>
                <a:ea typeface="Poppins Bold Italics"/>
                <a:cs typeface="Poppins Bold Italics"/>
                <a:sym typeface="Poppins Bold Italics"/>
              </a:rPr>
              <a:t>A LIGHTW</a:t>
            </a:r>
            <a:r>
              <a:rPr lang="en-US" b="true" sz="1911" i="true" spc="152">
                <a:solidFill>
                  <a:srgbClr val="000000"/>
                </a:solidFill>
                <a:latin typeface="Poppins Bold Italics"/>
                <a:ea typeface="Poppins Bold Italics"/>
                <a:cs typeface="Poppins Bold Italics"/>
                <a:sym typeface="Poppins Bold Italics"/>
              </a:rPr>
              <a:t>EIGHT QUERY PROCESSOR WITH REAL SQL-STYLE SYNTAX SUPPORT</a:t>
            </a:r>
          </a:p>
        </p:txBody>
      </p:sp>
      <p:sp>
        <p:nvSpPr>
          <p:cNvPr name="TextBox 6" id="6"/>
          <p:cNvSpPr txBox="true"/>
          <p:nvPr/>
        </p:nvSpPr>
        <p:spPr>
          <a:xfrm rot="0">
            <a:off x="1259442" y="5036836"/>
            <a:ext cx="5746292" cy="538381"/>
          </a:xfrm>
          <a:prstGeom prst="rect">
            <a:avLst/>
          </a:prstGeom>
        </p:spPr>
        <p:txBody>
          <a:bodyPr anchor="t" rtlCol="false" tIns="0" lIns="0" bIns="0" rIns="0">
            <a:spAutoFit/>
          </a:bodyPr>
          <a:lstStyle/>
          <a:p>
            <a:pPr algn="l" marL="408534" indent="-204267" lvl="1">
              <a:lnSpc>
                <a:spcPts val="2081"/>
              </a:lnSpc>
              <a:buFont typeface="Arial"/>
              <a:buChar char="•"/>
            </a:pPr>
            <a:r>
              <a:rPr lang="en-US" b="true" sz="1892" i="true" spc="151">
                <a:solidFill>
                  <a:srgbClr val="000000"/>
                </a:solidFill>
                <a:latin typeface="Poppins Bold Italics"/>
                <a:ea typeface="Poppins Bold Italics"/>
                <a:cs typeface="Poppins Bold Italics"/>
                <a:sym typeface="Poppins Bold Italics"/>
              </a:rPr>
              <a:t>ACID-LIK</a:t>
            </a:r>
            <a:r>
              <a:rPr lang="en-US" b="true" sz="1892" i="true" spc="151">
                <a:solidFill>
                  <a:srgbClr val="000000"/>
                </a:solidFill>
                <a:latin typeface="Poppins Bold Italics"/>
                <a:ea typeface="Poppins Bold Italics"/>
                <a:cs typeface="Poppins Bold Italics"/>
                <a:sym typeface="Poppins Bold Italics"/>
              </a:rPr>
              <a:t>E TRANSACTION GUARANTEES — ATOMICITY AND ROLLBACK</a:t>
            </a:r>
          </a:p>
        </p:txBody>
      </p:sp>
      <p:sp>
        <p:nvSpPr>
          <p:cNvPr name="TextBox 7" id="7"/>
          <p:cNvSpPr txBox="true"/>
          <p:nvPr/>
        </p:nvSpPr>
        <p:spPr>
          <a:xfrm rot="0">
            <a:off x="3848075" y="5981313"/>
            <a:ext cx="6208320" cy="557674"/>
          </a:xfrm>
          <a:prstGeom prst="rect">
            <a:avLst/>
          </a:prstGeom>
        </p:spPr>
        <p:txBody>
          <a:bodyPr anchor="t" rtlCol="false" tIns="0" lIns="0" bIns="0" rIns="0">
            <a:spAutoFit/>
          </a:bodyPr>
          <a:lstStyle/>
          <a:p>
            <a:pPr algn="l" marL="412663" indent="-206331" lvl="1">
              <a:lnSpc>
                <a:spcPts val="2102"/>
              </a:lnSpc>
              <a:buFont typeface="Arial"/>
              <a:buChar char="•"/>
            </a:pPr>
            <a:r>
              <a:rPr lang="en-US" b="true" sz="1911" i="true" spc="152">
                <a:solidFill>
                  <a:srgbClr val="000000"/>
                </a:solidFill>
                <a:latin typeface="Poppins Bold Italics"/>
                <a:ea typeface="Poppins Bold Italics"/>
                <a:cs typeface="Poppins Bold Italics"/>
                <a:sym typeface="Poppins Bold Italics"/>
              </a:rPr>
              <a:t>A WORKING</a:t>
            </a:r>
            <a:r>
              <a:rPr lang="en-US" b="true" sz="1911" i="true" spc="152">
                <a:solidFill>
                  <a:srgbClr val="000000"/>
                </a:solidFill>
                <a:latin typeface="Poppins Bold Italics"/>
                <a:ea typeface="Poppins Bold Italics"/>
                <a:cs typeface="Poppins Bold Italics"/>
                <a:sym typeface="Poppins Bold Italics"/>
              </a:rPr>
              <a:t> ARTIFACT THAT PROVES IMPLEMENTATION-LEVEL UNDERSTANDING</a:t>
            </a:r>
          </a:p>
        </p:txBody>
      </p:sp>
      <p:sp>
        <p:nvSpPr>
          <p:cNvPr name="TextBox 8" id="8"/>
          <p:cNvSpPr txBox="true"/>
          <p:nvPr/>
        </p:nvSpPr>
        <p:spPr>
          <a:xfrm rot="0">
            <a:off x="10471965" y="1555606"/>
            <a:ext cx="4430942" cy="509349"/>
          </a:xfrm>
          <a:prstGeom prst="rect">
            <a:avLst/>
          </a:prstGeom>
        </p:spPr>
        <p:txBody>
          <a:bodyPr anchor="t" rtlCol="false" tIns="0" lIns="0" bIns="0" rIns="0">
            <a:spAutoFit/>
          </a:bodyPr>
          <a:lstStyle/>
          <a:p>
            <a:pPr algn="ctr">
              <a:lnSpc>
                <a:spcPts val="3840"/>
              </a:lnSpc>
            </a:pPr>
            <a:r>
              <a:rPr lang="en-US" b="true" sz="4042" spc="-101">
                <a:solidFill>
                  <a:srgbClr val="0B0A0A"/>
                </a:solidFill>
                <a:latin typeface="Montserrat Bold"/>
                <a:ea typeface="Montserrat Bold"/>
                <a:cs typeface="Montserrat Bold"/>
                <a:sym typeface="Montserrat Bold"/>
              </a:rPr>
              <a:t>Build Priority</a:t>
            </a:r>
          </a:p>
        </p:txBody>
      </p:sp>
      <p:grpSp>
        <p:nvGrpSpPr>
          <p:cNvPr name="Group 9" id="9"/>
          <p:cNvGrpSpPr/>
          <p:nvPr/>
        </p:nvGrpSpPr>
        <p:grpSpPr>
          <a:xfrm rot="-5400000">
            <a:off x="902059" y="-9863384"/>
            <a:ext cx="3313659" cy="18781158"/>
            <a:chOff x="0" y="0"/>
            <a:chExt cx="872733" cy="4946478"/>
          </a:xfrm>
        </p:grpSpPr>
        <p:sp>
          <p:nvSpPr>
            <p:cNvPr name="Freeform 10" id="10"/>
            <p:cNvSpPr/>
            <p:nvPr/>
          </p:nvSpPr>
          <p:spPr>
            <a:xfrm flipH="false" flipV="false" rot="0">
              <a:off x="0" y="0"/>
              <a:ext cx="872733" cy="4946478"/>
            </a:xfrm>
            <a:custGeom>
              <a:avLst/>
              <a:gdLst/>
              <a:ahLst/>
              <a:cxnLst/>
              <a:rect r="r" b="b" t="t" l="l"/>
              <a:pathLst>
                <a:path h="4946478" w="872733">
                  <a:moveTo>
                    <a:pt x="0" y="0"/>
                  </a:moveTo>
                  <a:lnTo>
                    <a:pt x="872733" y="0"/>
                  </a:lnTo>
                  <a:lnTo>
                    <a:pt x="872733" y="4946478"/>
                  </a:lnTo>
                  <a:lnTo>
                    <a:pt x="0" y="4946478"/>
                  </a:lnTo>
                  <a:close/>
                </a:path>
              </a:pathLst>
            </a:custGeom>
            <a:solidFill>
              <a:srgbClr val="E2C39D">
                <a:alpha val="91765"/>
              </a:srgbClr>
            </a:solidFill>
          </p:spPr>
        </p:sp>
        <p:sp>
          <p:nvSpPr>
            <p:cNvPr name="TextBox 11" id="11"/>
            <p:cNvSpPr txBox="true"/>
            <p:nvPr/>
          </p:nvSpPr>
          <p:spPr>
            <a:xfrm>
              <a:off x="0" y="-85725"/>
              <a:ext cx="872733" cy="5032203"/>
            </a:xfrm>
            <a:prstGeom prst="rect">
              <a:avLst/>
            </a:prstGeom>
          </p:spPr>
          <p:txBody>
            <a:bodyPr anchor="ctr" rtlCol="false" tIns="50800" lIns="50800" bIns="50800" rIns="50800"/>
            <a:lstStyle/>
            <a:p>
              <a:pPr algn="ctr">
                <a:lnSpc>
                  <a:spcPts val="2239"/>
                </a:lnSpc>
              </a:pPr>
            </a:p>
          </p:txBody>
        </p:sp>
      </p:grpSp>
      <p:sp>
        <p:nvSpPr>
          <p:cNvPr name="TextBox 12" id="12"/>
          <p:cNvSpPr txBox="true"/>
          <p:nvPr/>
        </p:nvSpPr>
        <p:spPr>
          <a:xfrm rot="0">
            <a:off x="0" y="-78114"/>
            <a:ext cx="11081140" cy="1106814"/>
          </a:xfrm>
          <a:prstGeom prst="rect">
            <a:avLst/>
          </a:prstGeom>
        </p:spPr>
        <p:txBody>
          <a:bodyPr anchor="t" rtlCol="false" tIns="0" lIns="0" bIns="0" rIns="0">
            <a:spAutoFit/>
          </a:bodyPr>
          <a:lstStyle/>
          <a:p>
            <a:pPr algn="ctr">
              <a:lnSpc>
                <a:spcPts val="7769"/>
              </a:lnSpc>
              <a:spcBef>
                <a:spcPct val="0"/>
              </a:spcBef>
            </a:pPr>
            <a:r>
              <a:rPr lang="en-US" b="true" sz="5549">
                <a:solidFill>
                  <a:srgbClr val="000000"/>
                </a:solidFill>
                <a:latin typeface="Agrandir Bold"/>
                <a:ea typeface="Agrandir Bold"/>
                <a:cs typeface="Agrandir Bold"/>
                <a:sym typeface="Agrandir Bold"/>
              </a:rPr>
              <a:t>Underlying Needs and Priority</a:t>
            </a:r>
          </a:p>
        </p:txBody>
      </p:sp>
      <p:grpSp>
        <p:nvGrpSpPr>
          <p:cNvPr name="Group 13" id="13"/>
          <p:cNvGrpSpPr/>
          <p:nvPr/>
        </p:nvGrpSpPr>
        <p:grpSpPr>
          <a:xfrm rot="-4360021">
            <a:off x="15283737" y="-9430328"/>
            <a:ext cx="3313659" cy="18781158"/>
            <a:chOff x="0" y="0"/>
            <a:chExt cx="872733" cy="4946478"/>
          </a:xfrm>
        </p:grpSpPr>
        <p:sp>
          <p:nvSpPr>
            <p:cNvPr name="Freeform 14" id="14"/>
            <p:cNvSpPr/>
            <p:nvPr/>
          </p:nvSpPr>
          <p:spPr>
            <a:xfrm flipH="false" flipV="false" rot="0">
              <a:off x="0" y="0"/>
              <a:ext cx="872733" cy="4946478"/>
            </a:xfrm>
            <a:custGeom>
              <a:avLst/>
              <a:gdLst/>
              <a:ahLst/>
              <a:cxnLst/>
              <a:rect r="r" b="b" t="t" l="l"/>
              <a:pathLst>
                <a:path h="4946478" w="872733">
                  <a:moveTo>
                    <a:pt x="0" y="0"/>
                  </a:moveTo>
                  <a:lnTo>
                    <a:pt x="872733" y="0"/>
                  </a:lnTo>
                  <a:lnTo>
                    <a:pt x="872733" y="4946478"/>
                  </a:lnTo>
                  <a:lnTo>
                    <a:pt x="0" y="4946478"/>
                  </a:lnTo>
                  <a:close/>
                </a:path>
              </a:pathLst>
            </a:custGeom>
            <a:solidFill>
              <a:srgbClr val="1A2A49">
                <a:alpha val="91765"/>
              </a:srgbClr>
            </a:solidFill>
          </p:spPr>
        </p:sp>
        <p:sp>
          <p:nvSpPr>
            <p:cNvPr name="TextBox 15" id="15"/>
            <p:cNvSpPr txBox="true"/>
            <p:nvPr/>
          </p:nvSpPr>
          <p:spPr>
            <a:xfrm>
              <a:off x="0" y="-85725"/>
              <a:ext cx="872733" cy="5032203"/>
            </a:xfrm>
            <a:prstGeom prst="rect">
              <a:avLst/>
            </a:prstGeom>
          </p:spPr>
          <p:txBody>
            <a:bodyPr anchor="ctr" rtlCol="false" tIns="50800" lIns="50800" bIns="50800" rIns="50800"/>
            <a:lstStyle/>
            <a:p>
              <a:pPr algn="ctr">
                <a:lnSpc>
                  <a:spcPts val="2239"/>
                </a:lnSpc>
              </a:pPr>
            </a:p>
          </p:txBody>
        </p:sp>
      </p:grpSp>
      <p:sp>
        <p:nvSpPr>
          <p:cNvPr name="Freeform 16" id="16"/>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26093">
            <a:off x="13634348" y="-638360"/>
            <a:ext cx="6737158" cy="1276721"/>
          </a:xfrm>
          <a:custGeom>
            <a:avLst/>
            <a:gdLst/>
            <a:ahLst/>
            <a:cxnLst/>
            <a:rect r="r" b="b" t="t" l="l"/>
            <a:pathLst>
              <a:path h="1276721" w="6737158">
                <a:moveTo>
                  <a:pt x="0" y="0"/>
                </a:moveTo>
                <a:lnTo>
                  <a:pt x="6737158" y="0"/>
                </a:lnTo>
                <a:lnTo>
                  <a:pt x="6737158" y="1276720"/>
                </a:lnTo>
                <a:lnTo>
                  <a:pt x="0" y="12767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779114" y="-382607"/>
            <a:ext cx="447626" cy="765214"/>
          </a:xfrm>
          <a:custGeom>
            <a:avLst/>
            <a:gdLst/>
            <a:ahLst/>
            <a:cxnLst/>
            <a:rect r="r" b="b" t="t" l="l"/>
            <a:pathLst>
              <a:path h="765214" w="447626">
                <a:moveTo>
                  <a:pt x="0" y="0"/>
                </a:moveTo>
                <a:lnTo>
                  <a:pt x="447626" y="0"/>
                </a:lnTo>
                <a:lnTo>
                  <a:pt x="447626" y="765214"/>
                </a:lnTo>
                <a:lnTo>
                  <a:pt x="0" y="765214"/>
                </a:lnTo>
                <a:lnTo>
                  <a:pt x="0" y="0"/>
                </a:lnTo>
                <a:close/>
              </a:path>
            </a:pathLst>
          </a:custGeom>
          <a:blipFill>
            <a:blip r:embed="rId4">
              <a:extLst>
                <a:ext uri="{96DAC541-7B7A-43D3-8B79-37D633B846F1}">
                  <asvg:svgBlip xmlns:asvg="http://schemas.microsoft.com/office/drawing/2016/SVG/main" r:embed="rId5"/>
                </a:ext>
              </a:extLst>
            </a:blip>
            <a:stretch>
              <a:fillRect l="0" t="-54452" r="0" b="0"/>
            </a:stretch>
          </a:blipFill>
        </p:spPr>
      </p:sp>
      <p:sp>
        <p:nvSpPr>
          <p:cNvPr name="Freeform 4" id="4"/>
          <p:cNvSpPr/>
          <p:nvPr/>
        </p:nvSpPr>
        <p:spPr>
          <a:xfrm flipH="false" flipV="false" rot="0">
            <a:off x="363623" y="9734598"/>
            <a:ext cx="2914981" cy="552402"/>
          </a:xfrm>
          <a:custGeom>
            <a:avLst/>
            <a:gdLst/>
            <a:ahLst/>
            <a:cxnLst/>
            <a:rect r="r" b="b" t="t" l="l"/>
            <a:pathLst>
              <a:path h="552402" w="2914981">
                <a:moveTo>
                  <a:pt x="0" y="0"/>
                </a:moveTo>
                <a:lnTo>
                  <a:pt x="2914980" y="0"/>
                </a:lnTo>
                <a:lnTo>
                  <a:pt x="2914980" y="552402"/>
                </a:lnTo>
                <a:lnTo>
                  <a:pt x="0" y="55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8994522"/>
            <a:ext cx="2142327" cy="740077"/>
          </a:xfrm>
          <a:custGeom>
            <a:avLst/>
            <a:gdLst/>
            <a:ahLst/>
            <a:cxnLst/>
            <a:rect r="r" b="b" t="t" l="l"/>
            <a:pathLst>
              <a:path h="740077" w="2142327">
                <a:moveTo>
                  <a:pt x="0" y="0"/>
                </a:moveTo>
                <a:lnTo>
                  <a:pt x="2142327" y="0"/>
                </a:lnTo>
                <a:lnTo>
                  <a:pt x="2142327" y="740076"/>
                </a:lnTo>
                <a:lnTo>
                  <a:pt x="0" y="740076"/>
                </a:lnTo>
                <a:lnTo>
                  <a:pt x="0" y="0"/>
                </a:lnTo>
                <a:close/>
              </a:path>
            </a:pathLst>
          </a:custGeom>
          <a:blipFill>
            <a:blip r:embed="rId6">
              <a:alphaModFix amt="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3046615">
            <a:off x="-2365427" y="3032949"/>
            <a:ext cx="1736156" cy="10912834"/>
            <a:chOff x="0" y="0"/>
            <a:chExt cx="457259" cy="2874162"/>
          </a:xfrm>
        </p:grpSpPr>
        <p:sp>
          <p:nvSpPr>
            <p:cNvPr name="Freeform 7" id="7"/>
            <p:cNvSpPr/>
            <p:nvPr/>
          </p:nvSpPr>
          <p:spPr>
            <a:xfrm flipH="false" flipV="false" rot="0">
              <a:off x="0" y="0"/>
              <a:ext cx="457259" cy="2874162"/>
            </a:xfrm>
            <a:custGeom>
              <a:avLst/>
              <a:gdLst/>
              <a:ahLst/>
              <a:cxnLst/>
              <a:rect r="r" b="b" t="t" l="l"/>
              <a:pathLst>
                <a:path h="2874162" w="457259">
                  <a:moveTo>
                    <a:pt x="0" y="0"/>
                  </a:moveTo>
                  <a:lnTo>
                    <a:pt x="457259" y="0"/>
                  </a:lnTo>
                  <a:lnTo>
                    <a:pt x="457259" y="2874162"/>
                  </a:lnTo>
                  <a:lnTo>
                    <a:pt x="0" y="2874162"/>
                  </a:lnTo>
                  <a:close/>
                </a:path>
              </a:pathLst>
            </a:custGeom>
            <a:solidFill>
              <a:srgbClr val="112041">
                <a:alpha val="91765"/>
              </a:srgbClr>
            </a:solidFill>
          </p:spPr>
        </p:sp>
        <p:sp>
          <p:nvSpPr>
            <p:cNvPr name="TextBox 8" id="8"/>
            <p:cNvSpPr txBox="true"/>
            <p:nvPr/>
          </p:nvSpPr>
          <p:spPr>
            <a:xfrm>
              <a:off x="0" y="-85725"/>
              <a:ext cx="457259" cy="2959887"/>
            </a:xfrm>
            <a:prstGeom prst="rect">
              <a:avLst/>
            </a:prstGeom>
          </p:spPr>
          <p:txBody>
            <a:bodyPr anchor="ctr" rtlCol="false" tIns="50800" lIns="50800" bIns="50800" rIns="50800"/>
            <a:lstStyle/>
            <a:p>
              <a:pPr algn="ctr">
                <a:lnSpc>
                  <a:spcPts val="2239"/>
                </a:lnSpc>
              </a:pPr>
            </a:p>
          </p:txBody>
        </p:sp>
      </p:grpSp>
      <p:sp>
        <p:nvSpPr>
          <p:cNvPr name="Freeform 9" id="9"/>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8"/>
            <a:stretch>
              <a:fillRect l="0" t="0" r="0" b="0"/>
            </a:stretch>
          </a:blipFill>
        </p:spPr>
      </p:sp>
      <p:grpSp>
        <p:nvGrpSpPr>
          <p:cNvPr name="Group 10" id="10"/>
          <p:cNvGrpSpPr/>
          <p:nvPr/>
        </p:nvGrpSpPr>
        <p:grpSpPr>
          <a:xfrm rot="-7415426">
            <a:off x="17268420" y="3261326"/>
            <a:ext cx="2576254" cy="10912834"/>
            <a:chOff x="0" y="0"/>
            <a:chExt cx="678519" cy="2874162"/>
          </a:xfrm>
        </p:grpSpPr>
        <p:sp>
          <p:nvSpPr>
            <p:cNvPr name="Freeform 11" id="11"/>
            <p:cNvSpPr/>
            <p:nvPr/>
          </p:nvSpPr>
          <p:spPr>
            <a:xfrm flipH="false" flipV="false" rot="0">
              <a:off x="0" y="0"/>
              <a:ext cx="678519" cy="2874162"/>
            </a:xfrm>
            <a:custGeom>
              <a:avLst/>
              <a:gdLst/>
              <a:ahLst/>
              <a:cxnLst/>
              <a:rect r="r" b="b" t="t" l="l"/>
              <a:pathLst>
                <a:path h="2874162" w="678519">
                  <a:moveTo>
                    <a:pt x="0" y="0"/>
                  </a:moveTo>
                  <a:lnTo>
                    <a:pt x="678519" y="0"/>
                  </a:lnTo>
                  <a:lnTo>
                    <a:pt x="678519" y="2874162"/>
                  </a:lnTo>
                  <a:lnTo>
                    <a:pt x="0" y="2874162"/>
                  </a:lnTo>
                  <a:close/>
                </a:path>
              </a:pathLst>
            </a:custGeom>
            <a:solidFill>
              <a:srgbClr val="112041">
                <a:alpha val="91765"/>
              </a:srgbClr>
            </a:solidFill>
          </p:spPr>
        </p:sp>
        <p:sp>
          <p:nvSpPr>
            <p:cNvPr name="TextBox 12" id="12"/>
            <p:cNvSpPr txBox="true"/>
            <p:nvPr/>
          </p:nvSpPr>
          <p:spPr>
            <a:xfrm>
              <a:off x="0" y="-85725"/>
              <a:ext cx="678519" cy="2959887"/>
            </a:xfrm>
            <a:prstGeom prst="rect">
              <a:avLst/>
            </a:prstGeom>
          </p:spPr>
          <p:txBody>
            <a:bodyPr anchor="ctr" rtlCol="false" tIns="50800" lIns="50800" bIns="50800" rIns="50800"/>
            <a:lstStyle/>
            <a:p>
              <a:pPr algn="ctr">
                <a:lnSpc>
                  <a:spcPts val="2239"/>
                </a:lnSpc>
              </a:pPr>
            </a:p>
          </p:txBody>
        </p:sp>
      </p:grpSp>
      <p:grpSp>
        <p:nvGrpSpPr>
          <p:cNvPr name="Group 13" id="13"/>
          <p:cNvGrpSpPr/>
          <p:nvPr/>
        </p:nvGrpSpPr>
        <p:grpSpPr>
          <a:xfrm rot="0">
            <a:off x="10300142" y="2161535"/>
            <a:ext cx="7682591" cy="6832987"/>
            <a:chOff x="0" y="0"/>
            <a:chExt cx="1651605" cy="1468957"/>
          </a:xfrm>
        </p:grpSpPr>
        <p:sp>
          <p:nvSpPr>
            <p:cNvPr name="Freeform 14" id="14"/>
            <p:cNvSpPr/>
            <p:nvPr/>
          </p:nvSpPr>
          <p:spPr>
            <a:xfrm flipH="false" flipV="false" rot="0">
              <a:off x="0" y="0"/>
              <a:ext cx="1651605" cy="1468957"/>
            </a:xfrm>
            <a:custGeom>
              <a:avLst/>
              <a:gdLst/>
              <a:ahLst/>
              <a:cxnLst/>
              <a:rect r="r" b="b" t="t" l="l"/>
              <a:pathLst>
                <a:path h="1468957" w="1651605">
                  <a:moveTo>
                    <a:pt x="52402" y="0"/>
                  </a:moveTo>
                  <a:lnTo>
                    <a:pt x="1599203" y="0"/>
                  </a:lnTo>
                  <a:cubicBezTo>
                    <a:pt x="1628144" y="0"/>
                    <a:pt x="1651605" y="23461"/>
                    <a:pt x="1651605" y="52402"/>
                  </a:cubicBezTo>
                  <a:lnTo>
                    <a:pt x="1651605" y="1416555"/>
                  </a:lnTo>
                  <a:cubicBezTo>
                    <a:pt x="1651605" y="1430453"/>
                    <a:pt x="1646084" y="1443781"/>
                    <a:pt x="1636257" y="1453609"/>
                  </a:cubicBezTo>
                  <a:cubicBezTo>
                    <a:pt x="1626430" y="1463436"/>
                    <a:pt x="1613101" y="1468957"/>
                    <a:pt x="1599203" y="1468957"/>
                  </a:cubicBezTo>
                  <a:lnTo>
                    <a:pt x="52402" y="1468957"/>
                  </a:lnTo>
                  <a:cubicBezTo>
                    <a:pt x="23461" y="1468957"/>
                    <a:pt x="0" y="1445496"/>
                    <a:pt x="0" y="1416555"/>
                  </a:cubicBezTo>
                  <a:lnTo>
                    <a:pt x="0" y="52402"/>
                  </a:lnTo>
                  <a:cubicBezTo>
                    <a:pt x="0" y="23461"/>
                    <a:pt x="23461" y="0"/>
                    <a:pt x="52402" y="0"/>
                  </a:cubicBezTo>
                  <a:close/>
                </a:path>
              </a:pathLst>
            </a:custGeom>
            <a:blipFill>
              <a:blip r:embed="rId9"/>
              <a:stretch>
                <a:fillRect l="-47336" t="0" r="-45953" b="0"/>
              </a:stretch>
            </a:blipFill>
          </p:spPr>
        </p:sp>
      </p:grpSp>
      <p:sp>
        <p:nvSpPr>
          <p:cNvPr name="TextBox 15" id="15"/>
          <p:cNvSpPr txBox="true"/>
          <p:nvPr/>
        </p:nvSpPr>
        <p:spPr>
          <a:xfrm rot="0">
            <a:off x="-836603" y="-151813"/>
            <a:ext cx="13851837" cy="1286607"/>
          </a:xfrm>
          <a:prstGeom prst="rect">
            <a:avLst/>
          </a:prstGeom>
        </p:spPr>
        <p:txBody>
          <a:bodyPr anchor="t" rtlCol="false" tIns="0" lIns="0" bIns="0" rIns="0">
            <a:spAutoFit/>
          </a:bodyPr>
          <a:lstStyle/>
          <a:p>
            <a:pPr algn="ctr">
              <a:lnSpc>
                <a:spcPts val="9088"/>
              </a:lnSpc>
              <a:spcBef>
                <a:spcPct val="0"/>
              </a:spcBef>
            </a:pPr>
            <a:r>
              <a:rPr lang="en-US" b="true" sz="6491">
                <a:solidFill>
                  <a:srgbClr val="000000"/>
                </a:solidFill>
                <a:latin typeface="Agrandir Bold"/>
                <a:ea typeface="Agrandir Bold"/>
                <a:cs typeface="Agrandir Bold"/>
                <a:sym typeface="Agrandir Bold"/>
              </a:rPr>
              <a:t>Project Objectives </a:t>
            </a:r>
          </a:p>
        </p:txBody>
      </p:sp>
      <p:grpSp>
        <p:nvGrpSpPr>
          <p:cNvPr name="Group 16" id="16"/>
          <p:cNvGrpSpPr/>
          <p:nvPr/>
        </p:nvGrpSpPr>
        <p:grpSpPr>
          <a:xfrm rot="0">
            <a:off x="1855431" y="2477470"/>
            <a:ext cx="6549283" cy="6240272"/>
            <a:chOff x="0" y="0"/>
            <a:chExt cx="925344" cy="881684"/>
          </a:xfrm>
        </p:grpSpPr>
        <p:sp>
          <p:nvSpPr>
            <p:cNvPr name="Freeform 17" id="17"/>
            <p:cNvSpPr/>
            <p:nvPr/>
          </p:nvSpPr>
          <p:spPr>
            <a:xfrm flipH="false" flipV="false" rot="0">
              <a:off x="0" y="0"/>
              <a:ext cx="925344" cy="881684"/>
            </a:xfrm>
            <a:custGeom>
              <a:avLst/>
              <a:gdLst/>
              <a:ahLst/>
              <a:cxnLst/>
              <a:rect r="r" b="b" t="t" l="l"/>
              <a:pathLst>
                <a:path h="881684" w="925344">
                  <a:moveTo>
                    <a:pt x="61469" y="0"/>
                  </a:moveTo>
                  <a:lnTo>
                    <a:pt x="863875" y="0"/>
                  </a:lnTo>
                  <a:cubicBezTo>
                    <a:pt x="880178" y="0"/>
                    <a:pt x="895813" y="6476"/>
                    <a:pt x="907340" y="18004"/>
                  </a:cubicBezTo>
                  <a:cubicBezTo>
                    <a:pt x="918868" y="29532"/>
                    <a:pt x="925344" y="45167"/>
                    <a:pt x="925344" y="61469"/>
                  </a:cubicBezTo>
                  <a:lnTo>
                    <a:pt x="925344" y="820215"/>
                  </a:lnTo>
                  <a:cubicBezTo>
                    <a:pt x="925344" y="854164"/>
                    <a:pt x="897824" y="881684"/>
                    <a:pt x="863875" y="881684"/>
                  </a:cubicBezTo>
                  <a:lnTo>
                    <a:pt x="61469" y="881684"/>
                  </a:lnTo>
                  <a:cubicBezTo>
                    <a:pt x="45167" y="881684"/>
                    <a:pt x="29532" y="875208"/>
                    <a:pt x="18004" y="863680"/>
                  </a:cubicBezTo>
                  <a:cubicBezTo>
                    <a:pt x="6476" y="852153"/>
                    <a:pt x="0" y="836518"/>
                    <a:pt x="0" y="820215"/>
                  </a:cubicBezTo>
                  <a:lnTo>
                    <a:pt x="0" y="61469"/>
                  </a:lnTo>
                  <a:cubicBezTo>
                    <a:pt x="0" y="45167"/>
                    <a:pt x="6476" y="29532"/>
                    <a:pt x="18004" y="18004"/>
                  </a:cubicBezTo>
                  <a:cubicBezTo>
                    <a:pt x="29532" y="6476"/>
                    <a:pt x="45167" y="0"/>
                    <a:pt x="61469" y="0"/>
                  </a:cubicBezTo>
                  <a:close/>
                </a:path>
              </a:pathLst>
            </a:custGeom>
            <a:solidFill>
              <a:srgbClr val="E2C39D">
                <a:alpha val="58824"/>
              </a:srgbClr>
            </a:solidFill>
          </p:spPr>
        </p:sp>
      </p:grpSp>
      <p:sp>
        <p:nvSpPr>
          <p:cNvPr name="TextBox 18" id="18"/>
          <p:cNvSpPr txBox="true"/>
          <p:nvPr/>
        </p:nvSpPr>
        <p:spPr>
          <a:xfrm rot="0">
            <a:off x="798228" y="1905284"/>
            <a:ext cx="4960751" cy="416354"/>
          </a:xfrm>
          <a:prstGeom prst="rect">
            <a:avLst/>
          </a:prstGeom>
        </p:spPr>
        <p:txBody>
          <a:bodyPr anchor="t" rtlCol="false" tIns="0" lIns="0" bIns="0" rIns="0">
            <a:spAutoFit/>
          </a:bodyPr>
          <a:lstStyle/>
          <a:p>
            <a:pPr algn="ctr">
              <a:lnSpc>
                <a:spcPts val="3153"/>
              </a:lnSpc>
            </a:pPr>
            <a:r>
              <a:rPr lang="en-US" b="true" sz="3319" spc="-82">
                <a:solidFill>
                  <a:srgbClr val="0B0A0A"/>
                </a:solidFill>
                <a:latin typeface="Montserrat Bold"/>
                <a:ea typeface="Montserrat Bold"/>
                <a:cs typeface="Montserrat Bold"/>
                <a:sym typeface="Montserrat Bold"/>
              </a:rPr>
              <a:t>Objectives</a:t>
            </a:r>
          </a:p>
        </p:txBody>
      </p:sp>
      <p:sp>
        <p:nvSpPr>
          <p:cNvPr name="TextBox 19" id="19"/>
          <p:cNvSpPr txBox="true"/>
          <p:nvPr/>
        </p:nvSpPr>
        <p:spPr>
          <a:xfrm rot="0">
            <a:off x="1855431" y="2597863"/>
            <a:ext cx="6549283" cy="638512"/>
          </a:xfrm>
          <a:prstGeom prst="rect">
            <a:avLst/>
          </a:prstGeom>
        </p:spPr>
        <p:txBody>
          <a:bodyPr anchor="t" rtlCol="false" tIns="0" lIns="0" bIns="0" rIns="0">
            <a:spAutoFit/>
          </a:bodyPr>
          <a:lstStyle/>
          <a:p>
            <a:pPr algn="l" marL="475009" indent="-237504" lvl="1">
              <a:lnSpc>
                <a:spcPts val="2420"/>
              </a:lnSpc>
              <a:buFont typeface="Arial"/>
              <a:buChar char="•"/>
            </a:pPr>
            <a:r>
              <a:rPr lang="en-US" sz="2200" spc="176">
                <a:solidFill>
                  <a:srgbClr val="000000"/>
                </a:solidFill>
                <a:latin typeface="Poppins"/>
                <a:ea typeface="Poppins"/>
                <a:cs typeface="Poppins"/>
                <a:sym typeface="Poppins"/>
              </a:rPr>
              <a:t>D</a:t>
            </a:r>
            <a:r>
              <a:rPr lang="en-US" sz="2200" spc="176">
                <a:solidFill>
                  <a:srgbClr val="000000"/>
                </a:solidFill>
                <a:latin typeface="Poppins"/>
                <a:ea typeface="Poppins"/>
                <a:cs typeface="Poppins"/>
                <a:sym typeface="Poppins"/>
              </a:rPr>
              <a:t>esign a storage engine with typed columns &amp; constraints (PK, NOT NULL)</a:t>
            </a:r>
          </a:p>
        </p:txBody>
      </p:sp>
      <p:sp>
        <p:nvSpPr>
          <p:cNvPr name="TextBox 20" id="20"/>
          <p:cNvSpPr txBox="true"/>
          <p:nvPr/>
        </p:nvSpPr>
        <p:spPr>
          <a:xfrm rot="0">
            <a:off x="1855431" y="3512599"/>
            <a:ext cx="6549283" cy="943797"/>
          </a:xfrm>
          <a:prstGeom prst="rect">
            <a:avLst/>
          </a:prstGeom>
        </p:spPr>
        <p:txBody>
          <a:bodyPr anchor="t" rtlCol="false" tIns="0" lIns="0" bIns="0" rIns="0">
            <a:spAutoFit/>
          </a:bodyPr>
          <a:lstStyle/>
          <a:p>
            <a:pPr algn="l" marL="475009" indent="-237504" lvl="1">
              <a:lnSpc>
                <a:spcPts val="2420"/>
              </a:lnSpc>
              <a:buFont typeface="Arial"/>
              <a:buChar char="•"/>
            </a:pPr>
            <a:r>
              <a:rPr lang="en-US" sz="2200" spc="176">
                <a:solidFill>
                  <a:srgbClr val="000000"/>
                </a:solidFill>
                <a:latin typeface="Poppins"/>
                <a:ea typeface="Poppins"/>
                <a:cs typeface="Poppins"/>
                <a:sym typeface="Poppins"/>
              </a:rPr>
              <a:t>Impl</a:t>
            </a:r>
            <a:r>
              <a:rPr lang="en-US" sz="2200" spc="176">
                <a:solidFill>
                  <a:srgbClr val="000000"/>
                </a:solidFill>
                <a:latin typeface="Poppins"/>
                <a:ea typeface="Poppins"/>
                <a:cs typeface="Poppins"/>
                <a:sym typeface="Poppins"/>
              </a:rPr>
              <a:t>ement a SQL-subset parser — CREATE, INSERT, SELECT (WHERE), UPDATE, DELETE</a:t>
            </a:r>
          </a:p>
        </p:txBody>
      </p:sp>
      <p:sp>
        <p:nvSpPr>
          <p:cNvPr name="TextBox 21" id="21"/>
          <p:cNvSpPr txBox="true"/>
          <p:nvPr/>
        </p:nvSpPr>
        <p:spPr>
          <a:xfrm rot="0">
            <a:off x="1729625" y="5002989"/>
            <a:ext cx="6554639" cy="639034"/>
          </a:xfrm>
          <a:prstGeom prst="rect">
            <a:avLst/>
          </a:prstGeom>
        </p:spPr>
        <p:txBody>
          <a:bodyPr anchor="t" rtlCol="false" tIns="0" lIns="0" bIns="0" rIns="0">
            <a:spAutoFit/>
          </a:bodyPr>
          <a:lstStyle/>
          <a:p>
            <a:pPr algn="l" marL="475397" indent="-237699" lvl="1">
              <a:lnSpc>
                <a:spcPts val="2422"/>
              </a:lnSpc>
              <a:buFont typeface="Arial"/>
              <a:buChar char="•"/>
            </a:pPr>
            <a:r>
              <a:rPr lang="en-US" sz="2201" spc="176">
                <a:solidFill>
                  <a:srgbClr val="000000"/>
                </a:solidFill>
                <a:latin typeface="Poppins"/>
                <a:ea typeface="Poppins"/>
                <a:cs typeface="Poppins"/>
                <a:sym typeface="Poppins"/>
              </a:rPr>
              <a:t>Build an </a:t>
            </a:r>
            <a:r>
              <a:rPr lang="en-US" sz="2201" spc="176">
                <a:solidFill>
                  <a:srgbClr val="000000"/>
                </a:solidFill>
                <a:latin typeface="Poppins"/>
                <a:ea typeface="Poppins"/>
                <a:cs typeface="Poppins"/>
                <a:sym typeface="Poppins"/>
              </a:rPr>
              <a:t>execution engine returning correct results against storage</a:t>
            </a:r>
          </a:p>
        </p:txBody>
      </p:sp>
      <p:sp>
        <p:nvSpPr>
          <p:cNvPr name="TextBox 22" id="22"/>
          <p:cNvSpPr txBox="true"/>
          <p:nvPr/>
        </p:nvSpPr>
        <p:spPr>
          <a:xfrm rot="0">
            <a:off x="1729625" y="5972578"/>
            <a:ext cx="6400051" cy="623963"/>
          </a:xfrm>
          <a:prstGeom prst="rect">
            <a:avLst/>
          </a:prstGeom>
        </p:spPr>
        <p:txBody>
          <a:bodyPr anchor="t" rtlCol="false" tIns="0" lIns="0" bIns="0" rIns="0">
            <a:spAutoFit/>
          </a:bodyPr>
          <a:lstStyle/>
          <a:p>
            <a:pPr algn="l" marL="464185" indent="-232093" lvl="1">
              <a:lnSpc>
                <a:spcPts val="2365"/>
              </a:lnSpc>
              <a:buFont typeface="Arial"/>
              <a:buChar char="•"/>
            </a:pPr>
            <a:r>
              <a:rPr lang="en-US" sz="2150" spc="172">
                <a:solidFill>
                  <a:srgbClr val="000000"/>
                </a:solidFill>
                <a:latin typeface="Poppins"/>
                <a:ea typeface="Poppins"/>
                <a:cs typeface="Poppins"/>
                <a:sym typeface="Poppins"/>
              </a:rPr>
              <a:t>Impl</a:t>
            </a:r>
            <a:r>
              <a:rPr lang="en-US" sz="2150" spc="172">
                <a:solidFill>
                  <a:srgbClr val="000000"/>
                </a:solidFill>
                <a:latin typeface="Poppins"/>
                <a:ea typeface="Poppins"/>
                <a:cs typeface="Poppins"/>
                <a:sym typeface="Poppins"/>
              </a:rPr>
              <a:t>ement BEGIN / COMMIT / ROLLBACK with atomicity guarantees</a:t>
            </a:r>
          </a:p>
        </p:txBody>
      </p:sp>
      <p:sp>
        <p:nvSpPr>
          <p:cNvPr name="TextBox 23" id="23"/>
          <p:cNvSpPr txBox="true"/>
          <p:nvPr/>
        </p:nvSpPr>
        <p:spPr>
          <a:xfrm rot="0">
            <a:off x="1729625" y="6981561"/>
            <a:ext cx="6400051" cy="610991"/>
          </a:xfrm>
          <a:prstGeom prst="rect">
            <a:avLst/>
          </a:prstGeom>
        </p:spPr>
        <p:txBody>
          <a:bodyPr anchor="t" rtlCol="false" tIns="0" lIns="0" bIns="0" rIns="0">
            <a:spAutoFit/>
          </a:bodyPr>
          <a:lstStyle/>
          <a:p>
            <a:pPr algn="l" marL="454535" indent="-227268" lvl="1">
              <a:lnSpc>
                <a:spcPts val="2315"/>
              </a:lnSpc>
              <a:buFont typeface="Arial"/>
              <a:buChar char="•"/>
            </a:pPr>
            <a:r>
              <a:rPr lang="en-US" sz="2105" spc="168">
                <a:solidFill>
                  <a:srgbClr val="000000"/>
                </a:solidFill>
                <a:latin typeface="Poppins"/>
                <a:ea typeface="Poppins"/>
                <a:cs typeface="Poppins"/>
                <a:sym typeface="Poppins"/>
              </a:rPr>
              <a:t>D</a:t>
            </a:r>
            <a:r>
              <a:rPr lang="en-US" sz="2105" spc="168">
                <a:solidFill>
                  <a:srgbClr val="000000"/>
                </a:solidFill>
                <a:latin typeface="Poppins"/>
                <a:ea typeface="Poppins"/>
                <a:cs typeface="Poppins"/>
                <a:sym typeface="Poppins"/>
              </a:rPr>
              <a:t>emonstrate a rollback scenario leaving zero partial changes</a:t>
            </a:r>
          </a:p>
        </p:txBody>
      </p:sp>
      <p:sp>
        <p:nvSpPr>
          <p:cNvPr name="TextBox 24" id="24"/>
          <p:cNvSpPr txBox="true"/>
          <p:nvPr/>
        </p:nvSpPr>
        <p:spPr>
          <a:xfrm rot="0">
            <a:off x="1729625" y="7973552"/>
            <a:ext cx="6554639" cy="639034"/>
          </a:xfrm>
          <a:prstGeom prst="rect">
            <a:avLst/>
          </a:prstGeom>
        </p:spPr>
        <p:txBody>
          <a:bodyPr anchor="t" rtlCol="false" tIns="0" lIns="0" bIns="0" rIns="0">
            <a:spAutoFit/>
          </a:bodyPr>
          <a:lstStyle/>
          <a:p>
            <a:pPr algn="l" marL="475397" indent="-237699" lvl="1">
              <a:lnSpc>
                <a:spcPts val="2422"/>
              </a:lnSpc>
              <a:buFont typeface="Arial"/>
              <a:buChar char="•"/>
            </a:pPr>
            <a:r>
              <a:rPr lang="en-US" sz="2201" spc="176">
                <a:solidFill>
                  <a:srgbClr val="000000"/>
                </a:solidFill>
                <a:latin typeface="Poppins"/>
                <a:ea typeface="Poppins"/>
                <a:cs typeface="Poppins"/>
                <a:sym typeface="Poppins"/>
              </a:rPr>
              <a:t>Provid</a:t>
            </a:r>
            <a:r>
              <a:rPr lang="en-US" sz="2201" spc="176">
                <a:solidFill>
                  <a:srgbClr val="000000"/>
                </a:solidFill>
                <a:latin typeface="Poppins"/>
                <a:ea typeface="Poppins"/>
                <a:cs typeface="Poppins"/>
                <a:sym typeface="Poppins"/>
              </a:rPr>
              <a:t>e a CLI interface for queries and results/errors</a:t>
            </a:r>
          </a:p>
        </p:txBody>
      </p:sp>
      <p:grpSp>
        <p:nvGrpSpPr>
          <p:cNvPr name="Group 25" id="25"/>
          <p:cNvGrpSpPr/>
          <p:nvPr/>
        </p:nvGrpSpPr>
        <p:grpSpPr>
          <a:xfrm rot="-7534492">
            <a:off x="-145444" y="-5680230"/>
            <a:ext cx="1736156" cy="10912834"/>
            <a:chOff x="0" y="0"/>
            <a:chExt cx="457259" cy="2874162"/>
          </a:xfrm>
        </p:grpSpPr>
        <p:sp>
          <p:nvSpPr>
            <p:cNvPr name="Freeform 26" id="26"/>
            <p:cNvSpPr/>
            <p:nvPr/>
          </p:nvSpPr>
          <p:spPr>
            <a:xfrm flipH="false" flipV="false" rot="0">
              <a:off x="0" y="0"/>
              <a:ext cx="457259" cy="2874162"/>
            </a:xfrm>
            <a:custGeom>
              <a:avLst/>
              <a:gdLst/>
              <a:ahLst/>
              <a:cxnLst/>
              <a:rect r="r" b="b" t="t" l="l"/>
              <a:pathLst>
                <a:path h="2874162" w="457259">
                  <a:moveTo>
                    <a:pt x="0" y="0"/>
                  </a:moveTo>
                  <a:lnTo>
                    <a:pt x="457259" y="0"/>
                  </a:lnTo>
                  <a:lnTo>
                    <a:pt x="457259" y="2874162"/>
                  </a:lnTo>
                  <a:lnTo>
                    <a:pt x="0" y="2874162"/>
                  </a:lnTo>
                  <a:close/>
                </a:path>
              </a:pathLst>
            </a:custGeom>
            <a:solidFill>
              <a:srgbClr val="112041">
                <a:alpha val="91765"/>
              </a:srgbClr>
            </a:solidFill>
          </p:spPr>
        </p:sp>
        <p:sp>
          <p:nvSpPr>
            <p:cNvPr name="TextBox 27" id="27"/>
            <p:cNvSpPr txBox="true"/>
            <p:nvPr/>
          </p:nvSpPr>
          <p:spPr>
            <a:xfrm>
              <a:off x="0" y="-85725"/>
              <a:ext cx="457259" cy="2959887"/>
            </a:xfrm>
            <a:prstGeom prst="rect">
              <a:avLst/>
            </a:prstGeom>
          </p:spPr>
          <p:txBody>
            <a:bodyPr anchor="ctr" rtlCol="false" tIns="50800" lIns="50800" bIns="50800" rIns="50800"/>
            <a:lstStyle/>
            <a:p>
              <a:pPr algn="ctr">
                <a:lnSpc>
                  <a:spcPts val="223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434916">
            <a:off x="13114106" y="-1128941"/>
            <a:ext cx="5828391" cy="12544882"/>
            <a:chOff x="0" y="0"/>
            <a:chExt cx="1535049" cy="3304002"/>
          </a:xfrm>
        </p:grpSpPr>
        <p:sp>
          <p:nvSpPr>
            <p:cNvPr name="Freeform 3" id="3"/>
            <p:cNvSpPr/>
            <p:nvPr/>
          </p:nvSpPr>
          <p:spPr>
            <a:xfrm flipH="false" flipV="false" rot="0">
              <a:off x="0" y="0"/>
              <a:ext cx="1535050" cy="3304002"/>
            </a:xfrm>
            <a:custGeom>
              <a:avLst/>
              <a:gdLst/>
              <a:ahLst/>
              <a:cxnLst/>
              <a:rect r="r" b="b" t="t" l="l"/>
              <a:pathLst>
                <a:path h="3304002" w="1535050">
                  <a:moveTo>
                    <a:pt x="0" y="0"/>
                  </a:moveTo>
                  <a:lnTo>
                    <a:pt x="1535050" y="0"/>
                  </a:lnTo>
                  <a:lnTo>
                    <a:pt x="1535050" y="3304002"/>
                  </a:lnTo>
                  <a:lnTo>
                    <a:pt x="0" y="3304002"/>
                  </a:lnTo>
                  <a:close/>
                </a:path>
              </a:pathLst>
            </a:custGeom>
            <a:solidFill>
              <a:srgbClr val="112041">
                <a:alpha val="76863"/>
              </a:srgbClr>
            </a:solidFill>
          </p:spPr>
        </p:sp>
        <p:sp>
          <p:nvSpPr>
            <p:cNvPr name="TextBox 4" id="4"/>
            <p:cNvSpPr txBox="true"/>
            <p:nvPr/>
          </p:nvSpPr>
          <p:spPr>
            <a:xfrm>
              <a:off x="0" y="-85725"/>
              <a:ext cx="1535049" cy="3389727"/>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0">
            <a:off x="13087342" y="1941007"/>
            <a:ext cx="4697546" cy="6312616"/>
            <a:chOff x="0" y="0"/>
            <a:chExt cx="731380" cy="982836"/>
          </a:xfrm>
        </p:grpSpPr>
        <p:sp>
          <p:nvSpPr>
            <p:cNvPr name="Freeform 6" id="6"/>
            <p:cNvSpPr/>
            <p:nvPr/>
          </p:nvSpPr>
          <p:spPr>
            <a:xfrm flipH="false" flipV="false" rot="0">
              <a:off x="0" y="0"/>
              <a:ext cx="731380" cy="982836"/>
            </a:xfrm>
            <a:custGeom>
              <a:avLst/>
              <a:gdLst/>
              <a:ahLst/>
              <a:cxnLst/>
              <a:rect r="r" b="b" t="t" l="l"/>
              <a:pathLst>
                <a:path h="982836" w="731380">
                  <a:moveTo>
                    <a:pt x="41202" y="0"/>
                  </a:moveTo>
                  <a:lnTo>
                    <a:pt x="690178" y="0"/>
                  </a:lnTo>
                  <a:cubicBezTo>
                    <a:pt x="701105" y="0"/>
                    <a:pt x="711585" y="4341"/>
                    <a:pt x="719312" y="12068"/>
                  </a:cubicBezTo>
                  <a:cubicBezTo>
                    <a:pt x="727039" y="19795"/>
                    <a:pt x="731380" y="30275"/>
                    <a:pt x="731380" y="41202"/>
                  </a:cubicBezTo>
                  <a:lnTo>
                    <a:pt x="731380" y="941634"/>
                  </a:lnTo>
                  <a:cubicBezTo>
                    <a:pt x="731380" y="964390"/>
                    <a:pt x="712933" y="982836"/>
                    <a:pt x="690178" y="982836"/>
                  </a:cubicBezTo>
                  <a:lnTo>
                    <a:pt x="41202" y="982836"/>
                  </a:lnTo>
                  <a:cubicBezTo>
                    <a:pt x="18447" y="982836"/>
                    <a:pt x="0" y="964390"/>
                    <a:pt x="0" y="941634"/>
                  </a:cubicBezTo>
                  <a:lnTo>
                    <a:pt x="0" y="41202"/>
                  </a:lnTo>
                  <a:cubicBezTo>
                    <a:pt x="0" y="18447"/>
                    <a:pt x="18447" y="0"/>
                    <a:pt x="41202" y="0"/>
                  </a:cubicBezTo>
                  <a:close/>
                </a:path>
              </a:pathLst>
            </a:custGeom>
            <a:blipFill>
              <a:blip r:embed="rId2"/>
              <a:stretch>
                <a:fillRect l="-55190" t="0" r="-55190" b="0"/>
              </a:stretch>
            </a:blipFill>
            <a:ln cap="rnd">
              <a:noFill/>
              <a:prstDash val="solid"/>
              <a:round/>
            </a:ln>
          </p:spPr>
        </p:sp>
      </p:grpSp>
      <p:grpSp>
        <p:nvGrpSpPr>
          <p:cNvPr name="Group 7" id="7"/>
          <p:cNvGrpSpPr/>
          <p:nvPr/>
        </p:nvGrpSpPr>
        <p:grpSpPr>
          <a:xfrm rot="0">
            <a:off x="1232508" y="1318084"/>
            <a:ext cx="622923" cy="622923"/>
            <a:chOff x="0" y="0"/>
            <a:chExt cx="830563" cy="830563"/>
          </a:xfrm>
        </p:grpSpPr>
        <p:grpSp>
          <p:nvGrpSpPr>
            <p:cNvPr name="Group 8" id="8"/>
            <p:cNvGrpSpPr/>
            <p:nvPr/>
          </p:nvGrpSpPr>
          <p:grpSpPr>
            <a:xfrm rot="0">
              <a:off x="0" y="0"/>
              <a:ext cx="830563" cy="8305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sp>
          <p:sp>
            <p:nvSpPr>
              <p:cNvPr name="TextBox 10" id="10"/>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11" id="11"/>
            <p:cNvSpPr/>
            <p:nvPr/>
          </p:nvSpPr>
          <p:spPr>
            <a:xfrm flipH="false" flipV="false" rot="0">
              <a:off x="215348" y="215348"/>
              <a:ext cx="399868" cy="399868"/>
            </a:xfrm>
            <a:custGeom>
              <a:avLst/>
              <a:gdLst/>
              <a:ahLst/>
              <a:cxnLst/>
              <a:rect r="r" b="b" t="t" l="l"/>
              <a:pathLst>
                <a:path h="399868" w="399868">
                  <a:moveTo>
                    <a:pt x="0" y="0"/>
                  </a:moveTo>
                  <a:lnTo>
                    <a:pt x="399868" y="0"/>
                  </a:lnTo>
                  <a:lnTo>
                    <a:pt x="399868" y="399868"/>
                  </a:lnTo>
                  <a:lnTo>
                    <a:pt x="0" y="399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2" id="12"/>
          <p:cNvGrpSpPr/>
          <p:nvPr/>
        </p:nvGrpSpPr>
        <p:grpSpPr>
          <a:xfrm rot="0">
            <a:off x="1855431" y="2477470"/>
            <a:ext cx="4835001" cy="2520174"/>
            <a:chOff x="0" y="0"/>
            <a:chExt cx="683135" cy="356074"/>
          </a:xfrm>
        </p:grpSpPr>
        <p:sp>
          <p:nvSpPr>
            <p:cNvPr name="Freeform 13" id="13"/>
            <p:cNvSpPr/>
            <p:nvPr/>
          </p:nvSpPr>
          <p:spPr>
            <a:xfrm flipH="false" flipV="false" rot="0">
              <a:off x="0" y="0"/>
              <a:ext cx="683135" cy="356074"/>
            </a:xfrm>
            <a:custGeom>
              <a:avLst/>
              <a:gdLst/>
              <a:ahLst/>
              <a:cxnLst/>
              <a:rect r="r" b="b" t="t" l="l"/>
              <a:pathLst>
                <a:path h="356074" w="683135">
                  <a:moveTo>
                    <a:pt x="24018" y="0"/>
                  </a:moveTo>
                  <a:lnTo>
                    <a:pt x="659116" y="0"/>
                  </a:lnTo>
                  <a:cubicBezTo>
                    <a:pt x="665486" y="0"/>
                    <a:pt x="671595" y="2530"/>
                    <a:pt x="676100" y="7035"/>
                  </a:cubicBezTo>
                  <a:cubicBezTo>
                    <a:pt x="680604" y="11539"/>
                    <a:pt x="683135" y="17648"/>
                    <a:pt x="683135" y="24018"/>
                  </a:cubicBezTo>
                  <a:lnTo>
                    <a:pt x="683135" y="332056"/>
                  </a:lnTo>
                  <a:cubicBezTo>
                    <a:pt x="683135" y="338426"/>
                    <a:pt x="680604" y="344535"/>
                    <a:pt x="676100" y="349039"/>
                  </a:cubicBezTo>
                  <a:cubicBezTo>
                    <a:pt x="671595" y="353543"/>
                    <a:pt x="665486" y="356074"/>
                    <a:pt x="659116" y="356074"/>
                  </a:cubicBezTo>
                  <a:lnTo>
                    <a:pt x="24018" y="356074"/>
                  </a:lnTo>
                  <a:cubicBezTo>
                    <a:pt x="17648" y="356074"/>
                    <a:pt x="11539" y="353543"/>
                    <a:pt x="7035" y="349039"/>
                  </a:cubicBezTo>
                  <a:cubicBezTo>
                    <a:pt x="2530" y="344535"/>
                    <a:pt x="0" y="338426"/>
                    <a:pt x="0" y="332056"/>
                  </a:cubicBezTo>
                  <a:lnTo>
                    <a:pt x="0" y="24018"/>
                  </a:lnTo>
                  <a:cubicBezTo>
                    <a:pt x="0" y="17648"/>
                    <a:pt x="2530" y="11539"/>
                    <a:pt x="7035" y="7035"/>
                  </a:cubicBezTo>
                  <a:cubicBezTo>
                    <a:pt x="11539" y="2530"/>
                    <a:pt x="17648" y="0"/>
                    <a:pt x="24018" y="0"/>
                  </a:cubicBezTo>
                  <a:close/>
                </a:path>
              </a:pathLst>
            </a:custGeom>
            <a:solidFill>
              <a:srgbClr val="CDD4D8">
                <a:alpha val="58824"/>
              </a:srgbClr>
            </a:solidFill>
          </p:spPr>
        </p:sp>
      </p:grpSp>
      <p:sp>
        <p:nvSpPr>
          <p:cNvPr name="TextBox 14" id="14"/>
          <p:cNvSpPr txBox="true"/>
          <p:nvPr/>
        </p:nvSpPr>
        <p:spPr>
          <a:xfrm rot="0">
            <a:off x="1972797" y="1251409"/>
            <a:ext cx="4717636" cy="3414046"/>
          </a:xfrm>
          <a:prstGeom prst="rect">
            <a:avLst/>
          </a:prstGeom>
        </p:spPr>
        <p:txBody>
          <a:bodyPr anchor="t" rtlCol="false" tIns="0" lIns="0" bIns="0" rIns="0">
            <a:spAutoFit/>
          </a:bodyPr>
          <a:lstStyle/>
          <a:p>
            <a:pPr algn="l">
              <a:lnSpc>
                <a:spcPts val="3736"/>
              </a:lnSpc>
            </a:pPr>
            <a:r>
              <a:rPr lang="en-US" sz="2668">
                <a:solidFill>
                  <a:srgbClr val="0B0A0A"/>
                </a:solidFill>
                <a:latin typeface="Poppins"/>
                <a:ea typeface="Poppins"/>
                <a:cs typeface="Poppins"/>
                <a:sym typeface="Poppins"/>
              </a:rPr>
              <a:t>1- Difficult SQL error messages</a:t>
            </a:r>
          </a:p>
          <a:p>
            <a:pPr algn="l">
              <a:lnSpc>
                <a:spcPts val="3736"/>
              </a:lnSpc>
            </a:pPr>
          </a:p>
          <a:p>
            <a:pPr algn="l">
              <a:lnSpc>
                <a:spcPts val="3213"/>
              </a:lnSpc>
            </a:pPr>
            <a:r>
              <a:rPr lang="en-US" sz="2295">
                <a:solidFill>
                  <a:srgbClr val="0B0A0A"/>
                </a:solidFill>
                <a:latin typeface="Poppins"/>
                <a:ea typeface="Poppins"/>
                <a:cs typeface="Poppins"/>
                <a:sym typeface="Poppins"/>
              </a:rPr>
              <a:t>Beginners may struggle to id</a:t>
            </a:r>
            <a:r>
              <a:rPr lang="en-US" sz="2295">
                <a:solidFill>
                  <a:srgbClr val="0B0A0A"/>
                </a:solidFill>
                <a:latin typeface="Poppins"/>
                <a:ea typeface="Poppins"/>
                <a:cs typeface="Poppins"/>
                <a:sym typeface="Poppins"/>
              </a:rPr>
              <a:t>entify the exact cause of syntax or column errors.</a:t>
            </a:r>
          </a:p>
          <a:p>
            <a:pPr algn="l">
              <a:lnSpc>
                <a:spcPts val="3213"/>
              </a:lnSpc>
            </a:pPr>
            <a:r>
              <a:rPr lang="en-US" sz="2295">
                <a:solidFill>
                  <a:srgbClr val="0B0A0A"/>
                </a:solidFill>
                <a:latin typeface="Poppins"/>
                <a:ea typeface="Poppins"/>
                <a:cs typeface="Poppins"/>
                <a:sym typeface="Poppins"/>
              </a:rPr>
              <a:t>SELECT nam FROM students;</a:t>
            </a:r>
          </a:p>
          <a:p>
            <a:pPr algn="l">
              <a:lnSpc>
                <a:spcPts val="3213"/>
              </a:lnSpc>
            </a:pPr>
            <a:r>
              <a:rPr lang="en-US" sz="2295">
                <a:solidFill>
                  <a:srgbClr val="0B0A0A"/>
                </a:solidFill>
                <a:latin typeface="Poppins"/>
                <a:ea typeface="Poppins"/>
                <a:cs typeface="Poppins"/>
                <a:sym typeface="Poppins"/>
              </a:rPr>
              <a:t>Example: nam instead of name.</a:t>
            </a:r>
          </a:p>
        </p:txBody>
      </p:sp>
      <p:grpSp>
        <p:nvGrpSpPr>
          <p:cNvPr name="Group 15" id="15"/>
          <p:cNvGrpSpPr/>
          <p:nvPr/>
        </p:nvGrpSpPr>
        <p:grpSpPr>
          <a:xfrm rot="0">
            <a:off x="7820846" y="4817288"/>
            <a:ext cx="4835001" cy="2520174"/>
            <a:chOff x="0" y="0"/>
            <a:chExt cx="683135" cy="356074"/>
          </a:xfrm>
        </p:grpSpPr>
        <p:sp>
          <p:nvSpPr>
            <p:cNvPr name="Freeform 16" id="16"/>
            <p:cNvSpPr/>
            <p:nvPr/>
          </p:nvSpPr>
          <p:spPr>
            <a:xfrm flipH="false" flipV="false" rot="0">
              <a:off x="0" y="0"/>
              <a:ext cx="683135" cy="356074"/>
            </a:xfrm>
            <a:custGeom>
              <a:avLst/>
              <a:gdLst/>
              <a:ahLst/>
              <a:cxnLst/>
              <a:rect r="r" b="b" t="t" l="l"/>
              <a:pathLst>
                <a:path h="356074" w="683135">
                  <a:moveTo>
                    <a:pt x="24018" y="0"/>
                  </a:moveTo>
                  <a:lnTo>
                    <a:pt x="659116" y="0"/>
                  </a:lnTo>
                  <a:cubicBezTo>
                    <a:pt x="665486" y="0"/>
                    <a:pt x="671595" y="2530"/>
                    <a:pt x="676100" y="7035"/>
                  </a:cubicBezTo>
                  <a:cubicBezTo>
                    <a:pt x="680604" y="11539"/>
                    <a:pt x="683135" y="17648"/>
                    <a:pt x="683135" y="24018"/>
                  </a:cubicBezTo>
                  <a:lnTo>
                    <a:pt x="683135" y="332056"/>
                  </a:lnTo>
                  <a:cubicBezTo>
                    <a:pt x="683135" y="338426"/>
                    <a:pt x="680604" y="344535"/>
                    <a:pt x="676100" y="349039"/>
                  </a:cubicBezTo>
                  <a:cubicBezTo>
                    <a:pt x="671595" y="353543"/>
                    <a:pt x="665486" y="356074"/>
                    <a:pt x="659116" y="356074"/>
                  </a:cubicBezTo>
                  <a:lnTo>
                    <a:pt x="24018" y="356074"/>
                  </a:lnTo>
                  <a:cubicBezTo>
                    <a:pt x="17648" y="356074"/>
                    <a:pt x="11539" y="353543"/>
                    <a:pt x="7035" y="349039"/>
                  </a:cubicBezTo>
                  <a:cubicBezTo>
                    <a:pt x="2530" y="344535"/>
                    <a:pt x="0" y="338426"/>
                    <a:pt x="0" y="332056"/>
                  </a:cubicBezTo>
                  <a:lnTo>
                    <a:pt x="0" y="24018"/>
                  </a:lnTo>
                  <a:cubicBezTo>
                    <a:pt x="0" y="17648"/>
                    <a:pt x="2530" y="11539"/>
                    <a:pt x="7035" y="7035"/>
                  </a:cubicBezTo>
                  <a:cubicBezTo>
                    <a:pt x="11539" y="2530"/>
                    <a:pt x="17648" y="0"/>
                    <a:pt x="24018" y="0"/>
                  </a:cubicBezTo>
                  <a:close/>
                </a:path>
              </a:pathLst>
            </a:custGeom>
            <a:solidFill>
              <a:srgbClr val="CDD4D8">
                <a:alpha val="58824"/>
              </a:srgbClr>
            </a:solidFill>
          </p:spPr>
        </p:sp>
      </p:grpSp>
      <p:sp>
        <p:nvSpPr>
          <p:cNvPr name="TextBox 17" id="17"/>
          <p:cNvSpPr txBox="true"/>
          <p:nvPr/>
        </p:nvSpPr>
        <p:spPr>
          <a:xfrm rot="0">
            <a:off x="8988380" y="4294871"/>
            <a:ext cx="9525" cy="1652269"/>
          </a:xfrm>
          <a:prstGeom prst="rect">
            <a:avLst/>
          </a:prstGeom>
        </p:spPr>
        <p:txBody>
          <a:bodyPr anchor="t" rtlCol="false" tIns="0" lIns="0" bIns="0" rIns="0">
            <a:spAutoFit/>
          </a:bodyPr>
          <a:lstStyle/>
          <a:p>
            <a:pPr algn="ctr">
              <a:lnSpc>
                <a:spcPts val="12880"/>
              </a:lnSpc>
            </a:pPr>
          </a:p>
        </p:txBody>
      </p:sp>
      <p:sp>
        <p:nvSpPr>
          <p:cNvPr name="TextBox 18" id="18"/>
          <p:cNvSpPr txBox="true"/>
          <p:nvPr/>
        </p:nvSpPr>
        <p:spPr>
          <a:xfrm rot="0">
            <a:off x="684429" y="-27203"/>
            <a:ext cx="11557249" cy="1004281"/>
          </a:xfrm>
          <a:prstGeom prst="rect">
            <a:avLst/>
          </a:prstGeom>
        </p:spPr>
        <p:txBody>
          <a:bodyPr anchor="t" rtlCol="false" tIns="0" lIns="0" bIns="0" rIns="0">
            <a:spAutoFit/>
          </a:bodyPr>
          <a:lstStyle/>
          <a:p>
            <a:pPr algn="ctr">
              <a:lnSpc>
                <a:spcPts val="7018"/>
              </a:lnSpc>
            </a:pPr>
            <a:r>
              <a:rPr lang="en-US" sz="5013" b="true">
                <a:solidFill>
                  <a:srgbClr val="0B0A0A"/>
                </a:solidFill>
                <a:latin typeface="Agrandir Bold"/>
                <a:ea typeface="Agrandir Bold"/>
                <a:cs typeface="Agrandir Bold"/>
                <a:sym typeface="Agrandir Bold"/>
              </a:rPr>
              <a:t>REAL WORLD  PROBLMES WE FACE </a:t>
            </a:r>
          </a:p>
        </p:txBody>
      </p:sp>
      <p:sp>
        <p:nvSpPr>
          <p:cNvPr name="TextBox 19" id="19"/>
          <p:cNvSpPr txBox="true"/>
          <p:nvPr/>
        </p:nvSpPr>
        <p:spPr>
          <a:xfrm rot="0">
            <a:off x="8066640" y="3479803"/>
            <a:ext cx="4650728" cy="3727566"/>
          </a:xfrm>
          <a:prstGeom prst="rect">
            <a:avLst/>
          </a:prstGeom>
        </p:spPr>
        <p:txBody>
          <a:bodyPr anchor="t" rtlCol="false" tIns="0" lIns="0" bIns="0" rIns="0">
            <a:spAutoFit/>
          </a:bodyPr>
          <a:lstStyle/>
          <a:p>
            <a:pPr algn="l">
              <a:lnSpc>
                <a:spcPts val="3444"/>
              </a:lnSpc>
            </a:pPr>
            <a:r>
              <a:rPr lang="en-US" sz="2460">
                <a:solidFill>
                  <a:srgbClr val="0B0A0A"/>
                </a:solidFill>
                <a:latin typeface="Poppins"/>
                <a:ea typeface="Poppins"/>
                <a:cs typeface="Poppins"/>
                <a:sym typeface="Poppins"/>
              </a:rPr>
              <a:t>2. Accidental data modification</a:t>
            </a:r>
          </a:p>
          <a:p>
            <a:pPr algn="l">
              <a:lnSpc>
                <a:spcPts val="3219"/>
              </a:lnSpc>
            </a:pPr>
          </a:p>
          <a:p>
            <a:pPr algn="l">
              <a:lnSpc>
                <a:spcPts val="3219"/>
              </a:lnSpc>
            </a:pPr>
            <a:r>
              <a:rPr lang="en-US" sz="2299">
                <a:solidFill>
                  <a:srgbClr val="0B0A0A"/>
                </a:solidFill>
                <a:latin typeface="Poppins"/>
                <a:ea typeface="Poppins"/>
                <a:cs typeface="Poppins"/>
                <a:sym typeface="Poppins"/>
              </a:rPr>
              <a:t>An UPDATE or DELETE w</a:t>
            </a:r>
            <a:r>
              <a:rPr lang="en-US" sz="2299">
                <a:solidFill>
                  <a:srgbClr val="0B0A0A"/>
                </a:solidFill>
                <a:latin typeface="Poppins"/>
                <a:ea typeface="Poppins"/>
                <a:cs typeface="Poppins"/>
                <a:sym typeface="Poppins"/>
              </a:rPr>
              <a:t>ithout a proper WHERE co</a:t>
            </a:r>
            <a:r>
              <a:rPr lang="en-US" sz="2299">
                <a:solidFill>
                  <a:srgbClr val="0B0A0A"/>
                </a:solidFill>
                <a:latin typeface="Poppins"/>
                <a:ea typeface="Poppins"/>
                <a:cs typeface="Poppins"/>
                <a:sym typeface="Poppins"/>
              </a:rPr>
              <a:t>ndition can affect many rows.</a:t>
            </a:r>
          </a:p>
          <a:p>
            <a:pPr algn="l">
              <a:lnSpc>
                <a:spcPts val="3219"/>
              </a:lnSpc>
            </a:pPr>
            <a:r>
              <a:rPr lang="en-US" sz="2299">
                <a:solidFill>
                  <a:srgbClr val="0B0A0A"/>
                </a:solidFill>
                <a:latin typeface="Poppins"/>
                <a:ea typeface="Poppins"/>
                <a:cs typeface="Poppins"/>
                <a:sym typeface="Poppins"/>
              </a:rPr>
              <a:t>D</a:t>
            </a:r>
            <a:r>
              <a:rPr lang="en-US" sz="2299">
                <a:solidFill>
                  <a:srgbClr val="0B0A0A"/>
                </a:solidFill>
                <a:latin typeface="Poppins"/>
                <a:ea typeface="Poppins"/>
                <a:cs typeface="Poppins"/>
                <a:sym typeface="Poppins"/>
              </a:rPr>
              <a:t>ELETE FROM students;</a:t>
            </a:r>
          </a:p>
          <a:p>
            <a:pPr algn="l">
              <a:lnSpc>
                <a:spcPts val="3219"/>
              </a:lnSpc>
            </a:pPr>
            <a:r>
              <a:rPr lang="en-US" sz="2299">
                <a:solidFill>
                  <a:srgbClr val="0B0A0A"/>
                </a:solidFill>
                <a:latin typeface="Poppins"/>
                <a:ea typeface="Poppins"/>
                <a:cs typeface="Poppins"/>
                <a:sym typeface="Poppins"/>
              </a:rPr>
              <a:t>Example: unintended deletion of all records.</a:t>
            </a:r>
          </a:p>
        </p:txBody>
      </p:sp>
      <p:grpSp>
        <p:nvGrpSpPr>
          <p:cNvPr name="Group 20" id="20"/>
          <p:cNvGrpSpPr/>
          <p:nvPr/>
        </p:nvGrpSpPr>
        <p:grpSpPr>
          <a:xfrm rot="0">
            <a:off x="2757948" y="6669263"/>
            <a:ext cx="4554780" cy="3383237"/>
            <a:chOff x="0" y="0"/>
            <a:chExt cx="643542" cy="478016"/>
          </a:xfrm>
        </p:grpSpPr>
        <p:sp>
          <p:nvSpPr>
            <p:cNvPr name="Freeform 21" id="21"/>
            <p:cNvSpPr/>
            <p:nvPr/>
          </p:nvSpPr>
          <p:spPr>
            <a:xfrm flipH="false" flipV="false" rot="0">
              <a:off x="0" y="0"/>
              <a:ext cx="643542" cy="478016"/>
            </a:xfrm>
            <a:custGeom>
              <a:avLst/>
              <a:gdLst/>
              <a:ahLst/>
              <a:cxnLst/>
              <a:rect r="r" b="b" t="t" l="l"/>
              <a:pathLst>
                <a:path h="478016" w="643542">
                  <a:moveTo>
                    <a:pt x="25496" y="0"/>
                  </a:moveTo>
                  <a:lnTo>
                    <a:pt x="618046" y="0"/>
                  </a:lnTo>
                  <a:cubicBezTo>
                    <a:pt x="624808" y="0"/>
                    <a:pt x="631293" y="2686"/>
                    <a:pt x="636075" y="7468"/>
                  </a:cubicBezTo>
                  <a:cubicBezTo>
                    <a:pt x="640856" y="12249"/>
                    <a:pt x="643542" y="18734"/>
                    <a:pt x="643542" y="25496"/>
                  </a:cubicBezTo>
                  <a:lnTo>
                    <a:pt x="643542" y="452520"/>
                  </a:lnTo>
                  <a:cubicBezTo>
                    <a:pt x="643542" y="466601"/>
                    <a:pt x="632127" y="478016"/>
                    <a:pt x="618046" y="478016"/>
                  </a:cubicBezTo>
                  <a:lnTo>
                    <a:pt x="25496" y="478016"/>
                  </a:lnTo>
                  <a:cubicBezTo>
                    <a:pt x="11415" y="478016"/>
                    <a:pt x="0" y="466601"/>
                    <a:pt x="0" y="452520"/>
                  </a:cubicBezTo>
                  <a:lnTo>
                    <a:pt x="0" y="25496"/>
                  </a:lnTo>
                  <a:cubicBezTo>
                    <a:pt x="0" y="11415"/>
                    <a:pt x="11415" y="0"/>
                    <a:pt x="25496" y="0"/>
                  </a:cubicBezTo>
                  <a:close/>
                </a:path>
              </a:pathLst>
            </a:custGeom>
            <a:solidFill>
              <a:srgbClr val="CDD4D8">
                <a:alpha val="58824"/>
              </a:srgbClr>
            </a:solidFill>
          </p:spPr>
        </p:sp>
      </p:grpSp>
      <p:sp>
        <p:nvSpPr>
          <p:cNvPr name="TextBox 22" id="22"/>
          <p:cNvSpPr txBox="true"/>
          <p:nvPr/>
        </p:nvSpPr>
        <p:spPr>
          <a:xfrm rot="0">
            <a:off x="2895653" y="5889991"/>
            <a:ext cx="4315593" cy="4072017"/>
          </a:xfrm>
          <a:prstGeom prst="rect">
            <a:avLst/>
          </a:prstGeom>
        </p:spPr>
        <p:txBody>
          <a:bodyPr anchor="t" rtlCol="false" tIns="0" lIns="0" bIns="0" rIns="0">
            <a:spAutoFit/>
          </a:bodyPr>
          <a:lstStyle/>
          <a:p>
            <a:pPr algn="l">
              <a:lnSpc>
                <a:spcPts val="3218"/>
              </a:lnSpc>
            </a:pPr>
            <a:r>
              <a:rPr lang="en-US" sz="2299">
                <a:solidFill>
                  <a:srgbClr val="0B0A0A"/>
                </a:solidFill>
                <a:latin typeface="Poppins"/>
                <a:ea typeface="Poppins"/>
                <a:cs typeface="Poppins"/>
                <a:sym typeface="Poppins"/>
              </a:rPr>
              <a:t>3. Incomplete transactions</a:t>
            </a:r>
          </a:p>
          <a:p>
            <a:pPr algn="l">
              <a:lnSpc>
                <a:spcPts val="3218"/>
              </a:lnSpc>
            </a:pPr>
          </a:p>
          <a:p>
            <a:pPr algn="l">
              <a:lnSpc>
                <a:spcPts val="3218"/>
              </a:lnSpc>
            </a:pPr>
            <a:r>
              <a:rPr lang="en-US" sz="2299">
                <a:solidFill>
                  <a:srgbClr val="0B0A0A"/>
                </a:solidFill>
                <a:latin typeface="Poppins"/>
                <a:ea typeface="Poppins"/>
                <a:cs typeface="Poppins"/>
                <a:sym typeface="Poppins"/>
              </a:rPr>
              <a:t>A failure between two rela</a:t>
            </a:r>
            <a:r>
              <a:rPr lang="en-US" sz="2299">
                <a:solidFill>
                  <a:srgbClr val="0B0A0A"/>
                </a:solidFill>
                <a:latin typeface="Poppins"/>
                <a:ea typeface="Poppins"/>
                <a:cs typeface="Poppins"/>
                <a:sym typeface="Poppins"/>
              </a:rPr>
              <a:t>ted updates can leave data inco</a:t>
            </a:r>
            <a:r>
              <a:rPr lang="en-US" sz="2299">
                <a:solidFill>
                  <a:srgbClr val="0B0A0A"/>
                </a:solidFill>
                <a:latin typeface="Poppins"/>
                <a:ea typeface="Poppins"/>
                <a:cs typeface="Poppins"/>
                <a:sym typeface="Poppins"/>
              </a:rPr>
              <a:t>nsistent.</a:t>
            </a:r>
          </a:p>
          <a:p>
            <a:pPr algn="l">
              <a:lnSpc>
                <a:spcPts val="3218"/>
              </a:lnSpc>
            </a:pPr>
            <a:r>
              <a:rPr lang="en-US" sz="2299">
                <a:solidFill>
                  <a:srgbClr val="0B0A0A"/>
                </a:solidFill>
                <a:latin typeface="Poppins"/>
                <a:ea typeface="Poppins"/>
                <a:cs typeface="Poppins"/>
                <a:sym typeface="Poppins"/>
              </a:rPr>
              <a:t>UPDATE accounts SET balance = balance - 1000</a:t>
            </a:r>
          </a:p>
          <a:p>
            <a:pPr algn="l">
              <a:lnSpc>
                <a:spcPts val="3218"/>
              </a:lnSpc>
            </a:pPr>
            <a:r>
              <a:rPr lang="en-US" sz="2299">
                <a:solidFill>
                  <a:srgbClr val="0B0A0A"/>
                </a:solidFill>
                <a:latin typeface="Poppins"/>
                <a:ea typeface="Poppins"/>
                <a:cs typeface="Poppins"/>
                <a:sym typeface="Poppins"/>
              </a:rPr>
              <a:t>WH</a:t>
            </a:r>
            <a:r>
              <a:rPr lang="en-US" sz="2299">
                <a:solidFill>
                  <a:srgbClr val="0B0A0A"/>
                </a:solidFill>
                <a:latin typeface="Poppins"/>
                <a:ea typeface="Poppins"/>
                <a:cs typeface="Poppins"/>
                <a:sym typeface="Poppins"/>
              </a:rPr>
              <a:t>ERE id = 1;</a:t>
            </a:r>
          </a:p>
          <a:p>
            <a:pPr algn="l">
              <a:lnSpc>
                <a:spcPts val="3218"/>
              </a:lnSpc>
            </a:pPr>
            <a:r>
              <a:rPr lang="en-US" sz="2299">
                <a:solidFill>
                  <a:srgbClr val="0B0A0A"/>
                </a:solidFill>
                <a:latin typeface="Poppins"/>
                <a:ea typeface="Poppins"/>
                <a:cs typeface="Poppins"/>
                <a:sym typeface="Poppins"/>
              </a:rPr>
              <a:t>Example: money deducted from A but not credited to B.</a:t>
            </a:r>
          </a:p>
        </p:txBody>
      </p:sp>
      <p:sp>
        <p:nvSpPr>
          <p:cNvPr name="Freeform 23" id="23"/>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5"/>
            <a:stretch>
              <a:fillRect l="0" t="0" r="0" b="0"/>
            </a:stretch>
          </a:blipFill>
        </p:spPr>
      </p:sp>
      <p:grpSp>
        <p:nvGrpSpPr>
          <p:cNvPr name="Group 24" id="24"/>
          <p:cNvGrpSpPr/>
          <p:nvPr/>
        </p:nvGrpSpPr>
        <p:grpSpPr>
          <a:xfrm rot="0">
            <a:off x="7312729" y="3556003"/>
            <a:ext cx="622923" cy="622923"/>
            <a:chOff x="0" y="0"/>
            <a:chExt cx="830563" cy="830563"/>
          </a:xfrm>
        </p:grpSpPr>
        <p:grpSp>
          <p:nvGrpSpPr>
            <p:cNvPr name="Group 25" id="25"/>
            <p:cNvGrpSpPr/>
            <p:nvPr/>
          </p:nvGrpSpPr>
          <p:grpSpPr>
            <a:xfrm rot="0">
              <a:off x="0" y="0"/>
              <a:ext cx="830563" cy="83056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sp>
          <p:sp>
            <p:nvSpPr>
              <p:cNvPr name="TextBox 27" id="27"/>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28" id="28"/>
            <p:cNvSpPr/>
            <p:nvPr/>
          </p:nvSpPr>
          <p:spPr>
            <a:xfrm flipH="false" flipV="false" rot="0">
              <a:off x="215348" y="215348"/>
              <a:ext cx="399868" cy="399868"/>
            </a:xfrm>
            <a:custGeom>
              <a:avLst/>
              <a:gdLst/>
              <a:ahLst/>
              <a:cxnLst/>
              <a:rect r="r" b="b" t="t" l="l"/>
              <a:pathLst>
                <a:path h="399868" w="399868">
                  <a:moveTo>
                    <a:pt x="0" y="0"/>
                  </a:moveTo>
                  <a:lnTo>
                    <a:pt x="399868" y="0"/>
                  </a:lnTo>
                  <a:lnTo>
                    <a:pt x="399868" y="399868"/>
                  </a:lnTo>
                  <a:lnTo>
                    <a:pt x="0" y="399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29" id="29"/>
          <p:cNvGrpSpPr/>
          <p:nvPr/>
        </p:nvGrpSpPr>
        <p:grpSpPr>
          <a:xfrm rot="0">
            <a:off x="1972797" y="5947141"/>
            <a:ext cx="622923" cy="622923"/>
            <a:chOff x="0" y="0"/>
            <a:chExt cx="830563" cy="830563"/>
          </a:xfrm>
        </p:grpSpPr>
        <p:grpSp>
          <p:nvGrpSpPr>
            <p:cNvPr name="Group 30" id="30"/>
            <p:cNvGrpSpPr/>
            <p:nvPr/>
          </p:nvGrpSpPr>
          <p:grpSpPr>
            <a:xfrm rot="0">
              <a:off x="0" y="0"/>
              <a:ext cx="830563" cy="83056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sp>
          <p:sp>
            <p:nvSpPr>
              <p:cNvPr name="TextBox 32" id="32"/>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33" id="33"/>
            <p:cNvSpPr/>
            <p:nvPr/>
          </p:nvSpPr>
          <p:spPr>
            <a:xfrm flipH="false" flipV="false" rot="0">
              <a:off x="215348" y="215348"/>
              <a:ext cx="399868" cy="399868"/>
            </a:xfrm>
            <a:custGeom>
              <a:avLst/>
              <a:gdLst/>
              <a:ahLst/>
              <a:cxnLst/>
              <a:rect r="r" b="b" t="t" l="l"/>
              <a:pathLst>
                <a:path h="399868" w="399868">
                  <a:moveTo>
                    <a:pt x="0" y="0"/>
                  </a:moveTo>
                  <a:lnTo>
                    <a:pt x="399868" y="0"/>
                  </a:lnTo>
                  <a:lnTo>
                    <a:pt x="399868" y="399868"/>
                  </a:lnTo>
                  <a:lnTo>
                    <a:pt x="0" y="399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0725" y="9468702"/>
            <a:ext cx="1024972" cy="169586"/>
          </a:xfrm>
          <a:custGeom>
            <a:avLst/>
            <a:gdLst/>
            <a:ahLst/>
            <a:cxnLst/>
            <a:rect r="r" b="b" t="t" l="l"/>
            <a:pathLst>
              <a:path h="169586" w="1024972">
                <a:moveTo>
                  <a:pt x="0" y="0"/>
                </a:moveTo>
                <a:lnTo>
                  <a:pt x="1024971" y="0"/>
                </a:lnTo>
                <a:lnTo>
                  <a:pt x="1024971" y="169587"/>
                </a:lnTo>
                <a:lnTo>
                  <a:pt x="0" y="169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8290" y="1423308"/>
            <a:ext cx="5527175" cy="569778"/>
            <a:chOff x="0" y="0"/>
            <a:chExt cx="789291" cy="81365"/>
          </a:xfrm>
        </p:grpSpPr>
        <p:sp>
          <p:nvSpPr>
            <p:cNvPr name="Freeform 4" id="4"/>
            <p:cNvSpPr/>
            <p:nvPr/>
          </p:nvSpPr>
          <p:spPr>
            <a:xfrm flipH="false" flipV="false" rot="0">
              <a:off x="0" y="0"/>
              <a:ext cx="789291" cy="81365"/>
            </a:xfrm>
            <a:custGeom>
              <a:avLst/>
              <a:gdLst/>
              <a:ahLst/>
              <a:cxnLst/>
              <a:rect r="r" b="b" t="t" l="l"/>
              <a:pathLst>
                <a:path h="81365" w="789291">
                  <a:moveTo>
                    <a:pt x="40683" y="0"/>
                  </a:moveTo>
                  <a:lnTo>
                    <a:pt x="748608" y="0"/>
                  </a:lnTo>
                  <a:cubicBezTo>
                    <a:pt x="771077" y="0"/>
                    <a:pt x="789291" y="18214"/>
                    <a:pt x="789291" y="40683"/>
                  </a:cubicBezTo>
                  <a:lnTo>
                    <a:pt x="789291" y="40683"/>
                  </a:lnTo>
                  <a:cubicBezTo>
                    <a:pt x="789291" y="63151"/>
                    <a:pt x="771077" y="81365"/>
                    <a:pt x="748608" y="81365"/>
                  </a:cubicBezTo>
                  <a:lnTo>
                    <a:pt x="40683" y="81365"/>
                  </a:lnTo>
                  <a:cubicBezTo>
                    <a:pt x="18214" y="81365"/>
                    <a:pt x="0" y="63151"/>
                    <a:pt x="0" y="40683"/>
                  </a:cubicBezTo>
                  <a:lnTo>
                    <a:pt x="0" y="40683"/>
                  </a:lnTo>
                  <a:cubicBezTo>
                    <a:pt x="0" y="18214"/>
                    <a:pt x="18214" y="0"/>
                    <a:pt x="40683" y="0"/>
                  </a:cubicBezTo>
                  <a:close/>
                </a:path>
              </a:pathLst>
            </a:custGeom>
            <a:solidFill>
              <a:srgbClr val="112041"/>
            </a:solidFill>
          </p:spPr>
        </p:sp>
        <p:sp>
          <p:nvSpPr>
            <p:cNvPr name="TextBox 5" id="5"/>
            <p:cNvSpPr txBox="true"/>
            <p:nvPr/>
          </p:nvSpPr>
          <p:spPr>
            <a:xfrm>
              <a:off x="0" y="-47625"/>
              <a:ext cx="789291" cy="128990"/>
            </a:xfrm>
            <a:prstGeom prst="rect">
              <a:avLst/>
            </a:prstGeom>
          </p:spPr>
          <p:txBody>
            <a:bodyPr anchor="ctr" rtlCol="false" tIns="50800" lIns="50800" bIns="50800" rIns="50800"/>
            <a:lstStyle/>
            <a:p>
              <a:pPr algn="l">
                <a:lnSpc>
                  <a:spcPts val="2239"/>
                </a:lnSpc>
              </a:pPr>
            </a:p>
          </p:txBody>
        </p:sp>
      </p:grpSp>
      <p:sp>
        <p:nvSpPr>
          <p:cNvPr name="TextBox 6" id="6"/>
          <p:cNvSpPr txBox="true"/>
          <p:nvPr/>
        </p:nvSpPr>
        <p:spPr>
          <a:xfrm rot="0">
            <a:off x="858905" y="700118"/>
            <a:ext cx="5763746" cy="2735375"/>
          </a:xfrm>
          <a:prstGeom prst="rect">
            <a:avLst/>
          </a:prstGeom>
        </p:spPr>
        <p:txBody>
          <a:bodyPr anchor="t" rtlCol="false" tIns="0" lIns="0" bIns="0" rIns="0">
            <a:spAutoFit/>
          </a:bodyPr>
          <a:lstStyle/>
          <a:p>
            <a:pPr algn="l">
              <a:lnSpc>
                <a:spcPts val="5791"/>
              </a:lnSpc>
            </a:pPr>
          </a:p>
          <a:p>
            <a:pPr algn="l">
              <a:lnSpc>
                <a:spcPts val="4166"/>
              </a:lnSpc>
            </a:pPr>
            <a:r>
              <a:rPr lang="en-US" sz="2976">
                <a:solidFill>
                  <a:srgbClr val="FFFFFF"/>
                </a:solidFill>
                <a:latin typeface="Poppins"/>
                <a:ea typeface="Poppins"/>
                <a:cs typeface="Poppins"/>
                <a:sym typeface="Poppins"/>
              </a:rPr>
              <a:t> Core SQL-like RDBMS Engine</a:t>
            </a:r>
          </a:p>
          <a:p>
            <a:pPr algn="l">
              <a:lnSpc>
                <a:spcPts val="5791"/>
              </a:lnSpc>
            </a:pPr>
          </a:p>
          <a:p>
            <a:pPr algn="l">
              <a:lnSpc>
                <a:spcPts val="5791"/>
              </a:lnSpc>
            </a:pPr>
            <a:r>
              <a:rPr lang="en-US" sz="4137">
                <a:solidFill>
                  <a:srgbClr val="FFFFFF"/>
                </a:solidFill>
                <a:latin typeface="Poppins"/>
                <a:ea typeface="Poppins"/>
                <a:cs typeface="Poppins"/>
                <a:sym typeface="Poppins"/>
              </a:rPr>
              <a:t> </a:t>
            </a:r>
          </a:p>
        </p:txBody>
      </p:sp>
      <p:grpSp>
        <p:nvGrpSpPr>
          <p:cNvPr name="Group 7" id="7"/>
          <p:cNvGrpSpPr/>
          <p:nvPr/>
        </p:nvGrpSpPr>
        <p:grpSpPr>
          <a:xfrm rot="0">
            <a:off x="9144000" y="1519312"/>
            <a:ext cx="6634900" cy="642104"/>
            <a:chOff x="0" y="0"/>
            <a:chExt cx="809755" cy="78365"/>
          </a:xfrm>
        </p:grpSpPr>
        <p:sp>
          <p:nvSpPr>
            <p:cNvPr name="Freeform 8" id="8"/>
            <p:cNvSpPr/>
            <p:nvPr/>
          </p:nvSpPr>
          <p:spPr>
            <a:xfrm flipH="false" flipV="false" rot="0">
              <a:off x="0" y="0"/>
              <a:ext cx="809755" cy="78365"/>
            </a:xfrm>
            <a:custGeom>
              <a:avLst/>
              <a:gdLst/>
              <a:ahLst/>
              <a:cxnLst/>
              <a:rect r="r" b="b" t="t" l="l"/>
              <a:pathLst>
                <a:path h="78365" w="809755">
                  <a:moveTo>
                    <a:pt x="39183" y="0"/>
                  </a:moveTo>
                  <a:lnTo>
                    <a:pt x="770572" y="0"/>
                  </a:lnTo>
                  <a:cubicBezTo>
                    <a:pt x="780964" y="0"/>
                    <a:pt x="790931" y="4128"/>
                    <a:pt x="798279" y="11476"/>
                  </a:cubicBezTo>
                  <a:cubicBezTo>
                    <a:pt x="805627" y="18825"/>
                    <a:pt x="809755" y="28791"/>
                    <a:pt x="809755" y="39183"/>
                  </a:cubicBezTo>
                  <a:lnTo>
                    <a:pt x="809755" y="39183"/>
                  </a:lnTo>
                  <a:cubicBezTo>
                    <a:pt x="809755" y="49575"/>
                    <a:pt x="805627" y="59541"/>
                    <a:pt x="798279" y="66889"/>
                  </a:cubicBezTo>
                  <a:cubicBezTo>
                    <a:pt x="790931" y="74237"/>
                    <a:pt x="780964" y="78365"/>
                    <a:pt x="770572" y="78365"/>
                  </a:cubicBezTo>
                  <a:lnTo>
                    <a:pt x="39183" y="78365"/>
                  </a:lnTo>
                  <a:cubicBezTo>
                    <a:pt x="28791" y="78365"/>
                    <a:pt x="18825" y="74237"/>
                    <a:pt x="11476" y="66889"/>
                  </a:cubicBezTo>
                  <a:cubicBezTo>
                    <a:pt x="4128" y="59541"/>
                    <a:pt x="0" y="49575"/>
                    <a:pt x="0" y="39183"/>
                  </a:cubicBezTo>
                  <a:lnTo>
                    <a:pt x="0" y="39183"/>
                  </a:lnTo>
                  <a:cubicBezTo>
                    <a:pt x="0" y="28791"/>
                    <a:pt x="4128" y="18825"/>
                    <a:pt x="11476" y="11476"/>
                  </a:cubicBezTo>
                  <a:cubicBezTo>
                    <a:pt x="18825" y="4128"/>
                    <a:pt x="28791" y="0"/>
                    <a:pt x="39183" y="0"/>
                  </a:cubicBezTo>
                  <a:close/>
                </a:path>
              </a:pathLst>
            </a:custGeom>
            <a:solidFill>
              <a:srgbClr val="112041"/>
            </a:solidFill>
          </p:spPr>
        </p:sp>
        <p:sp>
          <p:nvSpPr>
            <p:cNvPr name="TextBox 9" id="9"/>
            <p:cNvSpPr txBox="true"/>
            <p:nvPr/>
          </p:nvSpPr>
          <p:spPr>
            <a:xfrm>
              <a:off x="0" y="-47625"/>
              <a:ext cx="809755" cy="125990"/>
            </a:xfrm>
            <a:prstGeom prst="rect">
              <a:avLst/>
            </a:prstGeom>
          </p:spPr>
          <p:txBody>
            <a:bodyPr anchor="ctr" rtlCol="false" tIns="50800" lIns="50800" bIns="50800" rIns="50800"/>
            <a:lstStyle/>
            <a:p>
              <a:pPr algn="l">
                <a:lnSpc>
                  <a:spcPts val="2239"/>
                </a:lnSpc>
              </a:pPr>
            </a:p>
          </p:txBody>
        </p:sp>
      </p:grpSp>
      <p:sp>
        <p:nvSpPr>
          <p:cNvPr name="TextBox 10" id="10"/>
          <p:cNvSpPr txBox="true"/>
          <p:nvPr/>
        </p:nvSpPr>
        <p:spPr>
          <a:xfrm rot="0">
            <a:off x="9283185" y="6865151"/>
            <a:ext cx="5146776" cy="2593853"/>
          </a:xfrm>
          <a:prstGeom prst="rect">
            <a:avLst/>
          </a:prstGeom>
        </p:spPr>
        <p:txBody>
          <a:bodyPr anchor="t" rtlCol="false" tIns="0" lIns="0" bIns="0" rIns="0">
            <a:spAutoFit/>
          </a:bodyPr>
          <a:lstStyle/>
          <a:p>
            <a:pPr algn="l">
              <a:lnSpc>
                <a:spcPts val="2960"/>
              </a:lnSpc>
            </a:pPr>
            <a:r>
              <a:rPr lang="en-US" sz="2114">
                <a:solidFill>
                  <a:srgbClr val="000000"/>
                </a:solidFill>
                <a:latin typeface="Poppins"/>
                <a:ea typeface="Poppins"/>
                <a:cs typeface="Poppins"/>
                <a:sym typeface="Poppins"/>
              </a:rPr>
              <a:t>DELETE FROM students;</a:t>
            </a:r>
          </a:p>
          <a:p>
            <a:pPr algn="l">
              <a:lnSpc>
                <a:spcPts val="2960"/>
              </a:lnSpc>
            </a:pPr>
            <a:r>
              <a:rPr lang="en-US" sz="2114">
                <a:solidFill>
                  <a:srgbClr val="000000"/>
                </a:solidFill>
                <a:latin typeface="Poppins"/>
                <a:ea typeface="Poppins"/>
                <a:cs typeface="Poppins"/>
                <a:sym typeface="Poppins"/>
              </a:rPr>
              <a:t>Your engine displays:</a:t>
            </a:r>
          </a:p>
          <a:p>
            <a:pPr algn="l">
              <a:lnSpc>
                <a:spcPts val="2960"/>
              </a:lnSpc>
            </a:pPr>
            <a:r>
              <a:rPr lang="en-US" sz="2114">
                <a:solidFill>
                  <a:srgbClr val="000000"/>
                </a:solidFill>
                <a:latin typeface="Poppins"/>
                <a:ea typeface="Poppins"/>
                <a:cs typeface="Poppins"/>
                <a:sym typeface="Poppins"/>
              </a:rPr>
              <a:t>WARNING: This operation affects all rows.</a:t>
            </a:r>
          </a:p>
          <a:p>
            <a:pPr algn="l">
              <a:lnSpc>
                <a:spcPts val="2960"/>
              </a:lnSpc>
            </a:pPr>
            <a:r>
              <a:rPr lang="en-US" sz="2114">
                <a:solidFill>
                  <a:srgbClr val="000000"/>
                </a:solidFill>
                <a:latin typeface="Poppins"/>
                <a:ea typeface="Poppins"/>
                <a:cs typeface="Poppins"/>
                <a:sym typeface="Poppins"/>
              </a:rPr>
              <a:t>Affected rows: 100</a:t>
            </a:r>
          </a:p>
          <a:p>
            <a:pPr algn="l">
              <a:lnSpc>
                <a:spcPts val="2960"/>
              </a:lnSpc>
            </a:pPr>
          </a:p>
          <a:p>
            <a:pPr algn="l">
              <a:lnSpc>
                <a:spcPts val="2960"/>
              </a:lnSpc>
            </a:pPr>
            <a:r>
              <a:rPr lang="en-US" sz="2114">
                <a:solidFill>
                  <a:srgbClr val="000000"/>
                </a:solidFill>
                <a:latin typeface="Poppins"/>
                <a:ea typeface="Poppins"/>
                <a:cs typeface="Poppins"/>
                <a:sym typeface="Poppins"/>
              </a:rPr>
              <a:t>Confirm deletion? (yes/no)</a:t>
            </a:r>
          </a:p>
        </p:txBody>
      </p:sp>
      <p:grpSp>
        <p:nvGrpSpPr>
          <p:cNvPr name="Group 11" id="11"/>
          <p:cNvGrpSpPr/>
          <p:nvPr/>
        </p:nvGrpSpPr>
        <p:grpSpPr>
          <a:xfrm rot="0">
            <a:off x="750176" y="4002074"/>
            <a:ext cx="6951480" cy="687898"/>
            <a:chOff x="0" y="0"/>
            <a:chExt cx="754218" cy="74635"/>
          </a:xfrm>
        </p:grpSpPr>
        <p:sp>
          <p:nvSpPr>
            <p:cNvPr name="Freeform 12" id="12"/>
            <p:cNvSpPr/>
            <p:nvPr/>
          </p:nvSpPr>
          <p:spPr>
            <a:xfrm flipH="false" flipV="false" rot="0">
              <a:off x="0" y="0"/>
              <a:ext cx="754218" cy="74635"/>
            </a:xfrm>
            <a:custGeom>
              <a:avLst/>
              <a:gdLst/>
              <a:ahLst/>
              <a:cxnLst/>
              <a:rect r="r" b="b" t="t" l="l"/>
              <a:pathLst>
                <a:path h="74635" w="754218">
                  <a:moveTo>
                    <a:pt x="37318" y="0"/>
                  </a:moveTo>
                  <a:lnTo>
                    <a:pt x="716900" y="0"/>
                  </a:lnTo>
                  <a:cubicBezTo>
                    <a:pt x="726797" y="0"/>
                    <a:pt x="736289" y="3932"/>
                    <a:pt x="743288" y="10930"/>
                  </a:cubicBezTo>
                  <a:cubicBezTo>
                    <a:pt x="750286" y="17928"/>
                    <a:pt x="754218" y="27420"/>
                    <a:pt x="754218" y="37318"/>
                  </a:cubicBezTo>
                  <a:lnTo>
                    <a:pt x="754218" y="37318"/>
                  </a:lnTo>
                  <a:cubicBezTo>
                    <a:pt x="754218" y="47215"/>
                    <a:pt x="750286" y="56707"/>
                    <a:pt x="743288" y="63705"/>
                  </a:cubicBezTo>
                  <a:cubicBezTo>
                    <a:pt x="736289" y="70704"/>
                    <a:pt x="726797" y="74635"/>
                    <a:pt x="716900" y="74635"/>
                  </a:cubicBezTo>
                  <a:lnTo>
                    <a:pt x="37318" y="74635"/>
                  </a:lnTo>
                  <a:cubicBezTo>
                    <a:pt x="27420" y="74635"/>
                    <a:pt x="17928" y="70704"/>
                    <a:pt x="10930" y="63705"/>
                  </a:cubicBezTo>
                  <a:cubicBezTo>
                    <a:pt x="3932" y="56707"/>
                    <a:pt x="0" y="47215"/>
                    <a:pt x="0" y="37318"/>
                  </a:cubicBezTo>
                  <a:lnTo>
                    <a:pt x="0" y="37318"/>
                  </a:lnTo>
                  <a:cubicBezTo>
                    <a:pt x="0" y="27420"/>
                    <a:pt x="3932" y="17928"/>
                    <a:pt x="10930" y="10930"/>
                  </a:cubicBezTo>
                  <a:cubicBezTo>
                    <a:pt x="17928" y="3932"/>
                    <a:pt x="27420" y="0"/>
                    <a:pt x="37318" y="0"/>
                  </a:cubicBezTo>
                  <a:close/>
                </a:path>
              </a:pathLst>
            </a:custGeom>
            <a:solidFill>
              <a:srgbClr val="112041"/>
            </a:solidFill>
          </p:spPr>
        </p:sp>
        <p:sp>
          <p:nvSpPr>
            <p:cNvPr name="TextBox 13" id="13"/>
            <p:cNvSpPr txBox="true"/>
            <p:nvPr/>
          </p:nvSpPr>
          <p:spPr>
            <a:xfrm>
              <a:off x="0" y="-47625"/>
              <a:ext cx="754218" cy="122260"/>
            </a:xfrm>
            <a:prstGeom prst="rect">
              <a:avLst/>
            </a:prstGeom>
          </p:spPr>
          <p:txBody>
            <a:bodyPr anchor="ctr" rtlCol="false" tIns="50800" lIns="50800" bIns="50800" rIns="50800"/>
            <a:lstStyle/>
            <a:p>
              <a:pPr algn="l">
                <a:lnSpc>
                  <a:spcPts val="2239"/>
                </a:lnSpc>
              </a:pPr>
            </a:p>
          </p:txBody>
        </p:sp>
      </p:grpSp>
      <p:grpSp>
        <p:nvGrpSpPr>
          <p:cNvPr name="Group 14" id="14"/>
          <p:cNvGrpSpPr/>
          <p:nvPr/>
        </p:nvGrpSpPr>
        <p:grpSpPr>
          <a:xfrm rot="0">
            <a:off x="9283185" y="6161413"/>
            <a:ext cx="6170539" cy="627538"/>
            <a:chOff x="0" y="0"/>
            <a:chExt cx="703703" cy="71566"/>
          </a:xfrm>
        </p:grpSpPr>
        <p:sp>
          <p:nvSpPr>
            <p:cNvPr name="Freeform 15" id="15"/>
            <p:cNvSpPr/>
            <p:nvPr/>
          </p:nvSpPr>
          <p:spPr>
            <a:xfrm flipH="false" flipV="false" rot="0">
              <a:off x="0" y="0"/>
              <a:ext cx="703703" cy="71566"/>
            </a:xfrm>
            <a:custGeom>
              <a:avLst/>
              <a:gdLst/>
              <a:ahLst/>
              <a:cxnLst/>
              <a:rect r="r" b="b" t="t" l="l"/>
              <a:pathLst>
                <a:path h="71566" w="703703">
                  <a:moveTo>
                    <a:pt x="35783" y="0"/>
                  </a:moveTo>
                  <a:lnTo>
                    <a:pt x="667920" y="0"/>
                  </a:lnTo>
                  <a:cubicBezTo>
                    <a:pt x="677411" y="0"/>
                    <a:pt x="686512" y="3770"/>
                    <a:pt x="693223" y="10481"/>
                  </a:cubicBezTo>
                  <a:cubicBezTo>
                    <a:pt x="699933" y="17191"/>
                    <a:pt x="703703" y="26293"/>
                    <a:pt x="703703" y="35783"/>
                  </a:cubicBezTo>
                  <a:lnTo>
                    <a:pt x="703703" y="35783"/>
                  </a:lnTo>
                  <a:cubicBezTo>
                    <a:pt x="703703" y="45273"/>
                    <a:pt x="699933" y="54375"/>
                    <a:pt x="693223" y="61085"/>
                  </a:cubicBezTo>
                  <a:cubicBezTo>
                    <a:pt x="686512" y="67796"/>
                    <a:pt x="677411" y="71566"/>
                    <a:pt x="667920" y="71566"/>
                  </a:cubicBezTo>
                  <a:lnTo>
                    <a:pt x="35783" y="71566"/>
                  </a:lnTo>
                  <a:cubicBezTo>
                    <a:pt x="26293" y="71566"/>
                    <a:pt x="17191" y="67796"/>
                    <a:pt x="10481" y="61085"/>
                  </a:cubicBezTo>
                  <a:cubicBezTo>
                    <a:pt x="3770" y="54375"/>
                    <a:pt x="0" y="45273"/>
                    <a:pt x="0" y="35783"/>
                  </a:cubicBezTo>
                  <a:lnTo>
                    <a:pt x="0" y="35783"/>
                  </a:lnTo>
                  <a:cubicBezTo>
                    <a:pt x="0" y="26293"/>
                    <a:pt x="3770" y="17191"/>
                    <a:pt x="10481" y="10481"/>
                  </a:cubicBezTo>
                  <a:cubicBezTo>
                    <a:pt x="17191" y="3770"/>
                    <a:pt x="26293" y="0"/>
                    <a:pt x="35783" y="0"/>
                  </a:cubicBezTo>
                  <a:close/>
                </a:path>
              </a:pathLst>
            </a:custGeom>
            <a:solidFill>
              <a:srgbClr val="112041"/>
            </a:solidFill>
          </p:spPr>
        </p:sp>
        <p:sp>
          <p:nvSpPr>
            <p:cNvPr name="TextBox 16" id="16"/>
            <p:cNvSpPr txBox="true"/>
            <p:nvPr/>
          </p:nvSpPr>
          <p:spPr>
            <a:xfrm>
              <a:off x="0" y="-47625"/>
              <a:ext cx="703703" cy="119191"/>
            </a:xfrm>
            <a:prstGeom prst="rect">
              <a:avLst/>
            </a:prstGeom>
          </p:spPr>
          <p:txBody>
            <a:bodyPr anchor="ctr" rtlCol="false" tIns="50800" lIns="50800" bIns="50800" rIns="50800"/>
            <a:lstStyle/>
            <a:p>
              <a:pPr algn="l">
                <a:lnSpc>
                  <a:spcPts val="2239"/>
                </a:lnSpc>
              </a:pPr>
            </a:p>
          </p:txBody>
        </p:sp>
      </p:grpSp>
      <p:sp>
        <p:nvSpPr>
          <p:cNvPr name="TextBox 17" id="17"/>
          <p:cNvSpPr txBox="true"/>
          <p:nvPr/>
        </p:nvSpPr>
        <p:spPr>
          <a:xfrm rot="0">
            <a:off x="558011" y="-105845"/>
            <a:ext cx="11528721" cy="1163485"/>
          </a:xfrm>
          <a:prstGeom prst="rect">
            <a:avLst/>
          </a:prstGeom>
        </p:spPr>
        <p:txBody>
          <a:bodyPr anchor="t" rtlCol="false" tIns="0" lIns="0" bIns="0" rIns="0">
            <a:spAutoFit/>
          </a:bodyPr>
          <a:lstStyle/>
          <a:p>
            <a:pPr algn="ctr">
              <a:lnSpc>
                <a:spcPts val="8153"/>
              </a:lnSpc>
            </a:pPr>
            <a:r>
              <a:rPr lang="en-US" sz="5823" b="true">
                <a:solidFill>
                  <a:srgbClr val="000000"/>
                </a:solidFill>
                <a:latin typeface="Agrandir Bold"/>
                <a:ea typeface="Agrandir Bold"/>
                <a:cs typeface="Agrandir Bold"/>
                <a:sym typeface="Agrandir Bold"/>
              </a:rPr>
              <a:t>Proposed feasible  features </a:t>
            </a:r>
          </a:p>
        </p:txBody>
      </p:sp>
      <p:sp>
        <p:nvSpPr>
          <p:cNvPr name="TextBox 18" id="18"/>
          <p:cNvSpPr txBox="true"/>
          <p:nvPr/>
        </p:nvSpPr>
        <p:spPr>
          <a:xfrm rot="0">
            <a:off x="1011003" y="2181637"/>
            <a:ext cx="5517347" cy="1326777"/>
          </a:xfrm>
          <a:prstGeom prst="rect">
            <a:avLst/>
          </a:prstGeom>
        </p:spPr>
        <p:txBody>
          <a:bodyPr anchor="t" rtlCol="false" tIns="0" lIns="0" bIns="0" rIns="0">
            <a:spAutoFit/>
          </a:bodyPr>
          <a:lstStyle/>
          <a:p>
            <a:pPr algn="l">
              <a:lnSpc>
                <a:spcPts val="3520"/>
              </a:lnSpc>
            </a:pPr>
            <a:r>
              <a:rPr lang="en-US" sz="2514">
                <a:solidFill>
                  <a:srgbClr val="000000"/>
                </a:solidFill>
                <a:latin typeface="Poppins"/>
                <a:ea typeface="Poppins"/>
                <a:cs typeface="Poppins"/>
                <a:sym typeface="Poppins"/>
              </a:rPr>
              <a:t>Implement CREATE TABLE, INSERT, SELECT, UPDATE, DELETE, WHERE, and basic relational data storage.</a:t>
            </a:r>
          </a:p>
        </p:txBody>
      </p:sp>
      <p:sp>
        <p:nvSpPr>
          <p:cNvPr name="TextBox 19" id="19"/>
          <p:cNvSpPr txBox="true"/>
          <p:nvPr/>
        </p:nvSpPr>
        <p:spPr>
          <a:xfrm rot="0">
            <a:off x="858290" y="4093011"/>
            <a:ext cx="8285710" cy="507619"/>
          </a:xfrm>
          <a:prstGeom prst="rect">
            <a:avLst/>
          </a:prstGeom>
        </p:spPr>
        <p:txBody>
          <a:bodyPr anchor="t" rtlCol="false" tIns="0" lIns="0" bIns="0" rIns="0">
            <a:spAutoFit/>
          </a:bodyPr>
          <a:lstStyle/>
          <a:p>
            <a:pPr algn="l">
              <a:lnSpc>
                <a:spcPts val="4046"/>
              </a:lnSpc>
            </a:pPr>
            <a:r>
              <a:rPr lang="en-US" sz="2890">
                <a:solidFill>
                  <a:srgbClr val="FFFFFF"/>
                </a:solidFill>
                <a:latin typeface="Poppins"/>
                <a:ea typeface="Poppins"/>
                <a:cs typeface="Poppins"/>
                <a:sym typeface="Poppins"/>
              </a:rPr>
              <a:t>Lightweight Query Execution Tracing</a:t>
            </a:r>
          </a:p>
        </p:txBody>
      </p:sp>
      <p:sp>
        <p:nvSpPr>
          <p:cNvPr name="TextBox 20" id="20"/>
          <p:cNvSpPr txBox="true"/>
          <p:nvPr/>
        </p:nvSpPr>
        <p:spPr>
          <a:xfrm rot="0">
            <a:off x="858290" y="4841155"/>
            <a:ext cx="5624949" cy="4409690"/>
          </a:xfrm>
          <a:prstGeom prst="rect">
            <a:avLst/>
          </a:prstGeom>
        </p:spPr>
        <p:txBody>
          <a:bodyPr anchor="t" rtlCol="false" tIns="0" lIns="0" bIns="0" rIns="0">
            <a:spAutoFit/>
          </a:bodyPr>
          <a:lstStyle/>
          <a:p>
            <a:pPr algn="l">
              <a:lnSpc>
                <a:spcPts val="3171"/>
              </a:lnSpc>
            </a:pPr>
            <a:r>
              <a:rPr lang="en-US" sz="2265">
                <a:solidFill>
                  <a:srgbClr val="000000"/>
                </a:solidFill>
                <a:latin typeface="Poppins"/>
                <a:ea typeface="Poppins"/>
                <a:cs typeface="Poppins"/>
                <a:sym typeface="Poppins"/>
              </a:rPr>
              <a:t>SELECT * FROM students</a:t>
            </a:r>
          </a:p>
          <a:p>
            <a:pPr algn="l">
              <a:lnSpc>
                <a:spcPts val="3171"/>
              </a:lnSpc>
            </a:pPr>
            <a:r>
              <a:rPr lang="en-US" sz="2265">
                <a:solidFill>
                  <a:srgbClr val="000000"/>
                </a:solidFill>
                <a:latin typeface="Poppins"/>
                <a:ea typeface="Poppins"/>
                <a:cs typeface="Poppins"/>
                <a:sym typeface="Poppins"/>
              </a:rPr>
              <a:t>WHERE department = 'CS';</a:t>
            </a:r>
          </a:p>
          <a:p>
            <a:pPr algn="l">
              <a:lnSpc>
                <a:spcPts val="3171"/>
              </a:lnSpc>
            </a:pPr>
            <a:r>
              <a:rPr lang="en-US" sz="2265">
                <a:solidFill>
                  <a:srgbClr val="000000"/>
                </a:solidFill>
                <a:latin typeface="Poppins"/>
                <a:ea typeface="Poppins"/>
                <a:cs typeface="Poppins"/>
                <a:sym typeface="Poppins"/>
              </a:rPr>
              <a:t>Execution Trace</a:t>
            </a:r>
          </a:p>
          <a:p>
            <a:pPr algn="l">
              <a:lnSpc>
                <a:spcPts val="3171"/>
              </a:lnSpc>
            </a:pPr>
          </a:p>
          <a:p>
            <a:pPr algn="l">
              <a:lnSpc>
                <a:spcPts val="3171"/>
              </a:lnSpc>
            </a:pPr>
            <a:r>
              <a:rPr lang="en-US" sz="2265">
                <a:solidFill>
                  <a:srgbClr val="000000"/>
                </a:solidFill>
                <a:latin typeface="Poppins"/>
                <a:ea typeface="Poppins"/>
                <a:cs typeface="Poppins"/>
                <a:sym typeface="Poppins"/>
              </a:rPr>
              <a:t>1. Parse query                 ✓</a:t>
            </a:r>
          </a:p>
          <a:p>
            <a:pPr algn="l">
              <a:lnSpc>
                <a:spcPts val="3171"/>
              </a:lnSpc>
            </a:pPr>
            <a:r>
              <a:rPr lang="en-US" sz="2265">
                <a:solidFill>
                  <a:srgbClr val="000000"/>
                </a:solidFill>
                <a:latin typeface="Poppins"/>
                <a:ea typeface="Poppins"/>
                <a:cs typeface="Poppins"/>
                <a:sym typeface="Poppins"/>
              </a:rPr>
              <a:t>2. Validate table              ✓</a:t>
            </a:r>
          </a:p>
          <a:p>
            <a:pPr algn="l">
              <a:lnSpc>
                <a:spcPts val="3171"/>
              </a:lnSpc>
            </a:pPr>
            <a:r>
              <a:rPr lang="en-US" sz="2265">
                <a:solidFill>
                  <a:srgbClr val="000000"/>
                </a:solidFill>
                <a:latin typeface="Poppins"/>
                <a:ea typeface="Poppins"/>
                <a:cs typeface="Poppins"/>
                <a:sym typeface="Poppins"/>
              </a:rPr>
              <a:t>3. Scan students               ✓</a:t>
            </a:r>
          </a:p>
          <a:p>
            <a:pPr algn="l">
              <a:lnSpc>
                <a:spcPts val="3171"/>
              </a:lnSpc>
            </a:pPr>
            <a:r>
              <a:rPr lang="en-US" sz="2265">
                <a:solidFill>
                  <a:srgbClr val="000000"/>
                </a:solidFill>
                <a:latin typeface="Poppins"/>
                <a:ea typeface="Poppins"/>
                <a:cs typeface="Poppins"/>
                <a:sym typeface="Poppins"/>
              </a:rPr>
              <a:t>4. Filter department = 'CS'    ✓</a:t>
            </a:r>
          </a:p>
          <a:p>
            <a:pPr algn="l">
              <a:lnSpc>
                <a:spcPts val="3171"/>
              </a:lnSpc>
            </a:pPr>
            <a:r>
              <a:rPr lang="en-US" sz="2265">
                <a:solidFill>
                  <a:srgbClr val="000000"/>
                </a:solidFill>
                <a:latin typeface="Poppins"/>
                <a:ea typeface="Poppins"/>
                <a:cs typeface="Poppins"/>
                <a:sym typeface="Poppins"/>
              </a:rPr>
              <a:t>5. Return 25 rows              ✓</a:t>
            </a:r>
          </a:p>
          <a:p>
            <a:pPr algn="l">
              <a:lnSpc>
                <a:spcPts val="3171"/>
              </a:lnSpc>
            </a:pPr>
          </a:p>
          <a:p>
            <a:pPr algn="l">
              <a:lnSpc>
                <a:spcPts val="3171"/>
              </a:lnSpc>
            </a:pPr>
            <a:r>
              <a:rPr lang="en-US" sz="2265">
                <a:solidFill>
                  <a:srgbClr val="000000"/>
                </a:solidFill>
                <a:latin typeface="Poppins"/>
                <a:ea typeface="Poppins"/>
                <a:cs typeface="Poppins"/>
                <a:sym typeface="Poppins"/>
              </a:rPr>
              <a:t>Execution time: 2 ms</a:t>
            </a:r>
          </a:p>
        </p:txBody>
      </p:sp>
      <p:sp>
        <p:nvSpPr>
          <p:cNvPr name="TextBox 21" id="21"/>
          <p:cNvSpPr txBox="true"/>
          <p:nvPr/>
        </p:nvSpPr>
        <p:spPr>
          <a:xfrm rot="0">
            <a:off x="9283047" y="1540445"/>
            <a:ext cx="6474210" cy="518047"/>
          </a:xfrm>
          <a:prstGeom prst="rect">
            <a:avLst/>
          </a:prstGeom>
        </p:spPr>
        <p:txBody>
          <a:bodyPr anchor="t" rtlCol="false" tIns="0" lIns="0" bIns="0" rIns="0">
            <a:spAutoFit/>
          </a:bodyPr>
          <a:lstStyle/>
          <a:p>
            <a:pPr algn="l">
              <a:lnSpc>
                <a:spcPts val="4099"/>
              </a:lnSpc>
            </a:pPr>
            <a:r>
              <a:rPr lang="en-US" sz="2928">
                <a:solidFill>
                  <a:srgbClr val="FFFFFF"/>
                </a:solidFill>
                <a:latin typeface="Poppins"/>
                <a:ea typeface="Poppins"/>
                <a:cs typeface="Poppins"/>
                <a:sym typeface="Poppins"/>
              </a:rPr>
              <a:t>Transaction Support and Recovery</a:t>
            </a:r>
          </a:p>
        </p:txBody>
      </p:sp>
      <p:sp>
        <p:nvSpPr>
          <p:cNvPr name="TextBox 22" id="22"/>
          <p:cNvSpPr txBox="true"/>
          <p:nvPr/>
        </p:nvSpPr>
        <p:spPr>
          <a:xfrm rot="0">
            <a:off x="9906542" y="2254254"/>
            <a:ext cx="4286821" cy="3773809"/>
          </a:xfrm>
          <a:prstGeom prst="rect">
            <a:avLst/>
          </a:prstGeom>
        </p:spPr>
        <p:txBody>
          <a:bodyPr anchor="t" rtlCol="false" tIns="0" lIns="0" bIns="0" rIns="0">
            <a:spAutoFit/>
          </a:bodyPr>
          <a:lstStyle/>
          <a:p>
            <a:pPr algn="l">
              <a:lnSpc>
                <a:spcPts val="2738"/>
              </a:lnSpc>
            </a:pPr>
            <a:r>
              <a:rPr lang="en-US" sz="1956">
                <a:solidFill>
                  <a:srgbClr val="000000"/>
                </a:solidFill>
                <a:latin typeface="Poppins"/>
                <a:ea typeface="Poppins"/>
                <a:cs typeface="Poppins"/>
                <a:sym typeface="Poppins"/>
              </a:rPr>
              <a:t>BEGIN;</a:t>
            </a:r>
          </a:p>
          <a:p>
            <a:pPr algn="l">
              <a:lnSpc>
                <a:spcPts val="2738"/>
              </a:lnSpc>
            </a:pPr>
          </a:p>
          <a:p>
            <a:pPr algn="l">
              <a:lnSpc>
                <a:spcPts val="2738"/>
              </a:lnSpc>
            </a:pPr>
            <a:r>
              <a:rPr lang="en-US" sz="1956">
                <a:solidFill>
                  <a:srgbClr val="000000"/>
                </a:solidFill>
                <a:latin typeface="Poppins"/>
                <a:ea typeface="Poppins"/>
                <a:cs typeface="Poppins"/>
                <a:sym typeface="Poppins"/>
              </a:rPr>
              <a:t>UPDATE accounts</a:t>
            </a:r>
          </a:p>
          <a:p>
            <a:pPr algn="l">
              <a:lnSpc>
                <a:spcPts val="2738"/>
              </a:lnSpc>
            </a:pPr>
            <a:r>
              <a:rPr lang="en-US" sz="1956">
                <a:solidFill>
                  <a:srgbClr val="000000"/>
                </a:solidFill>
                <a:latin typeface="Poppins"/>
                <a:ea typeface="Poppins"/>
                <a:cs typeface="Poppins"/>
                <a:sym typeface="Poppins"/>
              </a:rPr>
              <a:t>SET balance = balance - 1000</a:t>
            </a:r>
          </a:p>
          <a:p>
            <a:pPr algn="l">
              <a:lnSpc>
                <a:spcPts val="2738"/>
              </a:lnSpc>
            </a:pPr>
            <a:r>
              <a:rPr lang="en-US" sz="1956">
                <a:solidFill>
                  <a:srgbClr val="000000"/>
                </a:solidFill>
                <a:latin typeface="Poppins"/>
                <a:ea typeface="Poppins"/>
                <a:cs typeface="Poppins"/>
                <a:sym typeface="Poppins"/>
              </a:rPr>
              <a:t>WHERE id = 1;</a:t>
            </a:r>
          </a:p>
          <a:p>
            <a:pPr algn="l">
              <a:lnSpc>
                <a:spcPts val="2738"/>
              </a:lnSpc>
            </a:pPr>
          </a:p>
          <a:p>
            <a:pPr algn="l">
              <a:lnSpc>
                <a:spcPts val="2738"/>
              </a:lnSpc>
            </a:pPr>
            <a:r>
              <a:rPr lang="en-US" sz="1956">
                <a:solidFill>
                  <a:srgbClr val="000000"/>
                </a:solidFill>
                <a:latin typeface="Poppins"/>
                <a:ea typeface="Poppins"/>
                <a:cs typeface="Poppins"/>
                <a:sym typeface="Poppins"/>
              </a:rPr>
              <a:t>UPDATE accounts</a:t>
            </a:r>
          </a:p>
          <a:p>
            <a:pPr algn="l">
              <a:lnSpc>
                <a:spcPts val="2738"/>
              </a:lnSpc>
            </a:pPr>
            <a:r>
              <a:rPr lang="en-US" sz="1956">
                <a:solidFill>
                  <a:srgbClr val="000000"/>
                </a:solidFill>
                <a:latin typeface="Poppins"/>
                <a:ea typeface="Poppins"/>
                <a:cs typeface="Poppins"/>
                <a:sym typeface="Poppins"/>
              </a:rPr>
              <a:t>SET balance = balance + 1000</a:t>
            </a:r>
          </a:p>
          <a:p>
            <a:pPr algn="l">
              <a:lnSpc>
                <a:spcPts val="2738"/>
              </a:lnSpc>
            </a:pPr>
            <a:r>
              <a:rPr lang="en-US" sz="1956">
                <a:solidFill>
                  <a:srgbClr val="000000"/>
                </a:solidFill>
                <a:latin typeface="Poppins"/>
                <a:ea typeface="Poppins"/>
                <a:cs typeface="Poppins"/>
                <a:sym typeface="Poppins"/>
              </a:rPr>
              <a:t>WHERE id = 2;</a:t>
            </a:r>
          </a:p>
          <a:p>
            <a:pPr algn="l">
              <a:lnSpc>
                <a:spcPts val="2738"/>
              </a:lnSpc>
            </a:pPr>
          </a:p>
          <a:p>
            <a:pPr algn="l">
              <a:lnSpc>
                <a:spcPts val="2738"/>
              </a:lnSpc>
            </a:pPr>
            <a:r>
              <a:rPr lang="en-US" sz="1956">
                <a:solidFill>
                  <a:srgbClr val="000000"/>
                </a:solidFill>
                <a:latin typeface="Poppins"/>
                <a:ea typeface="Poppins"/>
                <a:cs typeface="Poppins"/>
                <a:sym typeface="Poppins"/>
              </a:rPr>
              <a:t>COMMIT;</a:t>
            </a:r>
          </a:p>
        </p:txBody>
      </p:sp>
      <p:sp>
        <p:nvSpPr>
          <p:cNvPr name="TextBox 23" id="23"/>
          <p:cNvSpPr txBox="true"/>
          <p:nvPr/>
        </p:nvSpPr>
        <p:spPr>
          <a:xfrm rot="0">
            <a:off x="9527875" y="6177367"/>
            <a:ext cx="7731425" cy="509906"/>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Safe UPDATE / DELETE Preview</a:t>
            </a:r>
          </a:p>
        </p:txBody>
      </p:sp>
      <p:sp>
        <p:nvSpPr>
          <p:cNvPr name="Freeform 24" id="24"/>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88109" y="2674863"/>
            <a:ext cx="5007489" cy="6164505"/>
            <a:chOff x="0" y="0"/>
            <a:chExt cx="1318794" cy="1623590"/>
          </a:xfrm>
        </p:grpSpPr>
        <p:sp>
          <p:nvSpPr>
            <p:cNvPr name="Freeform 3" id="3"/>
            <p:cNvSpPr/>
            <p:nvPr/>
          </p:nvSpPr>
          <p:spPr>
            <a:xfrm flipH="false" flipV="false" rot="0">
              <a:off x="0" y="0"/>
              <a:ext cx="1318794" cy="1623590"/>
            </a:xfrm>
            <a:custGeom>
              <a:avLst/>
              <a:gdLst/>
              <a:ahLst/>
              <a:cxnLst/>
              <a:rect r="r" b="b" t="t" l="l"/>
              <a:pathLst>
                <a:path h="1623590" w="1318794">
                  <a:moveTo>
                    <a:pt x="1318794" y="60297"/>
                  </a:moveTo>
                  <a:lnTo>
                    <a:pt x="1318794" y="1563293"/>
                  </a:lnTo>
                  <a:cubicBezTo>
                    <a:pt x="1318794" y="1596594"/>
                    <a:pt x="1291798" y="1623590"/>
                    <a:pt x="1258497" y="1623590"/>
                  </a:cubicBezTo>
                  <a:lnTo>
                    <a:pt x="60297" y="1623590"/>
                  </a:lnTo>
                  <a:cubicBezTo>
                    <a:pt x="26996" y="1623590"/>
                    <a:pt x="0" y="1596594"/>
                    <a:pt x="0" y="1563293"/>
                  </a:cubicBezTo>
                  <a:lnTo>
                    <a:pt x="0" y="60297"/>
                  </a:lnTo>
                  <a:cubicBezTo>
                    <a:pt x="0" y="26996"/>
                    <a:pt x="26996" y="0"/>
                    <a:pt x="60297" y="0"/>
                  </a:cubicBezTo>
                  <a:lnTo>
                    <a:pt x="1258497" y="0"/>
                  </a:lnTo>
                  <a:cubicBezTo>
                    <a:pt x="1274489" y="0"/>
                    <a:pt x="1289826" y="6353"/>
                    <a:pt x="1301134" y="17660"/>
                  </a:cubicBezTo>
                  <a:cubicBezTo>
                    <a:pt x="1312441" y="28968"/>
                    <a:pt x="1318794" y="44305"/>
                    <a:pt x="1318794" y="60297"/>
                  </a:cubicBezTo>
                  <a:close/>
                </a:path>
              </a:pathLst>
            </a:custGeom>
            <a:solidFill>
              <a:srgbClr val="1A2A49">
                <a:alpha val="80784"/>
              </a:srgbClr>
            </a:solidFill>
          </p:spPr>
        </p:sp>
        <p:sp>
          <p:nvSpPr>
            <p:cNvPr name="TextBox 4" id="4"/>
            <p:cNvSpPr txBox="true"/>
            <p:nvPr/>
          </p:nvSpPr>
          <p:spPr>
            <a:xfrm>
              <a:off x="0" y="-85725"/>
              <a:ext cx="1318794" cy="1709315"/>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549406">
            <a:off x="17369553" y="-412200"/>
            <a:ext cx="2590371" cy="11191157"/>
            <a:chOff x="0" y="0"/>
            <a:chExt cx="682238" cy="2947465"/>
          </a:xfrm>
        </p:grpSpPr>
        <p:sp>
          <p:nvSpPr>
            <p:cNvPr name="Freeform 6" id="6"/>
            <p:cNvSpPr/>
            <p:nvPr/>
          </p:nvSpPr>
          <p:spPr>
            <a:xfrm flipH="false" flipV="false" rot="0">
              <a:off x="0" y="0"/>
              <a:ext cx="682238" cy="2947465"/>
            </a:xfrm>
            <a:custGeom>
              <a:avLst/>
              <a:gdLst/>
              <a:ahLst/>
              <a:cxnLst/>
              <a:rect r="r" b="b" t="t" l="l"/>
              <a:pathLst>
                <a:path h="2947465" w="682238">
                  <a:moveTo>
                    <a:pt x="0" y="0"/>
                  </a:moveTo>
                  <a:lnTo>
                    <a:pt x="682238" y="0"/>
                  </a:lnTo>
                  <a:lnTo>
                    <a:pt x="682238" y="2947465"/>
                  </a:lnTo>
                  <a:lnTo>
                    <a:pt x="0" y="2947465"/>
                  </a:lnTo>
                  <a:close/>
                </a:path>
              </a:pathLst>
            </a:custGeom>
            <a:solidFill>
              <a:srgbClr val="112041">
                <a:alpha val="76863"/>
              </a:srgbClr>
            </a:solidFill>
          </p:spPr>
        </p:sp>
        <p:sp>
          <p:nvSpPr>
            <p:cNvPr name="TextBox 7" id="7"/>
            <p:cNvSpPr txBox="true"/>
            <p:nvPr/>
          </p:nvSpPr>
          <p:spPr>
            <a:xfrm>
              <a:off x="0" y="-85725"/>
              <a:ext cx="682238" cy="3033190"/>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1258952">
            <a:off x="-874767" y="-609520"/>
            <a:ext cx="1789592" cy="4968696"/>
            <a:chOff x="0" y="0"/>
            <a:chExt cx="471333" cy="1308628"/>
          </a:xfrm>
        </p:grpSpPr>
        <p:sp>
          <p:nvSpPr>
            <p:cNvPr name="Freeform 9" id="9"/>
            <p:cNvSpPr/>
            <p:nvPr/>
          </p:nvSpPr>
          <p:spPr>
            <a:xfrm flipH="false" flipV="false" rot="0">
              <a:off x="0" y="0"/>
              <a:ext cx="471333" cy="1308628"/>
            </a:xfrm>
            <a:custGeom>
              <a:avLst/>
              <a:gdLst/>
              <a:ahLst/>
              <a:cxnLst/>
              <a:rect r="r" b="b" t="t" l="l"/>
              <a:pathLst>
                <a:path h="1308628" w="471333">
                  <a:moveTo>
                    <a:pt x="0" y="0"/>
                  </a:moveTo>
                  <a:lnTo>
                    <a:pt x="471333" y="0"/>
                  </a:lnTo>
                  <a:lnTo>
                    <a:pt x="471333" y="1308628"/>
                  </a:lnTo>
                  <a:lnTo>
                    <a:pt x="0" y="1308628"/>
                  </a:lnTo>
                  <a:close/>
                </a:path>
              </a:pathLst>
            </a:custGeom>
            <a:solidFill>
              <a:srgbClr val="112041">
                <a:alpha val="76863"/>
              </a:srgbClr>
            </a:solidFill>
          </p:spPr>
        </p:sp>
        <p:sp>
          <p:nvSpPr>
            <p:cNvPr name="TextBox 10" id="10"/>
            <p:cNvSpPr txBox="true"/>
            <p:nvPr/>
          </p:nvSpPr>
          <p:spPr>
            <a:xfrm>
              <a:off x="0" y="-85725"/>
              <a:ext cx="471333" cy="1394353"/>
            </a:xfrm>
            <a:prstGeom prst="rect">
              <a:avLst/>
            </a:prstGeom>
          </p:spPr>
          <p:txBody>
            <a:bodyPr anchor="ctr" rtlCol="false" tIns="50800" lIns="50800" bIns="50800" rIns="50800"/>
            <a:lstStyle/>
            <a:p>
              <a:pPr algn="ctr">
                <a:lnSpc>
                  <a:spcPts val="2239"/>
                </a:lnSpc>
              </a:pPr>
            </a:p>
          </p:txBody>
        </p:sp>
      </p:grpSp>
      <p:sp>
        <p:nvSpPr>
          <p:cNvPr name="Freeform 11" id="11"/>
          <p:cNvSpPr/>
          <p:nvPr/>
        </p:nvSpPr>
        <p:spPr>
          <a:xfrm flipH="false" flipV="false" rot="0">
            <a:off x="1232609" y="698037"/>
            <a:ext cx="1024972" cy="169586"/>
          </a:xfrm>
          <a:custGeom>
            <a:avLst/>
            <a:gdLst/>
            <a:ahLst/>
            <a:cxnLst/>
            <a:rect r="r" b="b" t="t" l="l"/>
            <a:pathLst>
              <a:path h="169586" w="1024972">
                <a:moveTo>
                  <a:pt x="0" y="0"/>
                </a:moveTo>
                <a:lnTo>
                  <a:pt x="1024971" y="0"/>
                </a:lnTo>
                <a:lnTo>
                  <a:pt x="1024971" y="169586"/>
                </a:lnTo>
                <a:lnTo>
                  <a:pt x="0" y="169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716018" y="6592106"/>
            <a:ext cx="382449" cy="256915"/>
          </a:xfrm>
          <a:custGeom>
            <a:avLst/>
            <a:gdLst/>
            <a:ahLst/>
            <a:cxnLst/>
            <a:rect r="r" b="b" t="t" l="l"/>
            <a:pathLst>
              <a:path h="256915" w="382449">
                <a:moveTo>
                  <a:pt x="0" y="0"/>
                </a:moveTo>
                <a:lnTo>
                  <a:pt x="382448" y="0"/>
                </a:lnTo>
                <a:lnTo>
                  <a:pt x="382448" y="256915"/>
                </a:lnTo>
                <a:lnTo>
                  <a:pt x="0" y="256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734726" y="7247166"/>
            <a:ext cx="345032" cy="341268"/>
          </a:xfrm>
          <a:custGeom>
            <a:avLst/>
            <a:gdLst/>
            <a:ahLst/>
            <a:cxnLst/>
            <a:rect r="r" b="b" t="t" l="l"/>
            <a:pathLst>
              <a:path h="341268" w="345032">
                <a:moveTo>
                  <a:pt x="0" y="0"/>
                </a:moveTo>
                <a:lnTo>
                  <a:pt x="345032" y="0"/>
                </a:lnTo>
                <a:lnTo>
                  <a:pt x="345032" y="341268"/>
                </a:lnTo>
                <a:lnTo>
                  <a:pt x="0" y="341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2775589" y="7929767"/>
            <a:ext cx="263306" cy="400050"/>
          </a:xfrm>
          <a:custGeom>
            <a:avLst/>
            <a:gdLst/>
            <a:ahLst/>
            <a:cxnLst/>
            <a:rect r="r" b="b" t="t" l="l"/>
            <a:pathLst>
              <a:path h="400050" w="263306">
                <a:moveTo>
                  <a:pt x="0" y="0"/>
                </a:moveTo>
                <a:lnTo>
                  <a:pt x="263306" y="0"/>
                </a:lnTo>
                <a:lnTo>
                  <a:pt x="263306" y="400050"/>
                </a:lnTo>
                <a:lnTo>
                  <a:pt x="0" y="4000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885380" y="2110372"/>
            <a:ext cx="9971046" cy="5819396"/>
          </a:xfrm>
          <a:custGeom>
            <a:avLst/>
            <a:gdLst/>
            <a:ahLst/>
            <a:cxnLst/>
            <a:rect r="r" b="b" t="t" l="l"/>
            <a:pathLst>
              <a:path h="5819396" w="9971046">
                <a:moveTo>
                  <a:pt x="0" y="0"/>
                </a:moveTo>
                <a:lnTo>
                  <a:pt x="9971047" y="0"/>
                </a:lnTo>
                <a:lnTo>
                  <a:pt x="9971047" y="5819395"/>
                </a:lnTo>
                <a:lnTo>
                  <a:pt x="0" y="5819395"/>
                </a:lnTo>
                <a:lnTo>
                  <a:pt x="0" y="0"/>
                </a:lnTo>
                <a:close/>
              </a:path>
            </a:pathLst>
          </a:custGeom>
          <a:blipFill>
            <a:blip r:embed="rId10"/>
            <a:stretch>
              <a:fillRect l="-845" t="0" r="-3282" b="0"/>
            </a:stretch>
          </a:blipFill>
        </p:spPr>
      </p:sp>
      <p:sp>
        <p:nvSpPr>
          <p:cNvPr name="TextBox 16" id="16"/>
          <p:cNvSpPr txBox="true"/>
          <p:nvPr/>
        </p:nvSpPr>
        <p:spPr>
          <a:xfrm rot="0">
            <a:off x="11944484" y="2681588"/>
            <a:ext cx="4265919" cy="6157780"/>
          </a:xfrm>
          <a:prstGeom prst="rect">
            <a:avLst/>
          </a:prstGeom>
        </p:spPr>
        <p:txBody>
          <a:bodyPr anchor="t" rtlCol="false" tIns="0" lIns="0" bIns="0" rIns="0">
            <a:spAutoFit/>
          </a:bodyPr>
          <a:lstStyle/>
          <a:p>
            <a:pPr algn="ctr">
              <a:lnSpc>
                <a:spcPts val="2894"/>
              </a:lnSpc>
            </a:pPr>
            <a:r>
              <a:rPr lang="en-US" sz="2067" spc="-41">
                <a:solidFill>
                  <a:srgbClr val="FFFFFF"/>
                </a:solidFill>
                <a:latin typeface="Poppins"/>
                <a:ea typeface="Poppins"/>
                <a:cs typeface="Poppins"/>
                <a:sym typeface="Poppins"/>
              </a:rPr>
              <a:t>Assess whether the proposed system will realistically work within the target environment/users.</a:t>
            </a:r>
          </a:p>
          <a:p>
            <a:pPr algn="ctr">
              <a:lnSpc>
                <a:spcPts val="2894"/>
              </a:lnSpc>
            </a:pPr>
            <a:r>
              <a:rPr lang="en-US" sz="2067" spc="-41">
                <a:solidFill>
                  <a:srgbClr val="FFFFFF"/>
                </a:solidFill>
                <a:latin typeface="Poppins"/>
                <a:ea typeface="Poppins"/>
                <a:cs typeface="Poppins"/>
                <a:sym typeface="Poppins"/>
              </a:rPr>
              <a:t>The system will run as a local command-line database application. Users can create tables, insert records, execute supported queries, preview changes, and commit or roll back transactions. It will not require an internet connection or external database server. The system is suitable for demonstrations and small datasets, but not intended for production-critical workloads</a:t>
            </a:r>
          </a:p>
          <a:p>
            <a:pPr algn="ctr" marL="0" indent="0" lvl="0">
              <a:lnSpc>
                <a:spcPts val="2894"/>
              </a:lnSpc>
              <a:spcBef>
                <a:spcPct val="0"/>
              </a:spcBef>
            </a:pPr>
          </a:p>
        </p:txBody>
      </p:sp>
      <p:sp>
        <p:nvSpPr>
          <p:cNvPr name="TextBox 17" id="17"/>
          <p:cNvSpPr txBox="true"/>
          <p:nvPr/>
        </p:nvSpPr>
        <p:spPr>
          <a:xfrm rot="0">
            <a:off x="11828680" y="2034172"/>
            <a:ext cx="4381723" cy="48387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Poppins"/>
                <a:ea typeface="Poppins"/>
                <a:cs typeface="Poppins"/>
                <a:sym typeface="Poppins"/>
              </a:rPr>
              <a:t>2.OPERATIONAL FEASIBILITY</a:t>
            </a:r>
          </a:p>
        </p:txBody>
      </p:sp>
      <p:sp>
        <p:nvSpPr>
          <p:cNvPr name="TextBox 18" id="18"/>
          <p:cNvSpPr txBox="true"/>
          <p:nvPr/>
        </p:nvSpPr>
        <p:spPr>
          <a:xfrm rot="0">
            <a:off x="558011" y="-105845"/>
            <a:ext cx="11528721" cy="1163485"/>
          </a:xfrm>
          <a:prstGeom prst="rect">
            <a:avLst/>
          </a:prstGeom>
        </p:spPr>
        <p:txBody>
          <a:bodyPr anchor="t" rtlCol="false" tIns="0" lIns="0" bIns="0" rIns="0">
            <a:spAutoFit/>
          </a:bodyPr>
          <a:lstStyle/>
          <a:p>
            <a:pPr algn="ctr">
              <a:lnSpc>
                <a:spcPts val="8153"/>
              </a:lnSpc>
            </a:pPr>
            <a:r>
              <a:rPr lang="en-US" sz="5823" b="true">
                <a:solidFill>
                  <a:srgbClr val="000000"/>
                </a:solidFill>
                <a:latin typeface="Agrandir Bold"/>
                <a:ea typeface="Agrandir Bold"/>
                <a:cs typeface="Agrandir Bold"/>
                <a:sym typeface="Agrandir Bold"/>
              </a:rPr>
              <a:t>Feasibility Analysis</a:t>
            </a:r>
          </a:p>
        </p:txBody>
      </p:sp>
      <p:sp>
        <p:nvSpPr>
          <p:cNvPr name="Freeform 19" id="19"/>
          <p:cNvSpPr/>
          <p:nvPr/>
        </p:nvSpPr>
        <p:spPr>
          <a:xfrm flipH="false" flipV="false" rot="0">
            <a:off x="12086733"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11"/>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00488" y="324980"/>
            <a:ext cx="9361428" cy="880111"/>
          </a:xfrm>
          <a:prstGeom prst="rect">
            <a:avLst/>
          </a:prstGeom>
        </p:spPr>
        <p:txBody>
          <a:bodyPr anchor="t" rtlCol="false" tIns="0" lIns="0" bIns="0" rIns="0">
            <a:spAutoFit/>
          </a:bodyPr>
          <a:lstStyle/>
          <a:p>
            <a:pPr algn="l">
              <a:lnSpc>
                <a:spcPts val="5400"/>
              </a:lnSpc>
            </a:pPr>
            <a:r>
              <a:rPr lang="en-US" sz="5400" b="true">
                <a:solidFill>
                  <a:srgbClr val="000000"/>
                </a:solidFill>
                <a:latin typeface="Agrandir Bold"/>
                <a:ea typeface="Agrandir Bold"/>
                <a:cs typeface="Agrandir Bold"/>
                <a:sym typeface="Agrandir Bold"/>
              </a:rPr>
              <a:t>What Could Go Wrong:</a:t>
            </a:r>
            <a:r>
              <a:rPr lang="en-US" sz="5400" b="true">
                <a:solidFill>
                  <a:srgbClr val="000000"/>
                </a:solidFill>
                <a:latin typeface="Agrandir Bold"/>
                <a:ea typeface="Agrandir Bold"/>
                <a:cs typeface="Agrandir Bold"/>
                <a:sym typeface="Agrandir Bold"/>
              </a:rPr>
              <a:t> </a:t>
            </a:r>
          </a:p>
        </p:txBody>
      </p:sp>
      <p:grpSp>
        <p:nvGrpSpPr>
          <p:cNvPr name="Group 3" id="3"/>
          <p:cNvGrpSpPr/>
          <p:nvPr/>
        </p:nvGrpSpPr>
        <p:grpSpPr>
          <a:xfrm rot="6550077">
            <a:off x="1921584" y="4858499"/>
            <a:ext cx="5828391" cy="13655151"/>
            <a:chOff x="0" y="0"/>
            <a:chExt cx="1535049" cy="3596418"/>
          </a:xfrm>
        </p:grpSpPr>
        <p:sp>
          <p:nvSpPr>
            <p:cNvPr name="Freeform 4" id="4"/>
            <p:cNvSpPr/>
            <p:nvPr/>
          </p:nvSpPr>
          <p:spPr>
            <a:xfrm flipH="false" flipV="false" rot="0">
              <a:off x="0" y="0"/>
              <a:ext cx="1535050" cy="3596418"/>
            </a:xfrm>
            <a:custGeom>
              <a:avLst/>
              <a:gdLst/>
              <a:ahLst/>
              <a:cxnLst/>
              <a:rect r="r" b="b" t="t" l="l"/>
              <a:pathLst>
                <a:path h="3596418" w="1535050">
                  <a:moveTo>
                    <a:pt x="0" y="0"/>
                  </a:moveTo>
                  <a:lnTo>
                    <a:pt x="1535050" y="0"/>
                  </a:lnTo>
                  <a:lnTo>
                    <a:pt x="1535050" y="3596418"/>
                  </a:lnTo>
                  <a:lnTo>
                    <a:pt x="0" y="3596418"/>
                  </a:lnTo>
                  <a:close/>
                </a:path>
              </a:pathLst>
            </a:custGeom>
            <a:solidFill>
              <a:srgbClr val="112041">
                <a:alpha val="76863"/>
              </a:srgbClr>
            </a:solidFill>
          </p:spPr>
        </p:sp>
        <p:sp>
          <p:nvSpPr>
            <p:cNvPr name="TextBox 5" id="5"/>
            <p:cNvSpPr txBox="true"/>
            <p:nvPr/>
          </p:nvSpPr>
          <p:spPr>
            <a:xfrm>
              <a:off x="0" y="-85725"/>
              <a:ext cx="1535049" cy="3682143"/>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1513577" y="2031059"/>
            <a:ext cx="8748339" cy="5489059"/>
            <a:chOff x="0" y="0"/>
            <a:chExt cx="1236048" cy="775546"/>
          </a:xfrm>
        </p:grpSpPr>
        <p:sp>
          <p:nvSpPr>
            <p:cNvPr name="Freeform 7" id="7"/>
            <p:cNvSpPr/>
            <p:nvPr/>
          </p:nvSpPr>
          <p:spPr>
            <a:xfrm flipH="false" flipV="false" rot="0">
              <a:off x="0" y="0"/>
              <a:ext cx="1236048" cy="775546"/>
            </a:xfrm>
            <a:custGeom>
              <a:avLst/>
              <a:gdLst/>
              <a:ahLst/>
              <a:cxnLst/>
              <a:rect r="r" b="b" t="t" l="l"/>
              <a:pathLst>
                <a:path h="775546" w="1236048">
                  <a:moveTo>
                    <a:pt x="46018" y="0"/>
                  </a:moveTo>
                  <a:lnTo>
                    <a:pt x="1190030" y="0"/>
                  </a:lnTo>
                  <a:cubicBezTo>
                    <a:pt x="1215445" y="0"/>
                    <a:pt x="1236048" y="20603"/>
                    <a:pt x="1236048" y="46018"/>
                  </a:cubicBezTo>
                  <a:lnTo>
                    <a:pt x="1236048" y="729528"/>
                  </a:lnTo>
                  <a:cubicBezTo>
                    <a:pt x="1236048" y="754943"/>
                    <a:pt x="1215445" y="775546"/>
                    <a:pt x="1190030" y="775546"/>
                  </a:cubicBezTo>
                  <a:lnTo>
                    <a:pt x="46018" y="775546"/>
                  </a:lnTo>
                  <a:cubicBezTo>
                    <a:pt x="20603" y="775546"/>
                    <a:pt x="0" y="754943"/>
                    <a:pt x="0" y="729528"/>
                  </a:cubicBezTo>
                  <a:lnTo>
                    <a:pt x="0" y="46018"/>
                  </a:lnTo>
                  <a:cubicBezTo>
                    <a:pt x="0" y="20603"/>
                    <a:pt x="20603" y="0"/>
                    <a:pt x="46018" y="0"/>
                  </a:cubicBezTo>
                  <a:close/>
                </a:path>
              </a:pathLst>
            </a:custGeom>
            <a:solidFill>
              <a:srgbClr val="1A2A49">
                <a:alpha val="55686"/>
              </a:srgbClr>
            </a:solidFill>
          </p:spPr>
        </p:sp>
      </p:grpSp>
      <p:grpSp>
        <p:nvGrpSpPr>
          <p:cNvPr name="Group 8" id="8"/>
          <p:cNvGrpSpPr/>
          <p:nvPr/>
        </p:nvGrpSpPr>
        <p:grpSpPr>
          <a:xfrm rot="0">
            <a:off x="11316981" y="4313707"/>
            <a:ext cx="6706727" cy="5411301"/>
            <a:chOff x="0" y="0"/>
            <a:chExt cx="830865" cy="670381"/>
          </a:xfrm>
        </p:grpSpPr>
        <p:sp>
          <p:nvSpPr>
            <p:cNvPr name="Freeform 9" id="9"/>
            <p:cNvSpPr/>
            <p:nvPr/>
          </p:nvSpPr>
          <p:spPr>
            <a:xfrm flipH="false" flipV="false" rot="0">
              <a:off x="0" y="0"/>
              <a:ext cx="830865" cy="670381"/>
            </a:xfrm>
            <a:custGeom>
              <a:avLst/>
              <a:gdLst/>
              <a:ahLst/>
              <a:cxnLst/>
              <a:rect r="r" b="b" t="t" l="l"/>
              <a:pathLst>
                <a:path h="670381" w="830865">
                  <a:moveTo>
                    <a:pt x="60026" y="0"/>
                  </a:moveTo>
                  <a:lnTo>
                    <a:pt x="770839" y="0"/>
                  </a:lnTo>
                  <a:cubicBezTo>
                    <a:pt x="786759" y="0"/>
                    <a:pt x="802027" y="6324"/>
                    <a:pt x="813284" y="17581"/>
                  </a:cubicBezTo>
                  <a:cubicBezTo>
                    <a:pt x="824541" y="28838"/>
                    <a:pt x="830865" y="44106"/>
                    <a:pt x="830865" y="60026"/>
                  </a:cubicBezTo>
                  <a:lnTo>
                    <a:pt x="830865" y="610355"/>
                  </a:lnTo>
                  <a:cubicBezTo>
                    <a:pt x="830865" y="626275"/>
                    <a:pt x="824541" y="641542"/>
                    <a:pt x="813284" y="652800"/>
                  </a:cubicBezTo>
                  <a:cubicBezTo>
                    <a:pt x="802027" y="664057"/>
                    <a:pt x="786759" y="670381"/>
                    <a:pt x="770839" y="670381"/>
                  </a:cubicBezTo>
                  <a:lnTo>
                    <a:pt x="60026" y="670381"/>
                  </a:lnTo>
                  <a:cubicBezTo>
                    <a:pt x="44106" y="670381"/>
                    <a:pt x="28838" y="664057"/>
                    <a:pt x="17581" y="652800"/>
                  </a:cubicBezTo>
                  <a:cubicBezTo>
                    <a:pt x="6324" y="641542"/>
                    <a:pt x="0" y="626275"/>
                    <a:pt x="0" y="610355"/>
                  </a:cubicBezTo>
                  <a:lnTo>
                    <a:pt x="0" y="60026"/>
                  </a:lnTo>
                  <a:cubicBezTo>
                    <a:pt x="0" y="44106"/>
                    <a:pt x="6324" y="28838"/>
                    <a:pt x="17581" y="17581"/>
                  </a:cubicBezTo>
                  <a:cubicBezTo>
                    <a:pt x="28838" y="6324"/>
                    <a:pt x="44106" y="0"/>
                    <a:pt x="60026" y="0"/>
                  </a:cubicBezTo>
                  <a:close/>
                </a:path>
              </a:pathLst>
            </a:custGeom>
            <a:solidFill>
              <a:srgbClr val="9B836B">
                <a:alpha val="90980"/>
              </a:srgbClr>
            </a:solidFill>
          </p:spPr>
        </p:sp>
      </p:grpSp>
      <p:grpSp>
        <p:nvGrpSpPr>
          <p:cNvPr name="Group 10" id="10"/>
          <p:cNvGrpSpPr/>
          <p:nvPr/>
        </p:nvGrpSpPr>
        <p:grpSpPr>
          <a:xfrm rot="6023121">
            <a:off x="16851000" y="-3212871"/>
            <a:ext cx="1331583" cy="6425742"/>
            <a:chOff x="0" y="0"/>
            <a:chExt cx="350705" cy="1692376"/>
          </a:xfrm>
        </p:grpSpPr>
        <p:sp>
          <p:nvSpPr>
            <p:cNvPr name="Freeform 11" id="11"/>
            <p:cNvSpPr/>
            <p:nvPr/>
          </p:nvSpPr>
          <p:spPr>
            <a:xfrm flipH="false" flipV="false" rot="0">
              <a:off x="0" y="0"/>
              <a:ext cx="350705" cy="1692376"/>
            </a:xfrm>
            <a:custGeom>
              <a:avLst/>
              <a:gdLst/>
              <a:ahLst/>
              <a:cxnLst/>
              <a:rect r="r" b="b" t="t" l="l"/>
              <a:pathLst>
                <a:path h="1692376" w="350705">
                  <a:moveTo>
                    <a:pt x="0" y="0"/>
                  </a:moveTo>
                  <a:lnTo>
                    <a:pt x="350705" y="0"/>
                  </a:lnTo>
                  <a:lnTo>
                    <a:pt x="350705" y="1692376"/>
                  </a:lnTo>
                  <a:lnTo>
                    <a:pt x="0" y="1692376"/>
                  </a:lnTo>
                  <a:close/>
                </a:path>
              </a:pathLst>
            </a:custGeom>
            <a:solidFill>
              <a:srgbClr val="112041">
                <a:alpha val="76863"/>
              </a:srgbClr>
            </a:solidFill>
          </p:spPr>
        </p:sp>
        <p:sp>
          <p:nvSpPr>
            <p:cNvPr name="TextBox 12" id="12"/>
            <p:cNvSpPr txBox="true"/>
            <p:nvPr/>
          </p:nvSpPr>
          <p:spPr>
            <a:xfrm>
              <a:off x="0" y="-85725"/>
              <a:ext cx="350705" cy="1778101"/>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10855100" y="4703134"/>
            <a:ext cx="593703" cy="880732"/>
          </a:xfrm>
          <a:custGeom>
            <a:avLst/>
            <a:gdLst/>
            <a:ahLst/>
            <a:cxnLst/>
            <a:rect r="r" b="b" t="t" l="l"/>
            <a:pathLst>
              <a:path h="880732" w="593703">
                <a:moveTo>
                  <a:pt x="0" y="0"/>
                </a:moveTo>
                <a:lnTo>
                  <a:pt x="593703" y="0"/>
                </a:lnTo>
                <a:lnTo>
                  <a:pt x="593703" y="880732"/>
                </a:lnTo>
                <a:lnTo>
                  <a:pt x="0" y="880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58415" y="639753"/>
            <a:ext cx="3820012" cy="777893"/>
          </a:xfrm>
          <a:custGeom>
            <a:avLst/>
            <a:gdLst/>
            <a:ahLst/>
            <a:cxnLst/>
            <a:rect r="r" b="b" t="t" l="l"/>
            <a:pathLst>
              <a:path h="777893" w="3820012">
                <a:moveTo>
                  <a:pt x="0" y="0"/>
                </a:moveTo>
                <a:lnTo>
                  <a:pt x="3820012" y="0"/>
                </a:lnTo>
                <a:lnTo>
                  <a:pt x="3820012" y="777894"/>
                </a:lnTo>
                <a:lnTo>
                  <a:pt x="0" y="777894"/>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513577" y="7239754"/>
            <a:ext cx="560728" cy="560728"/>
          </a:xfrm>
          <a:custGeom>
            <a:avLst/>
            <a:gdLst/>
            <a:ahLst/>
            <a:cxnLst/>
            <a:rect r="r" b="b" t="t" l="l"/>
            <a:pathLst>
              <a:path h="560728" w="560728">
                <a:moveTo>
                  <a:pt x="0" y="0"/>
                </a:moveTo>
                <a:lnTo>
                  <a:pt x="560729" y="0"/>
                </a:lnTo>
                <a:lnTo>
                  <a:pt x="560729" y="560728"/>
                </a:lnTo>
                <a:lnTo>
                  <a:pt x="0" y="5607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113703" y="8222271"/>
            <a:ext cx="3820012" cy="777893"/>
          </a:xfrm>
          <a:custGeom>
            <a:avLst/>
            <a:gdLst/>
            <a:ahLst/>
            <a:cxnLst/>
            <a:rect r="r" b="b" t="t" l="l"/>
            <a:pathLst>
              <a:path h="777893" w="3820012">
                <a:moveTo>
                  <a:pt x="0" y="0"/>
                </a:moveTo>
                <a:lnTo>
                  <a:pt x="3820012" y="0"/>
                </a:lnTo>
                <a:lnTo>
                  <a:pt x="3820012" y="777893"/>
                </a:lnTo>
                <a:lnTo>
                  <a:pt x="0" y="777893"/>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7344239" y="-297241"/>
            <a:ext cx="362412" cy="956895"/>
          </a:xfrm>
          <a:custGeom>
            <a:avLst/>
            <a:gdLst/>
            <a:ahLst/>
            <a:cxnLst/>
            <a:rect r="r" b="b" t="t" l="l"/>
            <a:pathLst>
              <a:path h="956895" w="362412">
                <a:moveTo>
                  <a:pt x="0" y="0"/>
                </a:moveTo>
                <a:lnTo>
                  <a:pt x="362412" y="0"/>
                </a:lnTo>
                <a:lnTo>
                  <a:pt x="362412" y="956895"/>
                </a:lnTo>
                <a:lnTo>
                  <a:pt x="0" y="9568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5400000">
            <a:off x="17231404" y="9246560"/>
            <a:ext cx="362412" cy="956895"/>
          </a:xfrm>
          <a:custGeom>
            <a:avLst/>
            <a:gdLst/>
            <a:ahLst/>
            <a:cxnLst/>
            <a:rect r="r" b="b" t="t" l="l"/>
            <a:pathLst>
              <a:path h="956895" w="362412">
                <a:moveTo>
                  <a:pt x="0" y="0"/>
                </a:moveTo>
                <a:lnTo>
                  <a:pt x="362412" y="0"/>
                </a:lnTo>
                <a:lnTo>
                  <a:pt x="362412" y="956895"/>
                </a:lnTo>
                <a:lnTo>
                  <a:pt x="0" y="9568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2241678" y="0"/>
            <a:ext cx="6046322" cy="1134794"/>
          </a:xfrm>
          <a:custGeom>
            <a:avLst/>
            <a:gdLst/>
            <a:ahLst/>
            <a:cxnLst/>
            <a:rect r="r" b="b" t="t" l="l"/>
            <a:pathLst>
              <a:path h="1134794" w="6046322">
                <a:moveTo>
                  <a:pt x="0" y="0"/>
                </a:moveTo>
                <a:lnTo>
                  <a:pt x="6046322" y="0"/>
                </a:lnTo>
                <a:lnTo>
                  <a:pt x="6046322" y="1134794"/>
                </a:lnTo>
                <a:lnTo>
                  <a:pt x="0" y="1134794"/>
                </a:lnTo>
                <a:lnTo>
                  <a:pt x="0" y="0"/>
                </a:lnTo>
                <a:close/>
              </a:path>
            </a:pathLst>
          </a:custGeom>
          <a:blipFill>
            <a:blip r:embed="rId10"/>
            <a:stretch>
              <a:fillRect l="0" t="0" r="0" b="0"/>
            </a:stretch>
          </a:blipFill>
        </p:spPr>
      </p:sp>
      <p:sp>
        <p:nvSpPr>
          <p:cNvPr name="Freeform 20" id="20"/>
          <p:cNvSpPr/>
          <p:nvPr/>
        </p:nvSpPr>
        <p:spPr>
          <a:xfrm flipH="false" flipV="false" rot="-1739895">
            <a:off x="10381540" y="2229430"/>
            <a:ext cx="2134527" cy="1814348"/>
          </a:xfrm>
          <a:custGeom>
            <a:avLst/>
            <a:gdLst/>
            <a:ahLst/>
            <a:cxnLst/>
            <a:rect r="r" b="b" t="t" l="l"/>
            <a:pathLst>
              <a:path h="1814348" w="2134527">
                <a:moveTo>
                  <a:pt x="0" y="0"/>
                </a:moveTo>
                <a:lnTo>
                  <a:pt x="2134527" y="0"/>
                </a:lnTo>
                <a:lnTo>
                  <a:pt x="2134527" y="1814349"/>
                </a:lnTo>
                <a:lnTo>
                  <a:pt x="0" y="18143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1513577" y="2095617"/>
            <a:ext cx="8651391" cy="5255167"/>
          </a:xfrm>
          <a:prstGeom prst="rect">
            <a:avLst/>
          </a:prstGeom>
        </p:spPr>
        <p:txBody>
          <a:bodyPr anchor="t" rtlCol="false" tIns="0" lIns="0" bIns="0" rIns="0">
            <a:spAutoFit/>
          </a:bodyPr>
          <a:lstStyle/>
          <a:p>
            <a:pPr algn="l" marL="589117" indent="-294559" lvl="1">
              <a:lnSpc>
                <a:spcPts val="3820"/>
              </a:lnSpc>
              <a:buFont typeface="Arial"/>
              <a:buChar char="•"/>
            </a:pPr>
            <a:r>
              <a:rPr lang="en-US" sz="2728">
                <a:solidFill>
                  <a:srgbClr val="0B0A0A"/>
                </a:solidFill>
                <a:latin typeface="Poppins"/>
                <a:ea typeface="Poppins"/>
                <a:cs typeface="Poppins"/>
                <a:sym typeface="Poppins"/>
              </a:rPr>
              <a:t>Inconsistent state in data due to </a:t>
            </a:r>
            <a:r>
              <a:rPr lang="en-US" sz="2728" i="true" u="sng">
                <a:solidFill>
                  <a:srgbClr val="0B0A0A"/>
                </a:solidFill>
                <a:latin typeface="Poppins Italics"/>
                <a:ea typeface="Poppins Italics"/>
                <a:cs typeface="Poppins Italics"/>
                <a:sym typeface="Poppins Italics"/>
              </a:rPr>
              <a:t>Transaction Rollback</a:t>
            </a:r>
            <a:r>
              <a:rPr lang="en-US" sz="2728" u="sng">
                <a:solidFill>
                  <a:srgbClr val="0B0A0A"/>
                </a:solidFill>
                <a:latin typeface="Poppins"/>
                <a:ea typeface="Poppins"/>
                <a:cs typeface="Poppins"/>
                <a:sym typeface="Poppins"/>
              </a:rPr>
              <a:t>.</a:t>
            </a:r>
          </a:p>
          <a:p>
            <a:pPr algn="l" marL="589117" indent="-294559" lvl="1">
              <a:lnSpc>
                <a:spcPts val="3820"/>
              </a:lnSpc>
              <a:buFont typeface="Arial"/>
              <a:buChar char="•"/>
            </a:pPr>
            <a:r>
              <a:rPr lang="en-US" sz="2728">
                <a:solidFill>
                  <a:srgbClr val="0B0A0A"/>
                </a:solidFill>
                <a:latin typeface="Poppins"/>
                <a:ea typeface="Poppins"/>
                <a:cs typeface="Poppins"/>
                <a:sym typeface="Poppins"/>
              </a:rPr>
              <a:t>Deadlock between two transactions with no detection/timeout</a:t>
            </a:r>
          </a:p>
          <a:p>
            <a:pPr algn="l" marL="589117" indent="-294559" lvl="1">
              <a:lnSpc>
                <a:spcPts val="3820"/>
              </a:lnSpc>
              <a:buFont typeface="Arial"/>
              <a:buChar char="•"/>
            </a:pPr>
            <a:r>
              <a:rPr lang="en-US" sz="2728">
                <a:solidFill>
                  <a:srgbClr val="0B0A0A"/>
                </a:solidFill>
                <a:latin typeface="Poppins"/>
                <a:ea typeface="Poppins"/>
                <a:cs typeface="Poppins"/>
                <a:sym typeface="Poppins"/>
              </a:rPr>
              <a:t>Modules (parser, storage, transactions) built separately may not integrate smoothly.</a:t>
            </a:r>
          </a:p>
          <a:p>
            <a:pPr algn="l" marL="589117" indent="-294559" lvl="1">
              <a:lnSpc>
                <a:spcPts val="3820"/>
              </a:lnSpc>
              <a:buFont typeface="Arial"/>
              <a:buChar char="•"/>
            </a:pPr>
            <a:r>
              <a:rPr lang="en-US" sz="2728">
                <a:solidFill>
                  <a:srgbClr val="0B0A0A"/>
                </a:solidFill>
                <a:latin typeface="Poppins"/>
                <a:ea typeface="Poppins"/>
                <a:cs typeface="Poppins"/>
                <a:sym typeface="Poppins"/>
              </a:rPr>
              <a:t>Disk I/O errors not handled (file locked, permission denied, disk full)</a:t>
            </a:r>
          </a:p>
          <a:p>
            <a:pPr algn="l" marL="589117" indent="-294559" lvl="1">
              <a:lnSpc>
                <a:spcPts val="3820"/>
              </a:lnSpc>
              <a:buFont typeface="Arial"/>
              <a:buChar char="•"/>
            </a:pPr>
            <a:r>
              <a:rPr lang="en-US" sz="2728">
                <a:solidFill>
                  <a:srgbClr val="0B0A0A"/>
                </a:solidFill>
                <a:latin typeface="Poppins"/>
                <a:ea typeface="Poppins"/>
                <a:cs typeface="Poppins"/>
                <a:sym typeface="Poppins"/>
              </a:rPr>
              <a:t>Uneven team skill on modules </a:t>
            </a:r>
          </a:p>
          <a:p>
            <a:pPr algn="l" marL="589117" indent="-294559" lvl="1">
              <a:lnSpc>
                <a:spcPts val="3820"/>
              </a:lnSpc>
              <a:buFont typeface="Arial"/>
              <a:buChar char="•"/>
            </a:pPr>
            <a:r>
              <a:rPr lang="en-US" sz="2728">
                <a:solidFill>
                  <a:srgbClr val="0B0A0A"/>
                </a:solidFill>
                <a:latin typeface="Poppins"/>
                <a:ea typeface="Poppins"/>
                <a:cs typeface="Poppins"/>
                <a:sym typeface="Poppins"/>
              </a:rPr>
              <a:t>Partial commits leaves half applied transaction.</a:t>
            </a:r>
          </a:p>
        </p:txBody>
      </p:sp>
      <p:sp>
        <p:nvSpPr>
          <p:cNvPr name="TextBox 22" id="22"/>
          <p:cNvSpPr txBox="true"/>
          <p:nvPr/>
        </p:nvSpPr>
        <p:spPr>
          <a:xfrm rot="0">
            <a:off x="3166944" y="1379547"/>
            <a:ext cx="7232668" cy="632462"/>
          </a:xfrm>
          <a:prstGeom prst="rect">
            <a:avLst/>
          </a:prstGeom>
        </p:spPr>
        <p:txBody>
          <a:bodyPr anchor="t" rtlCol="false" tIns="0" lIns="0" bIns="0" rIns="0">
            <a:spAutoFit/>
          </a:bodyPr>
          <a:lstStyle/>
          <a:p>
            <a:pPr algn="l">
              <a:lnSpc>
                <a:spcPts val="3900"/>
              </a:lnSpc>
            </a:pPr>
            <a:r>
              <a:rPr lang="en-US" sz="3900" u="sng">
                <a:solidFill>
                  <a:srgbClr val="000000"/>
                </a:solidFill>
                <a:latin typeface="Agrandir"/>
                <a:ea typeface="Agrandir"/>
                <a:cs typeface="Agrandir"/>
                <a:sym typeface="Agrandir"/>
              </a:rPr>
              <a:t>Project Risk Analysis</a:t>
            </a:r>
          </a:p>
        </p:txBody>
      </p:sp>
      <p:sp>
        <p:nvSpPr>
          <p:cNvPr name="TextBox 23" id="23"/>
          <p:cNvSpPr txBox="true"/>
          <p:nvPr/>
        </p:nvSpPr>
        <p:spPr>
          <a:xfrm rot="0">
            <a:off x="11151952" y="4064179"/>
            <a:ext cx="6739106" cy="5464494"/>
          </a:xfrm>
          <a:prstGeom prst="rect">
            <a:avLst/>
          </a:prstGeom>
        </p:spPr>
        <p:txBody>
          <a:bodyPr anchor="t" rtlCol="false" tIns="0" lIns="0" bIns="0" rIns="0">
            <a:spAutoFit/>
          </a:bodyPr>
          <a:lstStyle/>
          <a:p>
            <a:pPr algn="l">
              <a:lnSpc>
                <a:spcPts val="3652"/>
              </a:lnSpc>
            </a:pPr>
          </a:p>
          <a:p>
            <a:pPr algn="l" marL="563252" indent="-281626" lvl="1">
              <a:lnSpc>
                <a:spcPts val="3652"/>
              </a:lnSpc>
              <a:buFont typeface="Arial"/>
              <a:buChar char="•"/>
            </a:pPr>
            <a:r>
              <a:rPr lang="en-US" sz="2608">
                <a:solidFill>
                  <a:srgbClr val="0B0A0A"/>
                </a:solidFill>
                <a:latin typeface="Poppins"/>
                <a:ea typeface="Poppins"/>
                <a:cs typeface="Poppins"/>
                <a:sym typeface="Poppins"/>
              </a:rPr>
              <a:t>Snapshot state before transaction rollback</a:t>
            </a:r>
          </a:p>
          <a:p>
            <a:pPr algn="l" marL="563252" indent="-281626" lvl="1">
              <a:lnSpc>
                <a:spcPts val="3652"/>
              </a:lnSpc>
              <a:buFont typeface="Arial"/>
              <a:buChar char="•"/>
            </a:pPr>
            <a:r>
              <a:rPr lang="en-US" sz="2608">
                <a:solidFill>
                  <a:srgbClr val="0B0A0A"/>
                </a:solidFill>
                <a:latin typeface="Poppins"/>
                <a:ea typeface="Poppins"/>
                <a:cs typeface="Poppins"/>
                <a:sym typeface="Poppins"/>
              </a:rPr>
              <a:t>Add lock-acquisition timeout to auto-abort and return error.</a:t>
            </a:r>
          </a:p>
          <a:p>
            <a:pPr algn="l" marL="563252" indent="-281626" lvl="1">
              <a:lnSpc>
                <a:spcPts val="3652"/>
              </a:lnSpc>
              <a:buFont typeface="Arial"/>
              <a:buChar char="•"/>
            </a:pPr>
            <a:r>
              <a:rPr lang="en-US" sz="2608">
                <a:solidFill>
                  <a:srgbClr val="0B0A0A"/>
                </a:solidFill>
                <a:latin typeface="Poppins"/>
                <a:ea typeface="Poppins"/>
                <a:cs typeface="Poppins"/>
                <a:sym typeface="Poppins"/>
              </a:rPr>
              <a:t>Freezing of modules before coding</a:t>
            </a:r>
          </a:p>
          <a:p>
            <a:pPr algn="l" marL="563252" indent="-281626" lvl="1">
              <a:lnSpc>
                <a:spcPts val="3652"/>
              </a:lnSpc>
              <a:buFont typeface="Arial"/>
              <a:buChar char="•"/>
            </a:pPr>
            <a:r>
              <a:rPr lang="en-US" sz="2608">
                <a:solidFill>
                  <a:srgbClr val="0B0A0A"/>
                </a:solidFill>
                <a:latin typeface="Poppins"/>
                <a:ea typeface="Poppins"/>
                <a:cs typeface="Poppins"/>
                <a:sym typeface="Poppins"/>
              </a:rPr>
              <a:t>Wrap all file ops in try-catch with clear error messages</a:t>
            </a:r>
          </a:p>
          <a:p>
            <a:pPr algn="l" marL="563252" indent="-281626" lvl="1">
              <a:lnSpc>
                <a:spcPts val="3652"/>
              </a:lnSpc>
              <a:buFont typeface="Arial"/>
              <a:buChar char="•"/>
            </a:pPr>
            <a:r>
              <a:rPr lang="en-US" sz="2608">
                <a:solidFill>
                  <a:srgbClr val="0B0A0A"/>
                </a:solidFill>
                <a:latin typeface="Poppins"/>
                <a:ea typeface="Poppins"/>
                <a:cs typeface="Poppins"/>
                <a:sym typeface="Poppins"/>
              </a:rPr>
              <a:t>Team discussions and brainstorming sessions for all the modules.</a:t>
            </a:r>
          </a:p>
          <a:p>
            <a:pPr algn="l" marL="563252" indent="-281626" lvl="1">
              <a:lnSpc>
                <a:spcPts val="3652"/>
              </a:lnSpc>
              <a:buFont typeface="Arial"/>
              <a:buChar char="•"/>
            </a:pPr>
            <a:r>
              <a:rPr lang="en-US" sz="2608">
                <a:solidFill>
                  <a:srgbClr val="0B0A0A"/>
                </a:solidFill>
                <a:latin typeface="Poppins"/>
                <a:ea typeface="Poppins"/>
                <a:cs typeface="Poppins"/>
                <a:sym typeface="Poppins"/>
              </a:rPr>
              <a:t>Use write-ahead log and apply changes only on commit</a:t>
            </a:r>
          </a:p>
        </p:txBody>
      </p:sp>
      <p:sp>
        <p:nvSpPr>
          <p:cNvPr name="TextBox 24" id="24"/>
          <p:cNvSpPr txBox="true"/>
          <p:nvPr/>
        </p:nvSpPr>
        <p:spPr>
          <a:xfrm rot="0">
            <a:off x="12701047" y="3498392"/>
            <a:ext cx="7232668" cy="632462"/>
          </a:xfrm>
          <a:prstGeom prst="rect">
            <a:avLst/>
          </a:prstGeom>
        </p:spPr>
        <p:txBody>
          <a:bodyPr anchor="t" rtlCol="false" tIns="0" lIns="0" bIns="0" rIns="0">
            <a:spAutoFit/>
          </a:bodyPr>
          <a:lstStyle/>
          <a:p>
            <a:pPr algn="l">
              <a:lnSpc>
                <a:spcPts val="3900"/>
              </a:lnSpc>
            </a:pPr>
            <a:r>
              <a:rPr lang="en-US" sz="3900" u="sng">
                <a:solidFill>
                  <a:srgbClr val="000000"/>
                </a:solidFill>
                <a:latin typeface="Agrandir"/>
                <a:ea typeface="Agrandir"/>
                <a:cs typeface="Agrandir"/>
                <a:sym typeface="Agrandir"/>
              </a:rPr>
              <a:t>Risk Mitigation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DAHVjdthncg</dc:identifier>
  <dcterms:modified xsi:type="dcterms:W3CDTF">2011-08-01T06:04:30Z</dcterms:modified>
  <cp:revision>1</cp:revision>
  <dc:title>Navy and White Modern Business Pitch Deck Presentation</dc:title>
</cp:coreProperties>
</file>